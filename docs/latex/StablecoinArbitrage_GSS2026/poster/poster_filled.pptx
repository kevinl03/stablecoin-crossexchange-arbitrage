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759650" cy="219598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LfVfjeD0wRP9TUck/mtN4+srt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92E"/>
    <a:srgbClr val="CD3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4658"/>
  </p:normalViewPr>
  <p:slideViewPr>
    <p:cSldViewPr snapToGrid="0">
      <p:cViewPr varScale="1">
        <p:scale>
          <a:sx n="18" d="100"/>
          <a:sy n="18" d="100"/>
        </p:scale>
        <p:origin x="792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094957" y="3593901"/>
            <a:ext cx="24569738" cy="7645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094957" y="11534026"/>
            <a:ext cx="24569738" cy="530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/>
            </a:lvl1pPr>
            <a:lvl2pPr lvl="1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/>
            </a:lvl2pPr>
            <a:lvl3pPr lvl="2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/>
            </a:lvl3pPr>
            <a:lvl4pPr lvl="3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4pPr>
            <a:lvl5pPr lvl="4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5pPr>
            <a:lvl6pPr lvl="5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6pPr>
            <a:lvl7pPr lvl="6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7pPr>
            <a:lvl8pPr lvl="7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8pPr>
            <a:lvl9pPr lvl="8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235165" y="5474726"/>
            <a:ext cx="28255078" cy="9134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235165" y="14695845"/>
            <a:ext cx="28255078" cy="480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344">
                <a:solidFill>
                  <a:srgbClr val="888888"/>
                </a:solidFill>
              </a:defRPr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120">
                <a:solidFill>
                  <a:srgbClr val="888888"/>
                </a:solidFill>
              </a:defRPr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507">
                <a:solidFill>
                  <a:srgbClr val="888888"/>
                </a:solidFill>
              </a:defRPr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252226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6584573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2256494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256495" y="5383224"/>
            <a:ext cx="13858841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2256495" y="8021460"/>
            <a:ext cx="13858841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6584574" y="5383224"/>
            <a:ext cx="13927210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6584574" y="8021460"/>
            <a:ext cx="13927210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840351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9792"/>
            </a:lvl1pPr>
            <a:lvl2pPr marL="874355" lvl="1" indent="-76263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568"/>
            </a:lvl2pPr>
            <a:lvl3pPr marL="1311533" lvl="2" indent="-684911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344"/>
            </a:lvl3pPr>
            <a:lvl4pPr marL="1748710" lvl="3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4pPr>
            <a:lvl5pPr marL="2185888" lvl="4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5pPr>
            <a:lvl6pPr marL="2623066" lvl="5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6pPr>
            <a:lvl7pPr marL="3060243" lvl="6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7pPr>
            <a:lvl8pPr marL="3497421" lvl="7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8pPr>
            <a:lvl9pPr marL="3934597" lvl="8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9413253" y="-1315103"/>
            <a:ext cx="13933266" cy="28255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670537" y="6942280"/>
            <a:ext cx="18610008" cy="7063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3338129" y="83169"/>
            <a:ext cx="18610008" cy="2078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poster_fig1.png"/><Relationship Id="rId6" Type="http://schemas.openxmlformats.org/officeDocument/2006/relationships/image" Target="../media/poster_fig2.png"/><Relationship Id="rId7" Type="http://schemas.openxmlformats.org/officeDocument/2006/relationships/image" Target="../media/poster_fig3.png"/><Relationship Id="rId8" Type="http://schemas.openxmlformats.org/officeDocument/2006/relationships/image" Target="../media/poster_fig4.png"/><Relationship Id="rId9" Type="http://schemas.openxmlformats.org/officeDocument/2006/relationships/image" Target="../media/poster_fig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641852" y="491227"/>
            <a:ext cx="31475946" cy="1311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b" anchorCtr="0">
            <a:noAutofit/>
          </a:bodyPr>
          <a:lstStyle/>
          <a:p>
            <a:pPr>
              <a:buClr>
                <a:schemeClr val="lt1"/>
              </a:buClr>
              <a:buSzPts val="6000"/>
            </a:pPr>
            <a:r>
              <a:rPr lang="en-US" sz="5737" dirty="0">
                <a:solidFill>
                  <a:srgbClr val="0070C0"/>
                </a:solidFill>
                <a:latin typeface="Impact"/>
                <a:ea typeface="Impact"/>
                <a:cs typeface="Impact"/>
                <a:sym typeface="Impact"/>
              </a:rPr>
              <a:t>Execution-Aware A* Search for Cross-Exchange Stablecoin Arbitrage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1852" y="1934837"/>
            <a:ext cx="31475946" cy="66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2304" tIns="101164" rIns="202304" bIns="101164" anchor="ctr" anchorCtr="0">
            <a:no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0070C0"/>
                </a:solidFill>
                <a:latin typeface="Trebuchet MS"/>
                <a:ea typeface="Trebuchet MS"/>
                <a:cs typeface="Trebuchet MS"/>
                <a:sym typeface="Trebuchet MS"/>
              </a:rPr>
              <a:t>Kevin Litvin  —  Simon Fraser University</a:t>
            </a:r>
            <a:endParaRPr sz="1339" dirty="0">
              <a:solidFill>
                <a:srgbClr val="0070C0"/>
              </a:solidFill>
            </a:endParaRPr>
          </a:p>
        </p:txBody>
      </p:sp>
      <p:grpSp>
        <p:nvGrpSpPr>
          <p:cNvPr id="87" name="Google Shape;87;p1"/>
          <p:cNvGrpSpPr/>
          <p:nvPr/>
        </p:nvGrpSpPr>
        <p:grpSpPr>
          <a:xfrm>
            <a:off x="969727" y="3329541"/>
            <a:ext cx="9836233" cy="6489051"/>
            <a:chOff x="457200" y="2971800"/>
            <a:chExt cx="13716000" cy="6786425"/>
          </a:xfrm>
        </p:grpSpPr>
        <p:sp>
          <p:nvSpPr>
            <p:cNvPr id="88" name="Google Shape;88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Cross-exchange stablecoin arbitrage exploits price discrepancies across centralized exchanges in a $300B+ market.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Prior work detects opportunities via negative-cycle algorithms — but ignores execution: fees, slippage, withdrawal delays, and venue reliability.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We shift focus to EXECUTION FEASIBILITY: compute trade-and-transfer paths that remain profitable after ALL real-world costs.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Stablecoins are ideal: USD-pegged assets with a clear scalar profit objective across 12 major exchanges and 9 coin symbols.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We run 7,200 overnight search instances and compare A* heuristics against Dijkstra and multi-start baselines.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Code: github.com/kevinl03/Stablecoin-CrossExchange-Arbitrage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C063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Context &amp; Motivation</a:t>
              </a:r>
              <a:endParaRPr sz="1339" dirty="0"/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11133834" y="3985290"/>
            <a:ext cx="9836233" cy="175329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GRAPH MODEL — Nodes are (exchange, stablecoin) pairs. Intra-exchange edges are trades; inter-exchange edges are same-coin transfers.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EDGE WEIGHT — w(e) = -log r(e). Effective rate r(e) bundles taker fees, withdrawal/gas fees, chain-transfer time, and venue-reliability discount.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GOAL — Any node where USD value exceeds the start amount (no closed cycle needed; stablecoins are USD-pegged).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SEARCH — A* with f(n) = g(n) + h(n). Each heuristic is a domain-specific guidance penalty (not an admissible lower bound).</a:t>
            </a:r>
          </a:p>
          <a:p>
            <a:pPr>
              <a:buNone/>
            </a:pPr>
            <a:endParaRPr sz="1000"/>
          </a:p>
          <a:p>
            <a:pPr>
              <a:buNone/>
            </a:pPr>
            <a:r>
              <a:rPr lang="en-US" sz="2600" b="1" dirty="0">
                <a:solidFill>
                  <a:srgbClr val="CC0633"/>
                </a:solidFill>
                <a:latin typeface="Arial"/>
              </a:rPr>
              <a:t>Heuristics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h₁  (Liquidity)   Penalise shallow 24-h order books relative to order size.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h₂  (Slippage)    ★ NOVEL: lambda × max(0, slippage_bps − θ). Prunes high-impact routes.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h₃  (Chain)       Chain congestion time + static venue-reliability penalty.</a:t>
            </a:r>
          </a:p>
          <a:p>
            <a:pPr>
              <a:buNone/>
            </a:pPr>
            <a:endParaRPr sz="1000"/>
          </a:p>
          <a:p>
            <a:pPr>
              <a:buNone/>
            </a:pPr>
            <a:r>
              <a:rPr lang="en-US" sz="2600" b="1" dirty="0">
                <a:solidFill>
                  <a:srgbClr val="CC0633"/>
                </a:solidFill>
                <a:latin typeface="Arial"/>
              </a:rPr>
              <a:t>Key Equations</a:t>
            </a:r>
          </a:p>
          <a:p>
            <a:pPr>
              <a:buNone/>
            </a:pPr>
            <a:r>
              <a:rPr lang="en-US" sz="2100" b="1" dirty="0">
                <a:solidFill>
                  <a:schemeClr val="dk1"/>
                </a:solidFill>
                <a:latin typeface="Courier New"/>
              </a:rPr>
              <a:t>w(e) = -log r(e)       r(e) = (1-fee)(1-slippage)(1-gas)(reliability)</a:t>
            </a:r>
          </a:p>
          <a:p>
            <a:pPr>
              <a:buNone/>
            </a:pPr>
            <a:r>
              <a:rPr lang="en-US" sz="2100" b="1" dirty="0">
                <a:solidFill>
                  <a:schemeClr val="dk1"/>
                </a:solidFill>
                <a:latin typeface="Courier New"/>
              </a:rPr>
              <a:t>f(n) = g(n) + h(n)     h₂ = λ⋅max(0, slippage_bps − θ)</a:t>
            </a:r>
          </a:p>
          <a:p>
            <a:pPr>
              <a:buNone/>
            </a:pPr>
            <a:r>
              <a:rPr lang="en-US" sz="2100" b="1" dirty="0">
                <a:solidFill>
                  <a:schemeClr val="dk1"/>
                </a:solidFill>
                <a:latin typeface="Courier New"/>
              </a:rPr>
              <a:t>slippage_bps = (VWAP(Q) - P_mid) / P_mid × 10⁴</a:t>
            </a:r>
          </a:p>
          <a:p>
            <a:pPr>
              <a:buNone/>
            </a:pPr>
            <a:endParaRPr sz="1000"/>
          </a:p>
          <a:p>
            <a:pPr algn="ctr">
              <a:buNone/>
            </a:pPr>
            <a:r>
              <a:rPr lang="en-US" sz="2400" i="1" dirty="0">
                <a:solidFill>
                  <a:srgbClr val="0070C0"/>
                </a:solidFill>
                <a:latin typeface="Arial"/>
              </a:rPr>
              <a:t>Slippage-aware h₂ prunes high-cost routes early, preserving low-cost ones: same profit as Dijkstra with 29% fewer node expansions.</a:t>
            </a: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1133834" y="3329540"/>
            <a:ext cx="9836233" cy="686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CC0633"/>
                </a:solidFill>
                <a:latin typeface="Trebuchet MS"/>
                <a:ea typeface="Trebuchet MS"/>
                <a:cs typeface="Trebuchet MS"/>
                <a:sym typeface="Trebuchet MS"/>
              </a:rPr>
              <a:t>Method: Execution-Aware A* Search</a:t>
            </a:r>
            <a:endParaRPr sz="1339" dirty="0"/>
          </a:p>
        </p:txBody>
      </p:sp>
      <p:grpSp>
        <p:nvGrpSpPr>
          <p:cNvPr id="93" name="Google Shape;93;p1"/>
          <p:cNvGrpSpPr/>
          <p:nvPr/>
        </p:nvGrpSpPr>
        <p:grpSpPr>
          <a:xfrm>
            <a:off x="969727" y="10105613"/>
            <a:ext cx="9836233" cy="6489051"/>
            <a:chOff x="457200" y="2971800"/>
            <a:chExt cx="13716000" cy="6786425"/>
          </a:xfrm>
        </p:grpSpPr>
        <p:sp>
          <p:nvSpPr>
            <p:cNvPr id="94" name="Google Shape;94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>
                <a:buNone/>
              </a:pPr>
              <a:r>
                <a:rPr lang="en-US" sz="2400" b="1" dirty="0">
                  <a:solidFill>
                    <a:srgbClr val="CC0633"/>
                  </a:solidFill>
                  <a:latin typeface="Arial"/>
                </a:rPr>
                <a:t>The shift from OPPORTUNITY DETECTION to EXECUTION FEASIBILITY:</a:t>
              </a:r>
            </a:p>
            <a:p>
              <a:pPr>
                <a:buNone/>
              </a:pPr>
              <a:endParaRPr sz="1000"/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① LIQUIDITY — Order-book depth is insufficient for full fills at the quoted price; partial fills reduce effective profit.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② SLIPPAGE — Large orders shift the VWAP above the mid-price; the effective rate r(e) captures this via slippage_bps.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③ LATENCY — Blockchain transfers take minutes to hours; market prices move against the open leg while funds are in transit.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④ RELIABILITY — Exchange downtime, withdrawal halts, and API failures derail planned routes mid-execution.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Together these four factors mean that opportunity-detection methods overstate real profit — sometimes by more than 40%.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>
                  <a:solidFill>
                    <a:srgbClr val="CC063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Four Execution Challenges</a:t>
              </a:r>
              <a:endParaRPr sz="1339"/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21953690" y="3329541"/>
            <a:ext cx="9836233" cy="6489051"/>
            <a:chOff x="457200" y="2971800"/>
            <a:chExt cx="13716000" cy="6786425"/>
          </a:xfrm>
        </p:grpSpPr>
        <p:sp>
          <p:nvSpPr>
            <p:cNvPr id="97" name="Google Shape;97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None/>
              </a:pPr>
              <a:r>
                <a:rPr lang="en-US" sz="3200" b="1" dirty="0">
                  <a:solidFill>
                    <a:srgbClr val="CC0633"/>
                  </a:solidFill>
                  <a:latin typeface="Arial"/>
                </a:rPr>
                <a:t>★  h₂ reduces node expansions by 29% while matching Dijkstra's profit  ★</a:t>
              </a:r>
            </a:p>
            <a:p>
              <a:pPr>
                <a:buNone/>
              </a:pPr>
              <a:endParaRPr sz="1000"/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Every A*-based run across 7,200 overnight instances finds a profitable path.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Quote staleness: 99.6% of paths remain profitable up to 120 s of delay.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h₁ and h₃ expand 58-87% MORE nodes and earn 30-33% LESS profit: aggressive penalties over-steer search.</a:t>
              </a:r>
            </a:p>
            <a:p>
              <a:pPr>
                <a:buNone/>
              </a:pPr>
              <a:endParaRPr sz="1000"/>
            </a:p>
            <a:p>
              <a:pPr>
                <a:buNone/>
              </a:pPr>
              <a:r>
                <a:rPr lang="en-US" sz="2000" b="1" dirty="0">
                  <a:solidFill>
                    <a:schemeClr val="dk1"/>
                  </a:solidFill>
                  <a:latin typeface="Courier New"/>
                </a:rPr>
                <a:t>Heuristic    Profit    Expansions  ΔExp</a:t>
              </a:r>
            </a:p>
            <a:p>
              <a:pPr>
                <a:buNone/>
              </a:pPr>
              <a:r>
                <a:rPr lang="en-US" sz="2000" dirty="0">
                  <a:solidFill>
                    <a:schemeClr val="dk1"/>
                  </a:solidFill>
                  <a:latin typeface="Courier New"/>
                </a:rPr>
                <a:t>──────────────────────────────────────────────</a:t>
              </a:r>
            </a:p>
            <a:p>
              <a:pPr>
                <a:buNone/>
              </a:pPr>
              <a:r>
                <a:rPr lang="en-US" sz="2000" dirty="0">
                  <a:solidFill>
                    <a:schemeClr val="dk1"/>
                  </a:solidFill>
                  <a:latin typeface="Courier New"/>
                </a:rPr>
                <a:t>Dijkstra     $10.01    359         ---</a:t>
              </a:r>
            </a:p>
            <a:p>
              <a:pPr>
                <a:buNone/>
              </a:pPr>
              <a:r>
                <a:rPr lang="en-US" sz="2000" dirty="0">
                  <a:solidFill>
                    <a:schemeClr val="dk1"/>
                  </a:solidFill>
                  <a:latin typeface="Courier New"/>
                </a:rPr>
                <a:t>h₂ (Slippage) $9.91  256         -29%  ★</a:t>
              </a:r>
            </a:p>
            <a:p>
              <a:pPr>
                <a:buNone/>
              </a:pPr>
              <a:r>
                <a:rPr lang="en-US" sz="2000" dirty="0">
                  <a:solidFill>
                    <a:schemeClr val="dk1"/>
                  </a:solidFill>
                  <a:latin typeface="Courier New"/>
                </a:rPr>
                <a:t>h₁ (Liq.)    $6.72    568        +58%</a:t>
              </a:r>
            </a:p>
            <a:p>
              <a:pPr>
                <a:buNone/>
              </a:pPr>
              <a:r>
                <a:rPr lang="en-US" sz="2000" dirty="0">
                  <a:solidFill>
                    <a:schemeClr val="dk1"/>
                  </a:solidFill>
                  <a:latin typeface="Courier New"/>
                </a:rPr>
                <a:t>h₃ (Chain)   $7.06    673        +87%</a:t>
              </a:r>
            </a:p>
            <a:p>
              <a:pPr>
                <a:buNone/>
              </a:pPr>
              <a:r>
                <a:rPr lang="en-US" sz="2000" dirty="0">
                  <a:solidFill>
                    <a:schemeClr val="dk1"/>
                  </a:solidFill>
                  <a:latin typeface="Courier New"/>
                </a:rPr>
                <a:t>Multi-start  $9.88    3×359       ---</a:t>
              </a: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C063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Results &amp; Impact</a:t>
              </a:r>
              <a:endParaRPr sz="1339" dirty="0"/>
            </a:p>
          </p:txBody>
        </p:sp>
      </p:grpSp>
      <p:grpSp>
        <p:nvGrpSpPr>
          <p:cNvPr id="99" name="Google Shape;99;p1"/>
          <p:cNvGrpSpPr/>
          <p:nvPr/>
        </p:nvGrpSpPr>
        <p:grpSpPr>
          <a:xfrm>
            <a:off x="21953690" y="10105613"/>
            <a:ext cx="9836233" cy="6489051"/>
            <a:chOff x="457200" y="2971800"/>
            <a:chExt cx="13716000" cy="6786425"/>
          </a:xfrm>
        </p:grpSpPr>
        <p:sp>
          <p:nvSpPr>
            <p:cNvPr id="100" name="Google Shape;100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Graph scaling (4 → 12 exchanges): h₂ maintains its expansion advantage at every graph size — the gap widens as the graph grows.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h₂ is robust to order-size variation ($1k – $100k): slippage penalty keeps the search focused on liquid, low-impact paths.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Overnight robustness: profit stays consistent across all 7,200 runs with minimal variance — the A* framework is stable in live conditions.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FUTURE WORK: asynchronous order-book pre-fetching to reduce staleness; extension to DEX/AMM markets (Uniswap, Curve) with continuous pricing functions.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FUTURE WORK: reinforcement-learning route selection and multi-currency baskets beyond stablecoins.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C063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Scaling &amp; Future Work</a:t>
              </a:r>
              <a:endParaRPr sz="1339" dirty="0"/>
            </a:p>
          </p:txBody>
        </p:sp>
      </p:grpSp>
      <p:sp>
        <p:nvSpPr>
          <p:cNvPr id="103" name="Google Shape;103;p1"/>
          <p:cNvSpPr txBox="1"/>
          <p:nvPr/>
        </p:nvSpPr>
        <p:spPr>
          <a:xfrm>
            <a:off x="22219112" y="19891689"/>
            <a:ext cx="9304406" cy="1265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400"/>
            </a:pPr>
            <a:r>
              <a:rPr lang="en-US" sz="3825" dirty="0">
                <a:solidFill>
                  <a:srgbClr val="CC0633"/>
                </a:solidFill>
                <a:latin typeface="Times"/>
                <a:ea typeface="Times"/>
                <a:cs typeface="Times"/>
                <a:sym typeface="Times"/>
              </a:rPr>
              <a:t>github.com/kevinl03/Stablecoin-CrossExchange-Arbitrage</a:t>
            </a:r>
            <a:br>
              <a:rPr lang="en-US" sz="3825" dirty="0">
                <a:solidFill>
                  <a:srgbClr val="CC0633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3825" dirty="0">
                <a:solidFill>
                  <a:srgbClr val="CC0633"/>
                </a:solidFill>
                <a:latin typeface="Times"/>
                <a:ea typeface="Times"/>
                <a:cs typeface="Times"/>
                <a:sym typeface="Times"/>
              </a:rPr>
              <a:t>Canadian AI 2026  |  GSS Paper  |  Poster: 36 × 24 in</a:t>
            </a:r>
            <a:endParaRPr sz="1148" dirty="0">
              <a:solidFill>
                <a:srgbClr val="CC0633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8C4B149-42D8-E246-974C-EA8699E2F3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728" y="803740"/>
            <a:ext cx="4525942" cy="15490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580A6-D882-9217-DC83-6E2840DFF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8974" y="768868"/>
            <a:ext cx="5871684" cy="1032250"/>
          </a:xfrm>
          <a:prstGeom prst="rect">
            <a:avLst/>
          </a:prstGeom>
        </p:spPr>
      </p:pic>
      <p:sp>
        <p:nvSpPr>
          <p:cNvPr id="300" name="Caption300"/>
          <p:cNvSpPr txBox="1"/>
          <p:nvPr/>
        </p:nvSpPr>
        <p:spPr>
          <a:xfrm>
            <a:off x="11350000" y="18840000"/>
            <a:ext cx="9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1b — Discovered profitable path: Kraken → KuCoin → KuCoin</a:t>
            </a:r>
          </a:p>
        </p:txBody>
      </p:sp>
      <p:pic>
        <p:nvPicPr>
          <p:cNvPr id="301" name="CameraReadySuccesfulPathProf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50000" y="13600000"/>
            <a:ext cx="9500000" cy="5200000"/>
          </a:xfrm>
          <a:prstGeom prst="rect">
            <a:avLst/>
          </a:prstGeom>
        </p:spPr>
      </p:pic>
      <p:sp>
        <p:nvSpPr>
          <p:cNvPr id="302" name="Caption302"/>
          <p:cNvSpPr txBox="1"/>
          <p:nvPr/>
        </p:nvSpPr>
        <p:spPr>
          <a:xfrm>
            <a:off x="11350000" y="21640000"/>
            <a:ext cx="9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1a — Stablecoin arbitrage subgraph (9 of 12 exchanges)</a:t>
            </a:r>
          </a:p>
        </p:txBody>
      </p:sp>
      <p:pic>
        <p:nvPicPr>
          <p:cNvPr id="303" name="FullGrap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50000" y="19100000"/>
            <a:ext cx="9500000" cy="2500000"/>
          </a:xfrm>
          <a:prstGeom prst="rect">
            <a:avLst/>
          </a:prstGeom>
        </p:spPr>
      </p:pic>
      <p:sp>
        <p:nvSpPr>
          <p:cNvPr id="304" name="Caption304"/>
          <p:cNvSpPr txBox="1"/>
          <p:nvPr/>
        </p:nvSpPr>
        <p:spPr>
          <a:xfrm>
            <a:off x="22300000" y="10740000"/>
            <a:ext cx="94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2a — Node expansions per heuristic (cached graph, $10 k order)</a:t>
            </a:r>
          </a:p>
        </p:txBody>
      </p:sp>
      <p:pic>
        <p:nvPicPr>
          <p:cNvPr id="305" name="fig01_node_expansion_b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00000" y="8400000"/>
            <a:ext cx="9400000" cy="2300000"/>
          </a:xfrm>
          <a:prstGeom prst="rect">
            <a:avLst/>
          </a:prstGeom>
        </p:spPr>
      </p:pic>
      <p:sp>
        <p:nvSpPr>
          <p:cNvPr id="306" name="Caption306"/>
          <p:cNvSpPr txBox="1"/>
          <p:nvPr/>
        </p:nvSpPr>
        <p:spPr>
          <a:xfrm>
            <a:off x="22300000" y="18440000"/>
            <a:ext cx="94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2b — Expansions vs. graph size (4 → 12 exchanges)</a:t>
            </a:r>
          </a:p>
        </p:txBody>
      </p:sp>
      <p:pic>
        <p:nvPicPr>
          <p:cNvPr id="307" name="fig08_graph_scaling_expansion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00000" y="15700000"/>
            <a:ext cx="9400000" cy="2700000"/>
          </a:xfrm>
          <a:prstGeom prst="rect">
            <a:avLst/>
          </a:prstGeom>
        </p:spPr>
      </p:pic>
      <p:sp>
        <p:nvSpPr>
          <p:cNvPr id="308" name="Caption308"/>
          <p:cNvSpPr txBox="1"/>
          <p:nvPr/>
        </p:nvSpPr>
        <p:spPr>
          <a:xfrm>
            <a:off x="22300000" y="21440000"/>
            <a:ext cx="94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2c — Path profitability vs. quote age (0 – 300 s delay)</a:t>
            </a:r>
          </a:p>
        </p:txBody>
      </p:sp>
      <p:pic>
        <p:nvPicPr>
          <p:cNvPr id="309" name="fig09_quote_stalenes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00000" y="18700000"/>
            <a:ext cx="9400000" cy="27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88</Words>
  <Application>Microsoft Office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Impact</vt:lpstr>
      <vt:lpstr>Times</vt:lpstr>
      <vt:lpstr>Trebuchet MS</vt:lpstr>
      <vt:lpstr>Office Theme</vt:lpstr>
      <vt:lpstr>Project Title: an Exciting Project with Even More Exciting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Greg Mori</dc:creator>
  <cp:lastModifiedBy>Lydia Bouzar-Benlabiod</cp:lastModifiedBy>
  <cp:revision>7</cp:revision>
  <dcterms:created xsi:type="dcterms:W3CDTF">2018-11-28T01:52:15Z</dcterms:created>
  <dcterms:modified xsi:type="dcterms:W3CDTF">2026-04-17T16:34:11Z</dcterms:modified>
</cp:coreProperties>
</file>