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759650" cy="219598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LfVfjeD0wRP9TUck/mtN4+srt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92E"/>
    <a:srgbClr val="CD3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4658"/>
  </p:normalViewPr>
  <p:slideViewPr>
    <p:cSldViewPr snapToGrid="0">
      <p:cViewPr varScale="1">
        <p:scale>
          <a:sx n="18" d="100"/>
          <a:sy n="18" d="100"/>
        </p:scale>
        <p:origin x="792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094957" y="3593901"/>
            <a:ext cx="24569738" cy="7645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094957" y="11534026"/>
            <a:ext cx="24569738" cy="530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/>
            </a:lvl1pPr>
            <a:lvl2pPr lvl="1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/>
            </a:lvl2pPr>
            <a:lvl3pPr lvl="2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/>
            </a:lvl3pPr>
            <a:lvl4pPr lvl="3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4pPr>
            <a:lvl5pPr lvl="4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5pPr>
            <a:lvl6pPr lvl="5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6pPr>
            <a:lvl7pPr lvl="6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7pPr>
            <a:lvl8pPr lvl="7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8pPr>
            <a:lvl9pPr lvl="8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235165" y="5474726"/>
            <a:ext cx="28255078" cy="9134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235165" y="14695845"/>
            <a:ext cx="28255078" cy="480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344">
                <a:solidFill>
                  <a:srgbClr val="888888"/>
                </a:solidFill>
              </a:defRPr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120">
                <a:solidFill>
                  <a:srgbClr val="888888"/>
                </a:solidFill>
              </a:defRPr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507">
                <a:solidFill>
                  <a:srgbClr val="888888"/>
                </a:solidFill>
              </a:defRPr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252226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6584573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2256494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256495" y="5383224"/>
            <a:ext cx="13858841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2256495" y="8021460"/>
            <a:ext cx="13858841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6584574" y="5383224"/>
            <a:ext cx="13927210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6584574" y="8021460"/>
            <a:ext cx="13927210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840351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9792"/>
            </a:lvl1pPr>
            <a:lvl2pPr marL="874355" lvl="1" indent="-76263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568"/>
            </a:lvl2pPr>
            <a:lvl3pPr marL="1311533" lvl="2" indent="-684911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344"/>
            </a:lvl3pPr>
            <a:lvl4pPr marL="1748710" lvl="3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4pPr>
            <a:lvl5pPr marL="2185888" lvl="4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5pPr>
            <a:lvl6pPr marL="2623066" lvl="5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6pPr>
            <a:lvl7pPr marL="3060243" lvl="6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7pPr>
            <a:lvl8pPr marL="3497421" lvl="7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8pPr>
            <a:lvl9pPr marL="3934597" lvl="8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9413253" y="-1315103"/>
            <a:ext cx="13933266" cy="28255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670537" y="6942280"/>
            <a:ext cx="18610008" cy="7063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3338129" y="83169"/>
            <a:ext cx="18610008" cy="2078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pi_0_FullGraph.png"/><Relationship Id="rId6" Type="http://schemas.openxmlformats.org/officeDocument/2006/relationships/image" Target="../media/pi_1_eq_main.png"/><Relationship Id="rId7" Type="http://schemas.openxmlformats.org/officeDocument/2006/relationships/image" Target="../media/pi_2_eq_h1.png"/><Relationship Id="rId8" Type="http://schemas.openxmlformats.org/officeDocument/2006/relationships/image" Target="../media/pi_3_eq_h2.png"/><Relationship Id="rId9" Type="http://schemas.openxmlformats.org/officeDocument/2006/relationships/image" Target="../media/pi_4_eq_h3.png"/><Relationship Id="rId10" Type="http://schemas.openxmlformats.org/officeDocument/2006/relationships/image" Target="../media/pi_5_CameraReadySuccesfulPathProfit.png"/><Relationship Id="rId11" Type="http://schemas.openxmlformats.org/officeDocument/2006/relationships/image" Target="../media/pi_6_fig01_node_expansion_bar.png"/><Relationship Id="rId12" Type="http://schemas.openxmlformats.org/officeDocument/2006/relationships/image" Target="../media/pi_7_qr_github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641852" y="491227"/>
            <a:ext cx="31475946" cy="1311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b" anchorCtr="0">
            <a:noAutofit/>
          </a:bodyPr>
          <a:lstStyle/>
          <a:p>
            <a:pPr>
              <a:buClr>
                <a:schemeClr val="lt1"/>
              </a:buClr>
              <a:buSzPts val="6000"/>
            </a:pPr>
            <a:r>
              <a:rPr lang="en-US" sz="5737" dirty="0">
                <a:solidFill>
                  <a:srgbClr val="0070C0"/>
                </a:solidFill>
                <a:latin typeface="Impact"/>
                <a:ea typeface="Impact"/>
                <a:cs typeface="Impact"/>
                <a:sym typeface="Impact"/>
              </a:rPr>
              <a:t>Execution-Aware A* Search for Cross-Exchange Stablecoin Arbitrage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1852" y="1934837"/>
            <a:ext cx="31475946" cy="66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2304" tIns="101164" rIns="202304" bIns="101164" anchor="ctr" anchorCtr="0">
            <a:no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0070C0"/>
                </a:solidFill>
                <a:latin typeface="Trebuchet MS"/>
                <a:ea typeface="Trebuchet MS"/>
                <a:cs typeface="Trebuchet MS"/>
                <a:sym typeface="Trebuchet MS"/>
              </a:rPr>
              <a:t>Kevin Litvin  —  Simon Fraser University</a:t>
            </a:r>
            <a:endParaRPr sz="1339" dirty="0">
              <a:solidFill>
                <a:srgbClr val="0070C0"/>
              </a:solidFill>
            </a:endParaRPr>
          </a:p>
        </p:txBody>
      </p:sp>
      <p:grpSp>
        <p:nvGrpSpPr>
          <p:cNvPr id="87" name="Google Shape;87;p1"/>
          <p:cNvGrpSpPr/>
          <p:nvPr/>
        </p:nvGrpSpPr>
        <p:grpSpPr>
          <a:xfrm>
            <a:off x="969727" y="3329541"/>
            <a:ext cx="9836233" cy="6489051"/>
            <a:chOff x="457200" y="2971800"/>
            <a:chExt cx="13716000" cy="6786425"/>
          </a:xfrm>
        </p:grpSpPr>
        <p:sp>
          <p:nvSpPr>
            <p:cNvPr id="88" name="Google Shape;88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$300 Billion+ stablecoin market — persistent price gaps across exchanges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Novel proprietary CEX dataset: 12 exchanges · 9 stablecoins · 7,200 search instances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Execution-unaware methods miss real profit: fees, slippage, gas, latency &amp; reliability all matter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The $300 B Opportunity</a:t>
              </a:r>
              <a:endParaRPr sz="1339" dirty="0"/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11133834" y="3985290"/>
            <a:ext cx="9836233" cy="175329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Weighted directed graph: nodes = (exchange, stablecoin) pairs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Edge weight w(e) = −log r(e) bundles fees, slippage, gas, latency &amp; reliability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A* finds executable paths maximising USD profit under real-world constraints</a:t>
            </a:r>
          </a:p>
          <a:p>
            <a:pPr>
              <a:buNone/>
            </a:pPr>
            <a:endParaRPr sz="800"/>
          </a:p>
          <a:p>
            <a:pPr algn="ctr"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Cost function and three novel heuristics ▼</a:t>
            </a: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1133834" y="3329540"/>
            <a:ext cx="9836233" cy="686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CD3E3D"/>
                </a:solidFill>
                <a:latin typeface="Trebuchet MS"/>
                <a:ea typeface="Trebuchet MS"/>
                <a:cs typeface="Trebuchet MS"/>
                <a:sym typeface="Trebuchet MS"/>
              </a:rPr>
              <a:t>Method: Execution-Aware A* Search</a:t>
            </a:r>
            <a:endParaRPr sz="1339" dirty="0"/>
          </a:p>
        </p:txBody>
      </p:sp>
      <p:grpSp>
        <p:nvGrpSpPr>
          <p:cNvPr id="93" name="Google Shape;93;p1"/>
          <p:cNvGrpSpPr/>
          <p:nvPr/>
        </p:nvGrpSpPr>
        <p:grpSpPr>
          <a:xfrm>
            <a:off x="969727" y="10105613"/>
            <a:ext cx="9836233" cy="6489051"/>
            <a:chOff x="457200" y="2971800"/>
            <a:chExt cx="13716000" cy="6786425"/>
          </a:xfrm>
        </p:grpSpPr>
        <p:sp>
          <p:nvSpPr>
            <p:cNvPr id="94" name="Google Shape;94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>
                <a:buNone/>
              </a:pPr>
              <a:r>
                <a:rPr lang="en-US" sz="2200" i="1" dirty="0">
                  <a:solidFill>
                    <a:schemeClr val="dk1"/>
                  </a:solidFill>
                  <a:latin typeface="Arial"/>
                </a:rPr>
                <a:t>Subgraph of the stablecoin arbitrage network (9 of 12 exchanges). Nodes = (exchange, coin); solid edges = intra-exchange trades; light edges = cross-exchange transfers.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Arbitrage Network</a:t>
              </a:r>
              <a:endParaRPr sz="1339"/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21953690" y="3329541"/>
            <a:ext cx="9836233" cy="6489051"/>
            <a:chOff x="457200" y="2971800"/>
            <a:chExt cx="13716000" cy="6786425"/>
          </a:xfrm>
        </p:grpSpPr>
        <p:sp>
          <p:nvSpPr>
            <p:cNvPr id="97" name="Google Shape;97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None/>
              </a:pPr>
              <a:r>
                <a:rPr lang="en-US" sz="4200" b="1" dirty="0">
                  <a:solidFill>
                    <a:srgbClr val="CC0633"/>
                  </a:solidFill>
                  <a:latin typeface="Arial"/>
                </a:rPr>
                <a:t>★  29% Fewer Node Expansions  ★</a:t>
              </a:r>
            </a:p>
            <a:p>
              <a:pPr algn="ctr">
                <a:buNone/>
              </a:pPr>
              <a:r>
                <a:rPr lang="en-US" sz="2600" b="1" dirty="0">
                  <a:solidFill>
                    <a:schemeClr val="dk1"/>
                  </a:solidFill>
                  <a:latin typeface="Arial"/>
                </a:rPr>
                <a:t>Same profit as Dijkstra across all 7,200 instances</a:t>
              </a:r>
            </a:p>
            <a:p>
              <a:pPr>
                <a:buNone/>
              </a:pPr>
              <a:endParaRPr sz="800"/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h₂ achieves the same profit as Dijkstra in all 7,200 overnight instances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99.6% of discovered paths remain profitable after 120 s of quote delay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h₁ and h₃ expand 58–87% more nodes and earn 30–33% less profit</a:t>
              </a: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Key Results</a:t>
              </a:r>
              <a:endParaRPr sz="1339" dirty="0"/>
            </a:p>
          </p:txBody>
        </p:sp>
      </p:grpSp>
      <p:grpSp>
        <p:nvGrpSpPr>
          <p:cNvPr id="99" name="Google Shape;99;p1"/>
          <p:cNvGrpSpPr/>
          <p:nvPr/>
        </p:nvGrpSpPr>
        <p:grpSpPr>
          <a:xfrm>
            <a:off x="21953690" y="10105613"/>
            <a:ext cx="9836233" cy="6489051"/>
            <a:chOff x="457200" y="2971800"/>
            <a:chExt cx="13716000" cy="6786425"/>
          </a:xfrm>
        </p:grpSpPr>
        <p:sp>
          <p:nvSpPr>
            <p:cNvPr id="100" name="Google Shape;100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None/>
              </a:pPr>
              <a:r>
                <a:rPr lang="en-US" sz="2800" b="1" dirty="0">
                  <a:solidFill>
                    <a:srgbClr val="CC0633"/>
                  </a:solidFill>
                  <a:latin typeface="Arial"/>
                </a:rPr>
                <a:t>Scan for source code and video demo.</a:t>
              </a:r>
            </a:p>
            <a:p>
              <a:pPr>
                <a:buNone/>
              </a:pPr>
              <a:endParaRPr sz="600"/>
            </a:p>
            <a:p>
              <a:pPr marL="342900" indent="-342900">
                <a:buFont typeface="Arial"/>
                <a:buChar char="•"/>
              </a:pPr>
              <a:r>
                <a:rPr lang="en-US" sz="2300" dirty="0">
                  <a:solidFill>
                    <a:schemeClr val="dk1"/>
                  </a:solidFill>
                  <a:latin typeface="Arial"/>
                </a:rPr>
                <a:t>Future work: asynchronous order-book pre-fetching; extension to DEX / AMM markets (Uniswap, Curve) with continuous pricing invariants.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Code &amp; Demo</a:t>
              </a:r>
              <a:endParaRPr sz="1339" dirty="0"/>
            </a:p>
          </p:txBody>
        </p:sp>
      </p:grpSp>
      <p:sp>
        <p:nvSpPr>
          <p:cNvPr id="103" name="Google Shape;103;p1"/>
          <p:cNvSpPr txBox="1"/>
          <p:nvPr/>
        </p:nvSpPr>
        <p:spPr>
          <a:xfrm>
            <a:off x="22219112" y="19891689"/>
            <a:ext cx="9304406" cy="1265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400"/>
            </a:pP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github.com/kevinl03/Stablecoin-CrossExchange-Arbitrage</a:t>
            </a:r>
            <a:b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Canadian AI 2026  |  GSS Paper  |  36 × 24 in</a:t>
            </a:r>
            <a:endParaRPr sz="1148" dirty="0">
              <a:solidFill>
                <a:srgbClr val="CD3E3D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8C4B149-42D8-E246-974C-EA8699E2F3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728" y="803740"/>
            <a:ext cx="4525942" cy="15490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580A6-D882-9217-DC83-6E2840DFF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8974" y="768868"/>
            <a:ext cx="5871684" cy="1032250"/>
          </a:xfrm>
          <a:prstGeom prst="rect">
            <a:avLst/>
          </a:prstGeom>
        </p:spPr>
      </p:pic>
      <p:sp>
        <p:nvSpPr>
          <p:cNvPr id="300" name="Lbl300"/>
          <p:cNvSpPr txBox="1"/>
          <p:nvPr/>
        </p:nvSpPr>
        <p:spPr>
          <a:xfrm>
            <a:off x="1200000" y="4200000"/>
            <a:ext cx="9200000" cy="135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8000" b="1" dirty="0">
                <a:solidFill>
                  <a:srgbClr val="CC0633"/>
                </a:solidFill>
                <a:latin typeface="Arial"/>
              </a:rPr>
              <a:t>$300 Billion+</a:t>
            </a:r>
          </a:p>
        </p:txBody>
      </p:sp>
      <p:sp>
        <p:nvSpPr>
          <p:cNvPr id="301" name="Lbl301"/>
          <p:cNvSpPr txBox="1"/>
          <p:nvPr/>
        </p:nvSpPr>
        <p:spPr>
          <a:xfrm>
            <a:off x="1200000" y="5650000"/>
            <a:ext cx="92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3000" b="0" dirty="0">
                <a:solidFill>
                  <a:srgbClr val="333333"/>
                </a:solidFill>
                <a:latin typeface="Arial"/>
              </a:rPr>
              <a:t>Global Stablecoin Market Cap</a:t>
            </a:r>
          </a:p>
        </p:txBody>
      </p:sp>
      <p:sp>
        <p:nvSpPr>
          <p:cNvPr id="302" name="Lbl302"/>
          <p:cNvSpPr txBox="1"/>
          <p:nvPr/>
        </p:nvSpPr>
        <p:spPr>
          <a:xfrm>
            <a:off x="1200000" y="6500000"/>
            <a:ext cx="92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2800" b="1" dirty="0">
                <a:solidFill>
                  <a:srgbClr val="CC0633"/>
                </a:solidFill>
                <a:latin typeface="Arial"/>
              </a:rPr>
              <a:t>Novel Proprietary Dataset</a:t>
            </a:r>
          </a:p>
        </p:txBody>
      </p:sp>
      <p:sp>
        <p:nvSpPr>
          <p:cNvPr id="303" name="Lbl303"/>
          <p:cNvSpPr txBox="1"/>
          <p:nvPr/>
        </p:nvSpPr>
        <p:spPr>
          <a:xfrm>
            <a:off x="1200000" y="7150000"/>
            <a:ext cx="92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2500" b="0" dirty="0">
                <a:solidFill>
                  <a:srgbClr val="333333"/>
                </a:solidFill>
                <a:latin typeface="Arial"/>
              </a:rPr>
              <a:t>12 Exchanges  ·  9 Stablecoins  ·  7,200 Search Instances</a:t>
            </a:r>
          </a:p>
        </p:txBody>
      </p:sp>
      <p:pic>
        <p:nvPicPr>
          <p:cNvPr id="304" name="FullGraph"/>
          <p:cNvPicPr/>
          <p:nvPr/>
        </p:nvPicPr>
        <p:blipFill>
          <a:blip r:embed="rId5"/>
          <a:stretch>
            <a:fillRect/>
          </a:stretch>
        </p:blipFill>
        <p:spPr>
          <a:xfrm>
            <a:off x="1200000" y="12175957"/>
            <a:ext cx="9200000" cy="7365732"/>
          </a:xfrm>
          <a:prstGeom prst="rect">
            <a:avLst/>
          </a:prstGeom>
        </p:spPr>
      </p:pic>
      <p:sp>
        <p:nvSpPr>
          <p:cNvPr id="305" name="Cap305"/>
          <p:cNvSpPr txBox="1"/>
          <p:nvPr/>
        </p:nvSpPr>
        <p:spPr>
          <a:xfrm>
            <a:off x="1200000" y="19576689"/>
            <a:ext cx="9200000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Stablecoin arbitrage graph: 9 of 12 exchanges shown</a:t>
            </a:r>
          </a:p>
        </p:txBody>
      </p:sp>
      <p:sp>
        <p:nvSpPr>
          <p:cNvPr id="306" name="Lbl306"/>
          <p:cNvSpPr txBox="1"/>
          <p:nvPr/>
        </p:nvSpPr>
        <p:spPr>
          <a:xfrm>
            <a:off x="11350000" y="8420000"/>
            <a:ext cx="920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3 Novel Heuristics (below)</a:t>
            </a:r>
          </a:p>
        </p:txBody>
      </p:sp>
      <p:pic>
        <p:nvPicPr>
          <p:cNvPr id="307" name="eq_main"/>
          <p:cNvPicPr/>
          <p:nvPr/>
        </p:nvPicPr>
        <p:blipFill>
          <a:blip r:embed="rId6"/>
          <a:stretch>
            <a:fillRect/>
          </a:stretch>
        </p:blipFill>
        <p:spPr>
          <a:xfrm>
            <a:off x="11350000" y="7200000"/>
            <a:ext cx="9200000" cy="1100000"/>
          </a:xfrm>
          <a:prstGeom prst="rect">
            <a:avLst/>
          </a:prstGeom>
        </p:spPr>
      </p:pic>
      <p:pic>
        <p:nvPicPr>
          <p:cNvPr id="308" name="eq_h1"/>
          <p:cNvPicPr/>
          <p:nvPr/>
        </p:nvPicPr>
        <p:blipFill>
          <a:blip r:embed="rId7"/>
          <a:stretch>
            <a:fillRect/>
          </a:stretch>
        </p:blipFill>
        <p:spPr>
          <a:xfrm>
            <a:off x="11350000" y="9040000"/>
            <a:ext cx="9200000" cy="1050000"/>
          </a:xfrm>
          <a:prstGeom prst="rect">
            <a:avLst/>
          </a:prstGeom>
        </p:spPr>
      </p:pic>
      <p:pic>
        <p:nvPicPr>
          <p:cNvPr id="309" name="eq_h2"/>
          <p:cNvPicPr/>
          <p:nvPr/>
        </p:nvPicPr>
        <p:blipFill>
          <a:blip r:embed="rId8"/>
          <a:stretch>
            <a:fillRect/>
          </a:stretch>
        </p:blipFill>
        <p:spPr>
          <a:xfrm>
            <a:off x="11350000" y="10210000"/>
            <a:ext cx="9200000" cy="1050000"/>
          </a:xfrm>
          <a:prstGeom prst="rect">
            <a:avLst/>
          </a:prstGeom>
        </p:spPr>
      </p:pic>
      <p:pic>
        <p:nvPicPr>
          <p:cNvPr id="310" name="eq_h3"/>
          <p:cNvPicPr/>
          <p:nvPr/>
        </p:nvPicPr>
        <p:blipFill>
          <a:blip r:embed="rId9"/>
          <a:stretch>
            <a:fillRect/>
          </a:stretch>
        </p:blipFill>
        <p:spPr>
          <a:xfrm>
            <a:off x="11350000" y="11380000"/>
            <a:ext cx="9200000" cy="1050000"/>
          </a:xfrm>
          <a:prstGeom prst="rect">
            <a:avLst/>
          </a:prstGeom>
        </p:spPr>
      </p:pic>
      <p:pic>
        <p:nvPicPr>
          <p:cNvPr id="311" name="CameraReadySuccesfulPathProfit"/>
          <p:cNvPicPr/>
          <p:nvPr/>
        </p:nvPicPr>
        <p:blipFill>
          <a:blip r:embed="rId10"/>
          <a:stretch>
            <a:fillRect/>
          </a:stretch>
        </p:blipFill>
        <p:spPr>
          <a:xfrm>
            <a:off x="11350000" y="12750000"/>
            <a:ext cx="9200000" cy="5431325"/>
          </a:xfrm>
          <a:prstGeom prst="rect">
            <a:avLst/>
          </a:prstGeom>
        </p:spPr>
      </p:pic>
      <p:sp>
        <p:nvSpPr>
          <p:cNvPr id="312" name="Cap312"/>
          <p:cNvSpPr txBox="1"/>
          <p:nvPr/>
        </p:nvSpPr>
        <p:spPr>
          <a:xfrm>
            <a:off x="11350000" y="18216325"/>
            <a:ext cx="9200000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1b — A profitable path: Kraken → KuCoin (USDT → TUSD)</a:t>
            </a:r>
          </a:p>
        </p:txBody>
      </p:sp>
      <p:pic>
        <p:nvPicPr>
          <p:cNvPr id="313" name="fig01_node_expansion_bar"/>
          <p:cNvPicPr/>
          <p:nvPr/>
        </p:nvPicPr>
        <p:blipFill>
          <a:blip r:embed="rId11"/>
          <a:stretch>
            <a:fillRect/>
          </a:stretch>
        </p:blipFill>
        <p:spPr>
          <a:xfrm>
            <a:off x="24637755" y="7500000"/>
            <a:ext cx="4324489" cy="3100000"/>
          </a:xfrm>
          <a:prstGeom prst="rect">
            <a:avLst/>
          </a:prstGeom>
        </p:spPr>
      </p:pic>
      <p:sp>
        <p:nvSpPr>
          <p:cNvPr id="314" name="Cap314"/>
          <p:cNvSpPr txBox="1"/>
          <p:nvPr/>
        </p:nvSpPr>
        <p:spPr>
          <a:xfrm>
            <a:off x="24637755" y="10635000"/>
            <a:ext cx="4324489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2a — Node expansions per heuristic (cached graph, $10 k order)</a:t>
            </a:r>
          </a:p>
        </p:txBody>
      </p:sp>
      <p:pic>
        <p:nvPicPr>
          <p:cNvPr id="315" name="qr_github"/>
          <p:cNvPicPr/>
          <p:nvPr/>
        </p:nvPicPr>
        <p:blipFill>
          <a:blip r:embed="rId12"/>
          <a:stretch>
            <a:fillRect/>
          </a:stretch>
        </p:blipFill>
        <p:spPr>
          <a:xfrm>
            <a:off x="24400000" y="13891689"/>
            <a:ext cx="4800000" cy="4800000"/>
          </a:xfrm>
          <a:prstGeom prst="rect">
            <a:avLst/>
          </a:prstGeom>
        </p:spPr>
      </p:pic>
      <p:sp>
        <p:nvSpPr>
          <p:cNvPr id="316" name="Cap316"/>
          <p:cNvSpPr txBox="1"/>
          <p:nvPr/>
        </p:nvSpPr>
        <p:spPr>
          <a:xfrm>
            <a:off x="24400000" y="18726689"/>
            <a:ext cx="4800000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Scan for source code &amp; video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88</Words>
  <Application>Microsoft Office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Impact</vt:lpstr>
      <vt:lpstr>Times</vt:lpstr>
      <vt:lpstr>Trebuchet MS</vt:lpstr>
      <vt:lpstr>Office Theme</vt:lpstr>
      <vt:lpstr>Project Title: an Exciting Project with Even More Exciting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Greg Mori</dc:creator>
  <cp:lastModifiedBy>Lydia Bouzar-Benlabiod</cp:lastModifiedBy>
  <cp:revision>7</cp:revision>
  <dcterms:created xsi:type="dcterms:W3CDTF">2018-11-28T01:52:15Z</dcterms:created>
  <dcterms:modified xsi:type="dcterms:W3CDTF">2026-04-17T16:34:11Z</dcterms:modified>
</cp:coreProperties>
</file>