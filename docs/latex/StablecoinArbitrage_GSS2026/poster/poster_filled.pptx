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oster_fig1.png"/><Relationship Id="rId6" Type="http://schemas.openxmlformats.org/officeDocument/2006/relationships/image" Target="../media/poster_fig2.png"/><Relationship Id="rId7" Type="http://schemas.openxmlformats.org/officeDocument/2006/relationships/image" Target="../media/poster_fig3.png"/><Relationship Id="rId8" Type="http://schemas.openxmlformats.org/officeDocument/2006/relationships/image" Target="../media/poster_fig4.png"/><Relationship Id="rId9" Type="http://schemas.openxmlformats.org/officeDocument/2006/relationships/image" Target="../media/poster_fig5.png"/><Relationship Id="rId10" Type="http://schemas.openxmlformats.org/officeDocument/2006/relationships/image" Target="../media/poster_fig6.png"/><Relationship Id="rId11" Type="http://schemas.openxmlformats.org/officeDocument/2006/relationships/image" Target="../media/poster_fig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737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—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Cross-exchange stablecoin arbitrage exploits price discrepancies across centralized exchanges — a $300 B+ market.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Prior work uses negative-cycle detection to find opportunities, but ignores EXECUTION: fees, slippage, withdrawal delays, and venue reliability.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We shift focus: compute trade-and-transfer paths that remain profitable after ALL real-world costs are applied.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Stablecoins are ideal: USD-pegged assets with a clean scalar profit objective across 12 major exchanges and 9 coin symbols.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We model the problem as weighted directed graph search and run 7,200 overnight search instances comparing A* heuristics vs. Dijkstra.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Code + data: github.com/kevinl03/Stablecoin-CrossExchange-Arbitrage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Context &amp; Motivation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GRAPH MODEL — Nodes are (exchange, stablecoin) pairs. Intra-exchange edges are trades; inter-exchange edges are same-coin cross-venue transfers.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EDGE WEIGHT — w(e) = -log r(e). Effective rate r(e) bundles taker fees, gas/withdrawal costs, chain-transfer time, and venue-reliability discount.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GOAL — Any node where USD value exceeds the start amount (stablecoins are USD-pegged: no closed cycle required).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SEARCH — A* with f(n) = g(n) + h(n). Each heuristic is a domain-specific guidance penalty, not an admissible lower bound.</a:t>
            </a:r>
          </a:p>
          <a:p>
            <a:pPr>
              <a:buNone/>
            </a:pPr>
            <a:endParaRPr sz="900"/>
          </a:p>
          <a:p>
            <a:pPr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Heuristics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h₁  (Liquidity)    Penalise shallow 24-h order books relative to order size.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h₂  (Slippage)  ★  NOVEL: prunes high market-impact routes early, preserving low-impact paths at equal profit.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Arial"/>
              </a:rPr>
              <a:t>h₃  (Chain)       Chain-congestion time + static venue-reliability penalty.</a:t>
            </a:r>
          </a:p>
          <a:p>
            <a:pPr>
              <a:buNone/>
            </a:pPr>
            <a:endParaRPr sz="900"/>
          </a:p>
          <a:p>
            <a:pPr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Key Equations  ▼</a:t>
            </a:r>
          </a:p>
          <a:p>
            <a:pPr>
              <a:buNone/>
            </a:pPr>
            <a:endParaRPr sz="900"/>
          </a:p>
          <a:p>
            <a:pPr algn="ctr">
              <a:buNone/>
            </a:pPr>
            <a:r>
              <a:rPr lang="en-US" sz="2300" i="1" dirty="0">
                <a:solidFill>
                  <a:srgbClr val="0057A8"/>
                </a:solidFill>
                <a:latin typeface="Arial"/>
              </a:rPr>
              <a:t>h₂ achieves the same profit as Dijkstra with 29% fewer node expansions — verified across 7,200 overnight instances on a unique CEX stablecoin dataset.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D3E3D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>
                <a:buNone/>
              </a:pPr>
              <a:r>
                <a:rPr lang="en-US" sz="2500" b="1" dirty="0">
                  <a:solidFill>
                    <a:srgbClr val="CC0633"/>
                  </a:solidFill>
                  <a:latin typeface="Arial"/>
                </a:rPr>
                <a:t>The shift: OPPORTUNITY DETECTION → EXECUTION FEASIBILITY</a:t>
              </a:r>
            </a:p>
            <a:p>
              <a:pPr>
                <a:buNone/>
              </a:pPr>
              <a:endParaRPr sz="1000"/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① LIQUIDITY — Insufficient order-book depth causes partial fills and adverse price impact at the quoted rate.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② SLIPPAGE — Large orders shift the VWAP above mid-price; the effective rate r(e) captures this via slippage_bps.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③ LATENCY — Blockchain transfers take minutes to hours; market prices can move against the open leg while funds are in transit.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④ RELIABILITY — Exchange downtime, withdrawal halts, and API failures can derail planned routes mid-execution.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Together these factors mean opportunity-detection methods overstate real profit by up to 40% in live conditions.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Four Execution Challenges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None/>
              </a:pPr>
              <a:r>
                <a:rPr lang="en-US" sz="3000" b="1" dirty="0">
                  <a:solidFill>
                    <a:srgbClr val="CC0633"/>
                  </a:solidFill>
                  <a:latin typeface="Arial"/>
                </a:rPr>
                <a:t>★  h₂ reduces node expansions by 29% while matching Dijkstra’s profit  ★</a:t>
              </a:r>
            </a:p>
            <a:p>
              <a:pPr>
                <a:buNone/>
              </a:pPr>
              <a:endParaRPr sz="800"/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Every A*-based run across 7,200 overnight instances finds a profitable path.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Quote staleness: 99.6% of paths remain profitable up to 120 s of quote delay.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h₁ and h₃ expand 58-87% MORE nodes and earn 30-33% LESS profit: aggressive penalties over-steer search.</a:t>
              </a:r>
            </a:p>
            <a:p>
              <a:pPr>
                <a:buNone/>
              </a:pPr>
              <a:endParaRPr sz="800"/>
            </a:p>
            <a:p>
              <a:pPr>
                <a:buNone/>
              </a:pPr>
              <a:r>
                <a:rPr lang="en-US" sz="1900" b="1" dirty="0">
                  <a:solidFill>
                    <a:schemeClr val="dk1"/>
                  </a:solidFill>
                  <a:latin typeface="Courier New"/>
                </a:rPr>
                <a:t>Heuristic    Profit    Expansions  ΔExp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──────────────────────────────────────────────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Dijkstra     $10.01    359         ---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h₂ Slippage  $9.91     256         -29%  ★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h₁ Liq.      $6.72     568        +58%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h₃ Chain     $7.06     673        +87%</a:t>
              </a:r>
            </a:p>
            <a:p>
              <a:pPr>
                <a:buNone/>
              </a:pPr>
              <a:r>
                <a:rPr lang="en-US" sz="1900" dirty="0">
                  <a:solidFill>
                    <a:schemeClr val="dk1"/>
                  </a:solidFill>
                  <a:latin typeface="Courier New"/>
                </a:rPr>
                <a:t>Multi-start  $9.88     3×359       ---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Results &amp; Impact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Graph scaling (4 → 12 exchanges): h₂ maintains its expansion advantage at every graph size — the gap widens as the graph grows.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h₂ is robust to order-size variation ($1k – $100k): the slippage penalty keeps search focused on liquid, low-impact paths.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Overnight stability: profit stays consistent across 7,200 runs with minimal variance — the A* framework is stable under live market conditions.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FUTURE: asynchronous order-book pre-fetching to eliminate quote staleness.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2400" dirty="0">
                  <a:solidFill>
                    <a:schemeClr val="dk1"/>
                  </a:solidFill>
                  <a:latin typeface="Arial"/>
                </a:rPr>
                <a:t>FUTURE: extension to DEX/AMM markets (Uniswap, Curve) with continuous pricing — replacing discrete fee tables with AMM invariants.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Scaling &amp; Future Work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Canadian AI 2026  |  GSS Paper  |  Poster: 36 × 24 in</a:t>
            </a:r>
            <a:endParaRPr sz="1148" dirty="0">
              <a:solidFill>
                <a:srgbClr val="CD3E3D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sp>
        <p:nvSpPr>
          <p:cNvPr id="290" name="Label290"/>
          <p:cNvSpPr txBox="1"/>
          <p:nvPr/>
        </p:nvSpPr>
        <p:spPr>
          <a:xfrm>
            <a:off x="11350000" y="10300000"/>
            <a:ext cx="920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1"/>
          <a:lstStyle/>
          <a:p>
            <a:pPr algn="ctr">
              <a:buNone/>
            </a:pPr>
            <a:r>
              <a:rPr lang="en-US" sz="2700" b="1" dirty="0">
                <a:solidFill>
                  <a:srgbClr val="CC0633"/>
                </a:solidFill>
                <a:latin typeface="Arial"/>
              </a:rPr>
              <a:t>Key Cost Equations</a:t>
            </a:r>
          </a:p>
        </p:txBody>
      </p:sp>
      <p:pic>
        <p:nvPicPr>
          <p:cNvPr id="300" name="eq1"/>
          <p:cNvPicPr/>
          <p:nvPr/>
        </p:nvPicPr>
        <p:blipFill>
          <a:blip r:embed="rId5"/>
          <a:stretch>
            <a:fillRect/>
          </a:stretch>
        </p:blipFill>
        <p:spPr>
          <a:xfrm>
            <a:off x="11350000" y="10600000"/>
            <a:ext cx="9200000" cy="820000"/>
          </a:xfrm>
          <a:prstGeom prst="rect">
            <a:avLst/>
          </a:prstGeom>
        </p:spPr>
      </p:pic>
      <p:pic>
        <p:nvPicPr>
          <p:cNvPr id="301" name="eq2"/>
          <p:cNvPicPr/>
          <p:nvPr/>
        </p:nvPicPr>
        <p:blipFill>
          <a:blip r:embed="rId6"/>
          <a:stretch>
            <a:fillRect/>
          </a:stretch>
        </p:blipFill>
        <p:spPr>
          <a:xfrm>
            <a:off x="11350000" y="11520000"/>
            <a:ext cx="9200000" cy="820000"/>
          </a:xfrm>
          <a:prstGeom prst="rect">
            <a:avLst/>
          </a:prstGeom>
        </p:spPr>
      </p:pic>
      <p:pic>
        <p:nvPicPr>
          <p:cNvPr id="302" name="eq3"/>
          <p:cNvPicPr/>
          <p:nvPr/>
        </p:nvPicPr>
        <p:blipFill>
          <a:blip r:embed="rId7"/>
          <a:stretch>
            <a:fillRect/>
          </a:stretch>
        </p:blipFill>
        <p:spPr>
          <a:xfrm>
            <a:off x="11350000" y="12440000"/>
            <a:ext cx="9200000" cy="820000"/>
          </a:xfrm>
          <a:prstGeom prst="rect">
            <a:avLst/>
          </a:prstGeom>
        </p:spPr>
      </p:pic>
      <p:sp>
        <p:nvSpPr>
          <p:cNvPr id="303" name="Caption303"/>
          <p:cNvSpPr txBox="1"/>
          <p:nvPr/>
        </p:nvSpPr>
        <p:spPr>
          <a:xfrm>
            <a:off x="1200000" y="19125457"/>
            <a:ext cx="92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3 — Success rate and profit by heuristic</a:t>
            </a:r>
          </a:p>
        </p:txBody>
      </p:sp>
      <p:pic>
        <p:nvPicPr>
          <p:cNvPr id="304" name="fig04_success_rate"/>
          <p:cNvPicPr/>
          <p:nvPr/>
        </p:nvPicPr>
        <p:blipFill>
          <a:blip r:embed="rId8"/>
          <a:stretch>
            <a:fillRect/>
          </a:stretch>
        </p:blipFill>
        <p:spPr>
          <a:xfrm>
            <a:off x="1200000" y="13500000"/>
            <a:ext cx="9200000" cy="5585457"/>
          </a:xfrm>
          <a:prstGeom prst="rect">
            <a:avLst/>
          </a:prstGeom>
        </p:spPr>
      </p:pic>
      <p:sp>
        <p:nvSpPr>
          <p:cNvPr id="305" name="Caption305"/>
          <p:cNvSpPr txBox="1"/>
          <p:nvPr/>
        </p:nvSpPr>
        <p:spPr>
          <a:xfrm>
            <a:off x="22200000" y="11240000"/>
            <a:ext cx="92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2a — Node expansions per heuristic (cached graph, $10 k order)</a:t>
            </a:r>
          </a:p>
        </p:txBody>
      </p:sp>
      <p:pic>
        <p:nvPicPr>
          <p:cNvPr id="306" name="fig01_node_expansion_bar"/>
          <p:cNvPicPr/>
          <p:nvPr/>
        </p:nvPicPr>
        <p:blipFill>
          <a:blip r:embed="rId9"/>
          <a:stretch>
            <a:fillRect/>
          </a:stretch>
        </p:blipFill>
        <p:spPr>
          <a:xfrm>
            <a:off x="22200000" y="8700000"/>
            <a:ext cx="9200000" cy="2500000"/>
          </a:xfrm>
          <a:prstGeom prst="rect">
            <a:avLst/>
          </a:prstGeom>
        </p:spPr>
      </p:pic>
      <p:sp>
        <p:nvSpPr>
          <p:cNvPr id="307" name="Caption307"/>
          <p:cNvSpPr txBox="1"/>
          <p:nvPr/>
        </p:nvSpPr>
        <p:spPr>
          <a:xfrm>
            <a:off x="22200000" y="16340000"/>
            <a:ext cx="92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2b — Expansions vs. graph size (4 → 12 exchanges)</a:t>
            </a:r>
          </a:p>
        </p:txBody>
      </p:sp>
      <p:pic>
        <p:nvPicPr>
          <p:cNvPr id="308" name="fig08_graph_scaling_expansions"/>
          <p:cNvPicPr/>
          <p:nvPr/>
        </p:nvPicPr>
        <p:blipFill>
          <a:blip r:embed="rId10"/>
          <a:stretch>
            <a:fillRect/>
          </a:stretch>
        </p:blipFill>
        <p:spPr>
          <a:xfrm>
            <a:off x="22200000" y="13700000"/>
            <a:ext cx="9200000" cy="2600000"/>
          </a:xfrm>
          <a:prstGeom prst="rect">
            <a:avLst/>
          </a:prstGeom>
        </p:spPr>
      </p:pic>
      <p:sp>
        <p:nvSpPr>
          <p:cNvPr id="309" name="Caption309"/>
          <p:cNvSpPr txBox="1"/>
          <p:nvPr/>
        </p:nvSpPr>
        <p:spPr>
          <a:xfrm>
            <a:off x="11350000" y="18971325"/>
            <a:ext cx="92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>
              <a:buNone/>
            </a:pPr>
            <a:r>
              <a:rPr lang="en-US" sz="1700" i="1" dirty="0">
                <a:solidFill>
                  <a:srgbClr val="555555"/>
                </a:solidFill>
                <a:latin typeface="Arial"/>
              </a:rPr>
              <a:t>Fig. 1b — Discovered profitable path: Kraken → KuCoin → KuCoin (USDT → TUSD)</a:t>
            </a:r>
          </a:p>
        </p:txBody>
      </p:sp>
      <p:pic>
        <p:nvPicPr>
          <p:cNvPr id="310" name="CameraReadySuccesfulPathProfit"/>
          <p:cNvPicPr/>
          <p:nvPr/>
        </p:nvPicPr>
        <p:blipFill>
          <a:blip r:embed="rId11"/>
          <a:stretch>
            <a:fillRect/>
          </a:stretch>
        </p:blipFill>
        <p:spPr>
          <a:xfrm>
            <a:off x="11350000" y="13500000"/>
            <a:ext cx="9200000" cy="54313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