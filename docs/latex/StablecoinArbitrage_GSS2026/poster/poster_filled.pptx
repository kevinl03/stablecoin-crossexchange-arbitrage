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759650" cy="219598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LfVfjeD0wRP9TUck/mtN4+srt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92E"/>
    <a:srgbClr val="CD3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85"/>
    <p:restoredTop sz="94658"/>
  </p:normalViewPr>
  <p:slideViewPr>
    <p:cSldViewPr snapToGrid="0">
      <p:cViewPr varScale="1">
        <p:scale>
          <a:sx n="18" d="100"/>
          <a:sy n="18" d="100"/>
        </p:scale>
        <p:origin x="792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39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1538" y="685800"/>
            <a:ext cx="51149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094957" y="3593901"/>
            <a:ext cx="24569738" cy="7645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4094957" y="11534026"/>
            <a:ext cx="24569738" cy="530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/>
            </a:lvl1pPr>
            <a:lvl2pPr lvl="1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/>
            </a:lvl2pPr>
            <a:lvl3pPr lvl="2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/>
            </a:lvl3pPr>
            <a:lvl4pPr lvl="3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4pPr>
            <a:lvl5pPr lvl="4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5pPr>
            <a:lvl6pPr lvl="5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6pPr>
            <a:lvl7pPr lvl="6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7pPr>
            <a:lvl8pPr lvl="7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8pPr>
            <a:lvl9pPr lvl="8" algn="ctr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235165" y="5474726"/>
            <a:ext cx="28255078" cy="9134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200"/>
              <a:buFont typeface="Calibri"/>
              <a:buNone/>
              <a:defRPr sz="1836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235165" y="14695845"/>
            <a:ext cx="28255078" cy="4803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344">
                <a:solidFill>
                  <a:srgbClr val="888888"/>
                </a:solidFill>
              </a:defRPr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6400"/>
              <a:buNone/>
              <a:defRPr sz="6120">
                <a:solidFill>
                  <a:srgbClr val="888888"/>
                </a:solidFill>
              </a:defRPr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760"/>
              <a:buNone/>
              <a:defRPr sz="5507">
                <a:solidFill>
                  <a:srgbClr val="888888"/>
                </a:solidFill>
              </a:defRPr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rgbClr val="888888"/>
              </a:buClr>
              <a:buSzPts val="5120"/>
              <a:buNone/>
              <a:defRPr sz="4895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2252226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16584573" y="5845803"/>
            <a:ext cx="13922732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2256494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256495" y="5383224"/>
            <a:ext cx="13858841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2256495" y="8021460"/>
            <a:ext cx="13858841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16584574" y="5383224"/>
            <a:ext cx="13927210" cy="263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344" b="1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None/>
              <a:defRPr sz="6120" b="1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507" b="1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16584574" y="8021460"/>
            <a:ext cx="13927210" cy="1179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840351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0240"/>
              <a:buChar char="•"/>
              <a:defRPr sz="9792"/>
            </a:lvl1pPr>
            <a:lvl2pPr marL="874355" lvl="1" indent="-76263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8960"/>
              <a:buChar char="•"/>
              <a:defRPr sz="8568"/>
            </a:lvl2pPr>
            <a:lvl3pPr marL="1311533" lvl="2" indent="-684911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7680"/>
              <a:buChar char="•"/>
              <a:defRPr sz="7344"/>
            </a:lvl3pPr>
            <a:lvl4pPr marL="1748710" lvl="3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4pPr>
            <a:lvl5pPr marL="2185888" lvl="4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5pPr>
            <a:lvl6pPr marL="2623066" lvl="5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6pPr>
            <a:lvl7pPr marL="3060243" lvl="6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7pPr>
            <a:lvl8pPr marL="3497421" lvl="7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8pPr>
            <a:lvl9pPr marL="3934597" lvl="8" indent="-607192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6400"/>
              <a:buChar char="•"/>
              <a:defRPr sz="612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2256494" y="1463992"/>
            <a:ext cx="10565799" cy="5124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240"/>
              <a:buFont typeface="Calibri"/>
              <a:buNone/>
              <a:defRPr sz="9792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3927120" y="3161819"/>
            <a:ext cx="16584632" cy="15605654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2256494" y="6587966"/>
            <a:ext cx="10565799" cy="1220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218588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5120"/>
              <a:buNone/>
              <a:defRPr sz="4895"/>
            </a:lvl1pPr>
            <a:lvl2pPr marL="874355" lvl="1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4480"/>
              <a:buNone/>
              <a:defRPr sz="4283"/>
            </a:lvl2pPr>
            <a:lvl3pPr marL="1311533" lvl="2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840"/>
              <a:buNone/>
              <a:defRPr sz="3672"/>
            </a:lvl3pPr>
            <a:lvl4pPr marL="1748710" lvl="3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4pPr>
            <a:lvl5pPr marL="2185888" lvl="4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5pPr>
            <a:lvl6pPr marL="2623066" lvl="5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6pPr>
            <a:lvl7pPr marL="3060243" lvl="6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7pPr>
            <a:lvl8pPr marL="3497421" lvl="7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8pPr>
            <a:lvl9pPr marL="3934597" lvl="8" indent="-218588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06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9413253" y="-1315103"/>
            <a:ext cx="13933266" cy="28255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7670537" y="6942280"/>
            <a:ext cx="18610008" cy="7063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3338129" y="83169"/>
            <a:ext cx="18610008" cy="2078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7178" lvl="0" indent="-327883" algn="l">
              <a:lnSpc>
                <a:spcPct val="90000"/>
              </a:lnSpc>
              <a:spcBef>
                <a:spcPts val="30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874355" lvl="1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11533" lvl="2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748710" lvl="3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185888" lvl="4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623066" lvl="5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060243" lvl="6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497421" lvl="7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3934597" lvl="8" indent="-327883" algn="l">
              <a:lnSpc>
                <a:spcPct val="90000"/>
              </a:lnSpc>
              <a:spcBef>
                <a:spcPts val="153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2252227" y="1169162"/>
            <a:ext cx="28255078" cy="4244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80"/>
              <a:buFont typeface="Calibri"/>
              <a:buNone/>
              <a:defRPr sz="140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2252227" y="5845803"/>
            <a:ext cx="28255078" cy="13933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97560" algn="l" rtl="0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8960"/>
              <a:buFont typeface="Arial"/>
              <a:buChar char="•"/>
              <a:defRPr sz="89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71628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Font typeface="Arial"/>
              <a:buChar char="•"/>
              <a:defRPr sz="768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63500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400"/>
              <a:buFont typeface="Arial"/>
              <a:buChar char="•"/>
              <a:defRPr sz="6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594360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594359" algn="l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Font typeface="Arial"/>
              <a:buChar char="•"/>
              <a:defRPr sz="5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2252226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0851632" y="20353565"/>
            <a:ext cx="11056323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7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23136502" y="20353565"/>
            <a:ext cx="7370981" cy="116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0"/>
              <a:buFont typeface="Arial"/>
              <a:buNone/>
              <a:defRPr sz="3672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poster_image1.png"/><Relationship Id="rId6" Type="http://schemas.openxmlformats.org/officeDocument/2006/relationships/image" Target="../media/poster_image2.png"/><Relationship Id="rId7" Type="http://schemas.openxmlformats.org/officeDocument/2006/relationships/image" Target="../media/poster_image3.png"/><Relationship Id="rId8" Type="http://schemas.openxmlformats.org/officeDocument/2006/relationships/image" Target="../media/poster_image4.png"/><Relationship Id="rId9" Type="http://schemas.openxmlformats.org/officeDocument/2006/relationships/image" Target="../media/poster_image5.png"/><Relationship Id="rId10" Type="http://schemas.openxmlformats.org/officeDocument/2006/relationships/image" Target="../media/poster_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641852" y="491227"/>
            <a:ext cx="31475946" cy="1311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b" anchorCtr="0">
            <a:noAutofit/>
          </a:bodyPr>
          <a:lstStyle/>
          <a:p>
            <a:pPr>
              <a:buClr>
                <a:schemeClr val="lt1"/>
              </a:buClr>
              <a:buSzPts val="6000"/>
            </a:pPr>
            <a:r>
              <a:rPr lang="en-US" sz="5737" dirty="0">
                <a:solidFill>
                  <a:srgbClr val="0070C0"/>
                </a:solidFill>
                <a:latin typeface="Impact"/>
                <a:ea typeface="Impact"/>
                <a:cs typeface="Impact"/>
                <a:sym typeface="Impact"/>
              </a:rPr>
              <a:t>Execution-Aware A* Search for Cross-Exchange Stablecoin Arbitrage</a:t>
            </a:r>
            <a:endParaRPr dirty="0">
              <a:solidFill>
                <a:srgbClr val="0070C0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1852" y="1934837"/>
            <a:ext cx="31475946" cy="664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2304" tIns="101164" rIns="202304" bIns="101164" anchor="ctr" anchorCtr="0">
            <a:no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0070C0"/>
                </a:solidFill>
                <a:latin typeface="Trebuchet MS"/>
                <a:ea typeface="Trebuchet MS"/>
                <a:cs typeface="Trebuchet MS"/>
                <a:sym typeface="Trebuchet MS"/>
              </a:rPr>
              <a:t>Kevin Litvin    —    Simon Fraser University</a:t>
            </a:r>
            <a:endParaRPr sz="1339" dirty="0">
              <a:solidFill>
                <a:srgbClr val="0070C0"/>
              </a:solidFill>
            </a:endParaRPr>
          </a:p>
        </p:txBody>
      </p:sp>
      <p:grpSp>
        <p:nvGrpSpPr>
          <p:cNvPr id="87" name="Google Shape;87;p1"/>
          <p:cNvGrpSpPr/>
          <p:nvPr/>
        </p:nvGrpSpPr>
        <p:grpSpPr>
          <a:xfrm>
            <a:off x="969727" y="3329541"/>
            <a:ext cx="9836233" cy="6489051"/>
            <a:chOff x="457200" y="2971800"/>
            <a:chExt cx="13716000" cy="6786425"/>
          </a:xfrm>
        </p:grpSpPr>
        <p:sp>
          <p:nvSpPr>
            <p:cNvPr id="88" name="Google Shape;88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Cross-exchange stablecoin arbitrage exploits price gaps between centralized exchanges (CEX).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Existing work focuses on negative-cycle detection: it finds opportunities but ignores execution costs.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Real costs matter: trading fees, withdrawal/gas fees, order-book slippage, blockchain transfer time, and venue reliability.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Stablecoins (&gt;$300B market cap) are USD-pegged, so cross-venue routing has a clean USD objective.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Goal: plan executable, profitable trade-and-transfer paths under live market conditions.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Research questions: which heuristics help? how do they shape A* expansions vs. profit?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Motivation &amp; Problem</a:t>
              </a:r>
              <a:endParaRPr sz="1339" dirty="0"/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11133834" y="3985290"/>
            <a:ext cx="9836233" cy="17532931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marL="285750" indent="-285750">
              <a:buSzPts val="2900"/>
              <a:buChar char="•"/>
            </a:pPr>
            <a:r>
              <a:rPr lang="en-US" sz="27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Directed graph G=(V,E). Nodes are (exchange, stablecoin); edges are intra-exchange trades and cross-exchange transfers (same coin).</a:t>
            </a:r>
          </a:p>
          <a:p>
            <a:pPr marL="285750" indent="-285750">
              <a:buSzPts val="2900"/>
              <a:buChar char="•"/>
            </a:pPr>
            <a:r>
              <a:rPr lang="en-US" sz="27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Edge weight w(e) = -log r(e). Effective rate r(e) bundles taker fees, withdrawal/gas fees, transfer time, and exchange-reliability risk.</a:t>
            </a:r>
          </a:p>
          <a:p>
            <a:pPr marL="285750" indent="-285750">
              <a:buSzPts val="2900"/>
              <a:buChar char="•"/>
            </a:pPr>
            <a:r>
              <a:rPr lang="en-US" sz="27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Open-path goal: any node where final USD value &gt; start. No closed cycle required (USD-pegged stablecoins).</a:t>
            </a:r>
          </a:p>
          <a:p>
            <a:pPr marL="285750" indent="-285750">
              <a:buSzPts val="2900"/>
              <a:buChar char="•"/>
            </a:pPr>
            <a:r>
              <a:rPr lang="en-US" sz="270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A* search with f(n) = g(n) + h(n). h is a domain guidance penalty, not an admissible lower bound.</a:t>
            </a:r>
          </a:p>
          <a:p>
            <a:pPr>
              <a:buNone/>
            </a:pPr>
            <a:endParaRPr sz="1200"/>
          </a:p>
          <a:p>
            <a:pPr>
              <a:buNone/>
            </a:pPr>
            <a:r>
              <a:rPr lang="en-US" sz="24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w(e) = -log r(e),    f(n) = g(n) + h(n)</a:t>
            </a:r>
          </a:p>
          <a:p>
            <a:pPr>
              <a:buNone/>
            </a:pPr>
            <a:r>
              <a:rPr lang="en-US" sz="24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h_2 = lambda_slip * max(0, slippage_bps - theta)</a:t>
            </a:r>
          </a:p>
          <a:p>
            <a:pPr>
              <a:buNone/>
            </a:pPr>
            <a:r>
              <a:rPr lang="en-US" sz="24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slippage_bps = (VWAP(Q) - P_mid) / P_mid * 10000</a:t>
            </a:r>
          </a:p>
          <a:p>
            <a:pPr>
              <a:buNone/>
            </a:pPr>
            <a:endParaRPr sz="1200"/>
          </a:p>
          <a:p>
            <a:pPr algn="ctr">
              <a:buNone/>
            </a:pPr>
            <a:r>
              <a:rPr lang="en-US" sz="2400" b="1" i="1" dirty="0">
                <a:solidFill>
                  <a:srgbClr val="0070C0"/>
                </a:solidFill>
                <a:latin typeface="Times"/>
                <a:ea typeface="Times"/>
                <a:cs typeface="Times"/>
                <a:sym typeface="Times"/>
              </a:rPr>
              <a:t>Slippage-aware guidance prunes high-impact routes early, keeps low-impact ones intact: same profit as Dijkstra with 29% fewer expansions.</a:t>
            </a: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  <a:p>
            <a:pPr>
              <a:buSzPts val="3200"/>
            </a:pPr>
            <a:endParaRPr sz="3060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1133834" y="3329540"/>
            <a:ext cx="9836233" cy="686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000"/>
            </a:pPr>
            <a:r>
              <a:rPr lang="en-US" sz="3825" b="1" dirty="0">
                <a:solidFill>
                  <a:srgbClr val="CD3E3D"/>
                </a:solidFill>
                <a:latin typeface="Trebuchet MS"/>
                <a:ea typeface="Trebuchet MS"/>
                <a:cs typeface="Trebuchet MS"/>
                <a:sym typeface="Trebuchet MS"/>
              </a:rPr>
              <a:t>Method: Execution-Aware A* Search</a:t>
            </a:r>
            <a:endParaRPr sz="1339" dirty="0"/>
          </a:p>
        </p:txBody>
      </p:sp>
      <p:grpSp>
        <p:nvGrpSpPr>
          <p:cNvPr id="93" name="Google Shape;93;p1"/>
          <p:cNvGrpSpPr/>
          <p:nvPr/>
        </p:nvGrpSpPr>
        <p:grpSpPr>
          <a:xfrm>
            <a:off x="969727" y="10105613"/>
            <a:ext cx="9836233" cy="6489051"/>
            <a:chOff x="457200" y="2971800"/>
            <a:chExt cx="13716000" cy="6786425"/>
          </a:xfrm>
        </p:grpSpPr>
        <p:sp>
          <p:nvSpPr>
            <p:cNvPr id="94" name="Google Shape;94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Three guidance heuristics, each capturing a distinct execution risk dimension.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h_1 (liquidity): penalize shallow books from 24h volume, order size, and remaining time window.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h_3 (chain congestion + reliability): chain transfer time plus a static venue reliability score.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Parallel multi-start (k=3): random A* launches; trades robustness for repeated cost.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Baselines: Dijkstra (h=0), Bellman-Ford negative-cycle, 1-hop, and 2-hop enumeration.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All heuristics act as guidance penalties, not admissible lower bounds.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Heuristics &amp; Baselines</a:t>
              </a:r>
              <a:endParaRPr sz="1339"/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21953690" y="3329541"/>
            <a:ext cx="9836233" cy="6489051"/>
            <a:chOff x="457200" y="2971800"/>
            <a:chExt cx="13716000" cy="6786425"/>
          </a:xfrm>
        </p:grpSpPr>
        <p:sp>
          <p:nvSpPr>
            <p:cNvPr id="97" name="Google Shape;97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12 CEX via CCXT: Binance, Kraken, KuCoin, Bybit, OKX, Gate.io, Bitget, MEXC, HTX, Coinbase, Crypto.com, Phemex.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9 stablecoin symbols across the venues (USDT, USDC, DAI, TUSD, FDUSD, BUSD, PYUSD, USDP, GUSD).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Nodes = (exchange, coin); edges = intra-exchange trades and same-coin cross-exchange transfers.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Graphs grow from 4 to 12 exchanges; cached snapshots up to 41 nodes / 864 edges.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8-hour overnight campaign with 7,200 search instances across heuristics and order sizes.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Edge weights w(e) = -log(effective_rate(e)) absorb fees, slippage, gas, and chain delay.</a:t>
              </a: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Setup &amp; Dataset</a:t>
              </a:r>
              <a:endParaRPr sz="1339" dirty="0"/>
            </a:p>
          </p:txBody>
        </p:sp>
      </p:grpSp>
      <p:grpSp>
        <p:nvGrpSpPr>
          <p:cNvPr id="99" name="Google Shape;99;p1"/>
          <p:cNvGrpSpPr/>
          <p:nvPr/>
        </p:nvGrpSpPr>
        <p:grpSpPr>
          <a:xfrm>
            <a:off x="21953690" y="10105613"/>
            <a:ext cx="9836233" cy="6489051"/>
            <a:chOff x="457200" y="2971800"/>
            <a:chExt cx="13716000" cy="6786425"/>
          </a:xfrm>
        </p:grpSpPr>
        <p:sp>
          <p:nvSpPr>
            <p:cNvPr id="100" name="Google Shape;100;p1"/>
            <p:cNvSpPr txBox="1"/>
            <p:nvPr/>
          </p:nvSpPr>
          <p:spPr>
            <a:xfrm>
              <a:off x="457200" y="3657600"/>
              <a:ext cx="13716000" cy="61006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h_2 expands 29% fewer nodes than Dijkstra while matching profit within 1% (cached, $10k).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h_1 and h_3 expand 58-87% MORE nodes and earn 30-33% LESS profit: penalties over-steer search.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Overnight (7,200 runs): every A*-based run finds a profitable path.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Quote staleness: 99.6% of paths remain profitable up to 120 s of delay.</a:t>
              </a:r>
            </a:p>
            <a:p>
              <a:pPr marL="285750" indent="-285750">
                <a:buSzPts val="2900"/>
                <a:buChar char="•"/>
              </a:pPr>
              <a:r>
                <a:rPr lang="en-US" sz="2700" dirty="0">
                  <a:solidFill>
                    <a:schemeClr val="dk1"/>
                  </a:solidFill>
                  <a:latin typeface="Times"/>
                  <a:ea typeface="Times"/>
                  <a:cs typeface="Times"/>
                  <a:sym typeface="Times"/>
                </a:rPr>
                <a:t>Slippage-aware guidance follows the same optimal routes with less wasted exploration.</a:t>
              </a:r>
            </a:p>
            <a:p>
              <a:pPr>
                <a:buNone/>
              </a:pPr>
              <a:endParaRPr sz="1200"/>
            </a:p>
            <a:p>
              <a:pPr>
                <a:buNone/>
              </a:pPr>
              <a:r>
                <a:rPr lang="en-US" sz="2200" b="1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Heuristic     Succ.   Profit    Exp.    Δ</a:t>
              </a:r>
            </a:p>
            <a:p>
              <a:pPr>
                <a:buNone/>
              </a:pPr>
              <a:r>
                <a:rPr lang="en-US" sz="22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Dijkstra      56.7%   $10.01    359     ---</a:t>
              </a:r>
            </a:p>
            <a:p>
              <a:pPr>
                <a:buNone/>
              </a:pPr>
              <a:r>
                <a:rPr lang="en-US" sz="22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h_2 (slip.)   56.7%   $9.91     256     -29%</a:t>
              </a:r>
            </a:p>
            <a:p>
              <a:pPr>
                <a:buNone/>
              </a:pPr>
              <a:r>
                <a:rPr lang="en-US" sz="22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h_1 (liq.)    56.7%   $6.72     568     +58%</a:t>
              </a:r>
            </a:p>
            <a:p>
              <a:pPr>
                <a:buNone/>
              </a:pPr>
              <a:r>
                <a:rPr lang="en-US" sz="2200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h_3 (chain)   56.7%   $7.06     673     +87%</a:t>
              </a: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  <a:p>
              <a:pPr>
                <a:buSzPts val="3200"/>
              </a:pPr>
              <a:endParaRPr sz="3060" dirty="0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endParaRPr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457200" y="2971800"/>
              <a:ext cx="13716000" cy="718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7419" tIns="43697" rIns="87419" bIns="43697" anchor="t" anchorCtr="0">
              <a:spAutoFit/>
            </a:bodyPr>
            <a:lstStyle/>
            <a:p>
              <a:pPr algn="ctr">
                <a:buSzPts val="4000"/>
              </a:pPr>
              <a:r>
                <a:rPr lang="en-US" sz="3825" b="1" dirty="0">
                  <a:solidFill>
                    <a:srgbClr val="CD3E3D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Results &amp; Robustness</a:t>
              </a:r>
              <a:endParaRPr sz="1339" dirty="0"/>
            </a:p>
          </p:txBody>
        </p:sp>
      </p:grpSp>
      <p:sp>
        <p:nvSpPr>
          <p:cNvPr id="103" name="Google Shape;103;p1"/>
          <p:cNvSpPr txBox="1"/>
          <p:nvPr/>
        </p:nvSpPr>
        <p:spPr>
          <a:xfrm>
            <a:off x="22219112" y="19891689"/>
            <a:ext cx="9304406" cy="12654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419" tIns="43697" rIns="87419" bIns="43697" anchor="t" anchorCtr="0">
            <a:spAutoFit/>
          </a:bodyPr>
          <a:lstStyle/>
          <a:p>
            <a:pPr algn="ctr">
              <a:buSzPts val="4400"/>
            </a:pP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github.com/kevinl03/Stablecoin-CrossExchange-Arbitrage</a:t>
            </a:r>
            <a:b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</a:br>
            <a:r>
              <a:rPr lang="en-US" sz="3825" dirty="0">
                <a:solidFill>
                  <a:srgbClr val="CD3E3D"/>
                </a:solidFill>
                <a:latin typeface="Times"/>
                <a:ea typeface="Times"/>
                <a:cs typeface="Times"/>
                <a:sym typeface="Times"/>
              </a:rPr>
              <a:t>Canadian AI 2026  |  GSS Paper ID 306  |  36 x 24 in</a:t>
            </a:r>
            <a:endParaRPr sz="1148" dirty="0">
              <a:solidFill>
                <a:srgbClr val="CD3E3D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8C4B149-42D8-E246-974C-EA8699E2F3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728" y="803740"/>
            <a:ext cx="4525942" cy="15490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F580A6-D882-9217-DC83-6E2840DFF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8974" y="768868"/>
            <a:ext cx="5871684" cy="1032250"/>
          </a:xfrm>
          <a:prstGeom prst="rect">
            <a:avLst/>
          </a:prstGeom>
        </p:spPr>
      </p:pic>
      <p:sp>
        <p:nvSpPr>
          <p:cNvPr id="200" name="Caption 200"/>
          <p:cNvSpPr txBox="1"/>
          <p:nvPr/>
        </p:nvSpPr>
        <p:spPr>
          <a:xfrm>
            <a:off x="1400000" y="7140000"/>
            <a:ext cx="89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Success rate by heuristic</a:t>
            </a:r>
          </a:p>
        </p:txBody>
      </p:sp>
      <p:pic>
        <p:nvPicPr>
          <p:cNvPr id="201" name="fig04_success_r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000" y="7500000"/>
            <a:ext cx="8900000" cy="2200000"/>
          </a:xfrm>
          <a:prstGeom prst="rect">
            <a:avLst/>
          </a:prstGeom>
        </p:spPr>
      </p:pic>
      <p:sp>
        <p:nvSpPr>
          <p:cNvPr id="202" name="Caption 202"/>
          <p:cNvSpPr txBox="1"/>
          <p:nvPr/>
        </p:nvSpPr>
        <p:spPr>
          <a:xfrm>
            <a:off x="1400000" y="13940000"/>
            <a:ext cx="89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Node expansions per heuristic (cached graph)</a:t>
            </a:r>
          </a:p>
        </p:txBody>
      </p:sp>
      <p:pic>
        <p:nvPicPr>
          <p:cNvPr id="203" name="fig01_node_expansion_b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0000" y="14300000"/>
            <a:ext cx="8900000" cy="2200000"/>
          </a:xfrm>
          <a:prstGeom prst="rect">
            <a:avLst/>
          </a:prstGeom>
        </p:spPr>
      </p:pic>
      <p:sp>
        <p:nvSpPr>
          <p:cNvPr id="204" name="Caption 204"/>
          <p:cNvSpPr txBox="1"/>
          <p:nvPr/>
        </p:nvSpPr>
        <p:spPr>
          <a:xfrm>
            <a:off x="22400000" y="7140000"/>
            <a:ext cx="89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Expansions vs. graph size (4-12 exchanges)</a:t>
            </a:r>
          </a:p>
        </p:txBody>
      </p:sp>
      <p:pic>
        <p:nvPicPr>
          <p:cNvPr id="205" name="fig08_graph_scaling_expans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00000" y="7500000"/>
            <a:ext cx="8900000" cy="2200000"/>
          </a:xfrm>
          <a:prstGeom prst="rect">
            <a:avLst/>
          </a:prstGeom>
        </p:spPr>
      </p:pic>
      <p:sp>
        <p:nvSpPr>
          <p:cNvPr id="206" name="Caption 206"/>
          <p:cNvSpPr txBox="1"/>
          <p:nvPr/>
        </p:nvSpPr>
        <p:spPr>
          <a:xfrm>
            <a:off x="22400000" y="13940000"/>
            <a:ext cx="89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Overnight (7,200 runs): profit, success, expansions</a:t>
            </a:r>
          </a:p>
        </p:txBody>
      </p:sp>
      <p:pic>
        <p:nvPicPr>
          <p:cNvPr id="207" name="fig11_overnight_heuristic_comparis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00000" y="14300000"/>
            <a:ext cx="8900000" cy="2200000"/>
          </a:xfrm>
          <a:prstGeom prst="rect">
            <a:avLst/>
          </a:prstGeom>
        </p:spPr>
      </p:pic>
      <p:sp>
        <p:nvSpPr>
          <p:cNvPr id="208" name="Caption 208"/>
          <p:cNvSpPr txBox="1"/>
          <p:nvPr/>
        </p:nvSpPr>
        <p:spPr>
          <a:xfrm>
            <a:off x="11300000" y="13040000"/>
            <a:ext cx="95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Stablecoin arbitrage graph (subset of 12 venues)</a:t>
            </a:r>
          </a:p>
        </p:txBody>
      </p:sp>
      <p:pic>
        <p:nvPicPr>
          <p:cNvPr id="209" name="FullGraph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0000" y="13400000"/>
            <a:ext cx="9500000" cy="3900000"/>
          </a:xfrm>
          <a:prstGeom prst="rect">
            <a:avLst/>
          </a:prstGeom>
        </p:spPr>
      </p:pic>
      <p:sp>
        <p:nvSpPr>
          <p:cNvPr id="210" name="Caption 210"/>
          <p:cNvSpPr txBox="1"/>
          <p:nvPr/>
        </p:nvSpPr>
        <p:spPr>
          <a:xfrm>
            <a:off x="11300000" y="17140000"/>
            <a:ext cx="9500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anchorCtr="0">
            <a:noAutofit/>
          </a:bodyPr>
          <a:lstStyle/>
          <a:p>
            <a:pPr algn="ctr">
              <a:buNone/>
            </a:pPr>
            <a:r>
              <a:rPr lang="en-US" sz="1900" i="1" dirty="0">
                <a:solidFill>
                  <a:srgbClr val="555555"/>
                </a:solidFill>
                <a:latin typeface="Times"/>
                <a:ea typeface="Times"/>
                <a:cs typeface="Times"/>
                <a:sym typeface="Times"/>
              </a:rPr>
              <a:t>A profitable path: kraken:USDT -&gt; kucoin:USDT -&gt; kucoin:TUSD</a:t>
            </a:r>
          </a:p>
        </p:txBody>
      </p:sp>
      <p:pic>
        <p:nvPicPr>
          <p:cNvPr id="211" name="CameraReadySuccesfulPathProfi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00000" y="17500000"/>
            <a:ext cx="9500000" cy="37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88</Words>
  <Application>Microsoft Office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Impact</vt:lpstr>
      <vt:lpstr>Times</vt:lpstr>
      <vt:lpstr>Trebuchet MS</vt:lpstr>
      <vt:lpstr>Office Theme</vt:lpstr>
      <vt:lpstr>Project Title: an Exciting Project with Even More Exciting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Greg Mori</dc:creator>
  <cp:lastModifiedBy>Lydia Bouzar-Benlabiod</cp:lastModifiedBy>
  <cp:revision>7</cp:revision>
  <dcterms:created xsi:type="dcterms:W3CDTF">2018-11-28T01:52:15Z</dcterms:created>
  <dcterms:modified xsi:type="dcterms:W3CDTF">2026-04-17T16:34:11Z</dcterms:modified>
</cp:coreProperties>
</file>