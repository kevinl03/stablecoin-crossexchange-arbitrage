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759650" cy="219598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jLfVfjeD0wRP9TUck/mtN4+srt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2E"/>
    <a:srgbClr val="CD3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/>
    <p:restoredTop sz="94679"/>
  </p:normalViewPr>
  <p:slideViewPr>
    <p:cSldViewPr snapToGrid="0">
      <p:cViewPr varScale="1">
        <p:scale>
          <a:sx n="32" d="100"/>
          <a:sy n="32" d="100"/>
        </p:scale>
        <p:origin x="17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71538" y="685800"/>
            <a:ext cx="5114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39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1538" y="685800"/>
            <a:ext cx="5114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4094957" y="3593901"/>
            <a:ext cx="24569738" cy="7645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83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094957" y="11534026"/>
            <a:ext cx="24569738" cy="530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344"/>
            </a:lvl1pPr>
            <a:lvl2pPr lvl="1" algn="ctr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120"/>
            </a:lvl2pPr>
            <a:lvl3pPr lvl="2" algn="ctr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507"/>
            </a:lvl3pPr>
            <a:lvl4pPr lvl="3" algn="ctr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/>
            </a:lvl4pPr>
            <a:lvl5pPr lvl="4" algn="ctr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/>
            </a:lvl5pPr>
            <a:lvl6pPr lvl="5" algn="ctr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/>
            </a:lvl6pPr>
            <a:lvl7pPr lvl="6" algn="ctr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/>
            </a:lvl7pPr>
            <a:lvl8pPr lvl="7" algn="ctr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/>
            </a:lvl8pPr>
            <a:lvl9pPr lvl="8" algn="ctr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252227" y="1169162"/>
            <a:ext cx="28255078" cy="424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252227" y="5845803"/>
            <a:ext cx="28255078" cy="1393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327883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4355" lvl="1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11533" lvl="2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8710" lvl="3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185888" lvl="4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23066" lvl="5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60243" lvl="6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97421" lvl="7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34597" lvl="8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235165" y="5474726"/>
            <a:ext cx="28255078" cy="9134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83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235165" y="14695845"/>
            <a:ext cx="28255078" cy="48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218588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344">
                <a:solidFill>
                  <a:srgbClr val="888888"/>
                </a:solidFill>
              </a:defRPr>
            </a:lvl1pPr>
            <a:lvl2pPr marL="874355" lvl="1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120">
                <a:solidFill>
                  <a:srgbClr val="888888"/>
                </a:solidFill>
              </a:defRPr>
            </a:lvl2pPr>
            <a:lvl3pPr marL="1311533" lvl="2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507">
                <a:solidFill>
                  <a:srgbClr val="888888"/>
                </a:solidFill>
              </a:defRPr>
            </a:lvl3pPr>
            <a:lvl4pPr marL="1748710" lvl="3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4895">
                <a:solidFill>
                  <a:srgbClr val="888888"/>
                </a:solidFill>
              </a:defRPr>
            </a:lvl4pPr>
            <a:lvl5pPr marL="2185888" lvl="4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4895">
                <a:solidFill>
                  <a:srgbClr val="888888"/>
                </a:solidFill>
              </a:defRPr>
            </a:lvl5pPr>
            <a:lvl6pPr marL="2623066" lvl="5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4895">
                <a:solidFill>
                  <a:srgbClr val="888888"/>
                </a:solidFill>
              </a:defRPr>
            </a:lvl6pPr>
            <a:lvl7pPr marL="3060243" lvl="6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4895">
                <a:solidFill>
                  <a:srgbClr val="888888"/>
                </a:solidFill>
              </a:defRPr>
            </a:lvl7pPr>
            <a:lvl8pPr marL="3497421" lvl="7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4895">
                <a:solidFill>
                  <a:srgbClr val="888888"/>
                </a:solidFill>
              </a:defRPr>
            </a:lvl8pPr>
            <a:lvl9pPr marL="3934597" lvl="8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489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252227" y="1169162"/>
            <a:ext cx="28255078" cy="424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252226" y="5845803"/>
            <a:ext cx="13922732" cy="1393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327883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4355" lvl="1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11533" lvl="2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8710" lvl="3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185888" lvl="4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23066" lvl="5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60243" lvl="6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97421" lvl="7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34597" lvl="8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6584573" y="5845803"/>
            <a:ext cx="13922732" cy="1393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327883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4355" lvl="1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11533" lvl="2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8710" lvl="3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185888" lvl="4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23066" lvl="5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60243" lvl="6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97421" lvl="7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34597" lvl="8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256494" y="1169162"/>
            <a:ext cx="28255078" cy="424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256495" y="5383224"/>
            <a:ext cx="13858841" cy="263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37178" lvl="0" indent="-218588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344" b="1"/>
            </a:lvl1pPr>
            <a:lvl2pPr marL="874355" lvl="1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120" b="1"/>
            </a:lvl2pPr>
            <a:lvl3pPr marL="1311533" lvl="2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507" b="1"/>
            </a:lvl3pPr>
            <a:lvl4pPr marL="1748710" lvl="3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4pPr>
            <a:lvl5pPr marL="2185888" lvl="4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5pPr>
            <a:lvl6pPr marL="2623066" lvl="5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6pPr>
            <a:lvl7pPr marL="3060243" lvl="6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7pPr>
            <a:lvl8pPr marL="3497421" lvl="7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8pPr>
            <a:lvl9pPr marL="3934597" lvl="8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256495" y="8021460"/>
            <a:ext cx="13858841" cy="11798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327883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4355" lvl="1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11533" lvl="2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8710" lvl="3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185888" lvl="4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23066" lvl="5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60243" lvl="6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97421" lvl="7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34597" lvl="8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6584574" y="5383224"/>
            <a:ext cx="13927210" cy="263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37178" lvl="0" indent="-218588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344" b="1"/>
            </a:lvl1pPr>
            <a:lvl2pPr marL="874355" lvl="1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120" b="1"/>
            </a:lvl2pPr>
            <a:lvl3pPr marL="1311533" lvl="2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507" b="1"/>
            </a:lvl3pPr>
            <a:lvl4pPr marL="1748710" lvl="3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4pPr>
            <a:lvl5pPr marL="2185888" lvl="4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5pPr>
            <a:lvl6pPr marL="2623066" lvl="5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6pPr>
            <a:lvl7pPr marL="3060243" lvl="6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7pPr>
            <a:lvl8pPr marL="3497421" lvl="7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8pPr>
            <a:lvl9pPr marL="3934597" lvl="8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6584574" y="8021460"/>
            <a:ext cx="13927210" cy="11798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327883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4355" lvl="1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11533" lvl="2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8710" lvl="3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185888" lvl="4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23066" lvl="5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60243" lvl="6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97421" lvl="7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34597" lvl="8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252227" y="1169162"/>
            <a:ext cx="28255078" cy="424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56494" y="1463992"/>
            <a:ext cx="10565799" cy="512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40"/>
              <a:buFont typeface="Calibri"/>
              <a:buNone/>
              <a:defRPr sz="979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927120" y="3161819"/>
            <a:ext cx="16584632" cy="15605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840351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10240"/>
              <a:buChar char="•"/>
              <a:defRPr sz="9792"/>
            </a:lvl1pPr>
            <a:lvl2pPr marL="874355" lvl="1" indent="-762632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8960"/>
              <a:buChar char="•"/>
              <a:defRPr sz="8568"/>
            </a:lvl2pPr>
            <a:lvl3pPr marL="1311533" lvl="2" indent="-684911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7680"/>
              <a:buChar char="•"/>
              <a:defRPr sz="7344"/>
            </a:lvl3pPr>
            <a:lvl4pPr marL="1748710" lvl="3" indent="-607192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120"/>
            </a:lvl4pPr>
            <a:lvl5pPr marL="2185888" lvl="4" indent="-607192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120"/>
            </a:lvl5pPr>
            <a:lvl6pPr marL="2623066" lvl="5" indent="-607192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120"/>
            </a:lvl6pPr>
            <a:lvl7pPr marL="3060243" lvl="6" indent="-607192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120"/>
            </a:lvl7pPr>
            <a:lvl8pPr marL="3497421" lvl="7" indent="-607192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120"/>
            </a:lvl8pPr>
            <a:lvl9pPr marL="3934597" lvl="8" indent="-607192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12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56494" y="6587966"/>
            <a:ext cx="10565799" cy="12205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218588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/>
            </a:lvl1pPr>
            <a:lvl2pPr marL="874355" lvl="1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283"/>
            </a:lvl2pPr>
            <a:lvl3pPr marL="1311533" lvl="2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672"/>
            </a:lvl3pPr>
            <a:lvl4pPr marL="1748710" lvl="3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4pPr>
            <a:lvl5pPr marL="2185888" lvl="4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5pPr>
            <a:lvl6pPr marL="2623066" lvl="5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6pPr>
            <a:lvl7pPr marL="3060243" lvl="6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7pPr>
            <a:lvl8pPr marL="3497421" lvl="7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8pPr>
            <a:lvl9pPr marL="3934597" lvl="8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56494" y="1463992"/>
            <a:ext cx="10565799" cy="512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40"/>
              <a:buFont typeface="Calibri"/>
              <a:buNone/>
              <a:defRPr sz="979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927120" y="3161819"/>
            <a:ext cx="16584632" cy="1560565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56494" y="6587966"/>
            <a:ext cx="10565799" cy="12205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218588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4895"/>
            </a:lvl1pPr>
            <a:lvl2pPr marL="874355" lvl="1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283"/>
            </a:lvl2pPr>
            <a:lvl3pPr marL="1311533" lvl="2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672"/>
            </a:lvl3pPr>
            <a:lvl4pPr marL="1748710" lvl="3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4pPr>
            <a:lvl5pPr marL="2185888" lvl="4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5pPr>
            <a:lvl6pPr marL="2623066" lvl="5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6pPr>
            <a:lvl7pPr marL="3060243" lvl="6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7pPr>
            <a:lvl8pPr marL="3497421" lvl="7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8pPr>
            <a:lvl9pPr marL="3934597" lvl="8" indent="-218588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6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52227" y="1169162"/>
            <a:ext cx="28255078" cy="424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9413253" y="-1315103"/>
            <a:ext cx="13933266" cy="2825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327883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4355" lvl="1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11533" lvl="2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8710" lvl="3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185888" lvl="4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23066" lvl="5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60243" lvl="6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97421" lvl="7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34597" lvl="8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7670537" y="6942280"/>
            <a:ext cx="18610008" cy="706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3338129" y="83169"/>
            <a:ext cx="18610008" cy="2078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7178" lvl="0" indent="-327883" algn="l">
              <a:lnSpc>
                <a:spcPct val="90000"/>
              </a:lnSpc>
              <a:spcBef>
                <a:spcPts val="30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4355" lvl="1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11533" lvl="2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8710" lvl="3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185888" lvl="4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23066" lvl="5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60243" lvl="6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97421" lvl="7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34597" lvl="8" indent="-327883" algn="l">
              <a:lnSpc>
                <a:spcPct val="9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3897E92-6255-13DB-D0F6-C6AF096BA91A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3716267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501" imgH="500" progId="TCLayout.ActiveDocument.1">
                  <p:embed/>
                </p:oleObj>
              </mc:Choice>
              <mc:Fallback>
                <p:oleObj name="think-cell Slide" r:id="rId14" imgW="501" imgH="5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52227" y="1169162"/>
            <a:ext cx="28255078" cy="424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80"/>
              <a:buFont typeface="Calibri"/>
              <a:buNone/>
              <a:defRPr sz="140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52227" y="5845803"/>
            <a:ext cx="28255078" cy="1393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97560" algn="l" rtl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8960"/>
              <a:buFont typeface="Arial"/>
              <a:buChar char="•"/>
              <a:defRPr sz="8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1628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Font typeface="Arial"/>
              <a:buChar char="•"/>
              <a:defRPr sz="7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35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9435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52226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851632" y="20353565"/>
            <a:ext cx="11056323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136502" y="20353565"/>
            <a:ext cx="7370981" cy="11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6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0.png"/><Relationship Id="rId18" Type="http://schemas.openxmlformats.org/officeDocument/2006/relationships/image" Target="../media/image13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svg"/><Relationship Id="rId12" Type="http://schemas.openxmlformats.org/officeDocument/2006/relationships/image" Target="../media/image8.png"/><Relationship Id="rId1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1.png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emf"/><Relationship Id="rId1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EC9A578E-0E41-8992-CF58-0EF0E93C135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1287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0" progId="TCLayout.ActiveDocument.1">
                  <p:embed/>
                </p:oleObj>
              </mc:Choice>
              <mc:Fallback>
                <p:oleObj name="think-cell Slide" r:id="rId4" imgW="501" imgH="5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641852" y="491227"/>
            <a:ext cx="31475946" cy="1311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419" tIns="43697" rIns="87419" bIns="43697" anchor="b" anchorCtr="0">
            <a:noAutofit/>
          </a:bodyPr>
          <a:lstStyle/>
          <a:p>
            <a:pPr>
              <a:buClr>
                <a:schemeClr val="lt1"/>
              </a:buClr>
              <a:buSzPts val="6000"/>
            </a:pPr>
            <a:r>
              <a:rPr lang="en-US" sz="5000" dirty="0">
                <a:solidFill>
                  <a:srgbClr val="0070C0"/>
                </a:solidFill>
                <a:latin typeface="Impact"/>
                <a:ea typeface="Impact"/>
                <a:cs typeface="Impact"/>
                <a:sym typeface="Impact"/>
              </a:rPr>
              <a:t>Execution-Aware A* Search for Cross-Exchange Stablecoin Arbitrage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41852" y="1934837"/>
            <a:ext cx="31475946" cy="66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2304" tIns="101164" rIns="202304" bIns="101164" anchor="ctr" anchorCtr="0">
            <a:noAutofit/>
          </a:bodyPr>
          <a:lstStyle/>
          <a:p>
            <a:pPr algn="ctr">
              <a:buSzPts val="4000"/>
            </a:pPr>
            <a:r>
              <a:rPr lang="en-US" sz="3825" b="1" dirty="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Kevin Litvin  —  Simon Fraser University</a:t>
            </a:r>
            <a:endParaRPr sz="1339" dirty="0">
              <a:solidFill>
                <a:srgbClr val="0070C0"/>
              </a:solidFill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969727" y="3329541"/>
            <a:ext cx="9836233" cy="7545858"/>
            <a:chOff x="457200" y="2971800"/>
            <a:chExt cx="13716000" cy="7891661"/>
          </a:xfrm>
        </p:grpSpPr>
        <p:sp>
          <p:nvSpPr>
            <p:cNvPr id="88" name="Google Shape;88;p1"/>
            <p:cNvSpPr txBox="1"/>
            <p:nvPr/>
          </p:nvSpPr>
          <p:spPr>
            <a:xfrm>
              <a:off x="457200" y="3657600"/>
              <a:ext cx="13716000" cy="7205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19" tIns="43697" rIns="87419" bIns="43697" anchor="t" anchorCtr="0">
              <a:spAutoFit/>
            </a:bodyPr>
            <a:lstStyle/>
            <a:p>
              <a:pPr algn="just">
                <a:buNone/>
              </a:pPr>
              <a:r>
                <a:rPr lang="en-US" sz="2600" i="1" dirty="0">
                  <a:solidFill>
                    <a:schemeClr val="dk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Cross-exchange cryptocurrency arbitrage enables low-risk profit from price discrepancies across exchanges, yet existing approaches employ negative cycle detection that targets opportunity identification rather than execution feasibility. We introduce an execution-aware pathfinding framework using A* search with domain-specific guidance heuristics, applied to stablecoins, a unique asset class exceeding $300 billion in market capitalization that bridges cryptocurrency and fiat currency, offering a novel dataset for arbitrage research. The problem is modelled as a weighted directed graph where nodes represent (exchange, stablecoin) pairs across 12 centralized exchanges and edges encode real-world costs including fees, slippage, gas, transfer delays, and exchange reliability. Three guidance heuristics and a parallelized multi-start baseline are evaluated over 7,200 search instances. Our slippage-aware heuristic h</a:t>
              </a:r>
              <a:r>
                <a:rPr lang="en-US" sz="2600" i="1" baseline="-25000" dirty="0">
                  <a:solidFill>
                    <a:schemeClr val="dk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2</a:t>
              </a:r>
              <a:r>
                <a:rPr lang="en-US" sz="2600" i="1" dirty="0">
                  <a:solidFill>
                    <a:schemeClr val="dk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reduces node expansions by 29% relative to Dijkstra while matching its profit, demonstrating that domain-specific heuristics can meaningfully improve execution feasibility in real-time arbitrage planning. </a:t>
              </a:r>
              <a:endParaRPr sz="2600" i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457200" y="2971800"/>
              <a:ext cx="13716000" cy="718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19" tIns="43697" rIns="87419" bIns="43697" anchor="t" anchorCtr="0">
              <a:spAutoFit/>
            </a:bodyPr>
            <a:lstStyle/>
            <a:p>
              <a:pPr algn="ctr">
                <a:buSzPts val="4000"/>
              </a:pPr>
              <a:r>
                <a:rPr lang="en-US" sz="3825" b="1" dirty="0">
                  <a:solidFill>
                    <a:srgbClr val="CD3E3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Abstract: the $300B market traversal </a:t>
              </a:r>
              <a:endParaRPr sz="1339" dirty="0"/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11253650" y="4122166"/>
            <a:ext cx="9836233" cy="177792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87419" tIns="43697" rIns="87419" bIns="43697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CA" sz="2400" dirty="0">
              <a:solidFill>
                <a:schemeClr val="dk1"/>
              </a:solidFill>
              <a:latin typeface="Arial"/>
            </a:endParaRPr>
          </a:p>
          <a:p>
            <a:pPr>
              <a:buNone/>
            </a:pPr>
            <a:endParaRPr lang="en-CA" sz="800" dirty="0"/>
          </a:p>
          <a:p>
            <a:pPr>
              <a:buNone/>
            </a:pPr>
            <a:endParaRPr lang="en-CA" sz="800" dirty="0"/>
          </a:p>
          <a:p>
            <a:pPr>
              <a:buNone/>
            </a:pPr>
            <a:endParaRPr sz="800" dirty="0"/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lang="en-CA"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>
              <a:buSzPts val="3200"/>
            </a:pPr>
            <a:endParaRPr sz="306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902852" y="11084490"/>
            <a:ext cx="9836233" cy="10054237"/>
            <a:chOff x="457200" y="2971800"/>
            <a:chExt cx="13716000" cy="10514995"/>
          </a:xfrm>
        </p:grpSpPr>
        <p:sp>
          <p:nvSpPr>
            <p:cNvPr id="94" name="Google Shape;94;p1"/>
            <p:cNvSpPr txBox="1"/>
            <p:nvPr/>
          </p:nvSpPr>
          <p:spPr>
            <a:xfrm>
              <a:off x="457201" y="3657600"/>
              <a:ext cx="13713826" cy="9829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19" tIns="43697" rIns="87419" bIns="43697" anchor="t" anchorCtr="0">
              <a:spAutoFit/>
            </a:bodyPr>
            <a:lstStyle/>
            <a:p>
              <a:pPr>
                <a:buNone/>
              </a:pPr>
              <a:endParaRPr sz="7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chemeClr val="dk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dk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Each edge represents a spot trade and carries a taker fee, order-book slippage penalty, and venue reliability discount.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dk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Each cross-exchange edge represents a stablecoin withdrawal and carries a gas fee plus an estimated blockchain-confirmation latency.</a:t>
              </a: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457200" y="2971800"/>
              <a:ext cx="13716000" cy="718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19" tIns="43697" rIns="87419" bIns="43697" anchor="t" anchorCtr="0">
              <a:spAutoFit/>
            </a:bodyPr>
            <a:lstStyle/>
            <a:p>
              <a:pPr algn="ctr">
                <a:buSzPts val="4000"/>
              </a:pPr>
              <a:r>
                <a:rPr lang="en-US" sz="3825" b="1" dirty="0">
                  <a:solidFill>
                    <a:srgbClr val="CD3E3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Arbitrage Network</a:t>
              </a:r>
              <a:endParaRPr sz="1339" dirty="0"/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22106089" y="13090058"/>
            <a:ext cx="9836233" cy="2744546"/>
            <a:chOff x="457200" y="2971800"/>
            <a:chExt cx="13716000" cy="2870318"/>
          </a:xfrm>
        </p:grpSpPr>
        <p:sp>
          <p:nvSpPr>
            <p:cNvPr id="97" name="Google Shape;97;p1"/>
            <p:cNvSpPr txBox="1"/>
            <p:nvPr/>
          </p:nvSpPr>
          <p:spPr>
            <a:xfrm>
              <a:off x="457200" y="3657601"/>
              <a:ext cx="13716000" cy="21845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19" tIns="43697" rIns="87419" bIns="43697" anchor="t" anchorCtr="0">
              <a:spAutoFit/>
            </a:bodyPr>
            <a:lstStyle/>
            <a:p>
              <a:pPr>
                <a:buSzPts val="1200"/>
              </a:pPr>
              <a:r>
                <a:rPr lang="en-CA" sz="2600" dirty="0">
                  <a:latin typeface="Times" panose="02020603050405020304" pitchFamily="18" charset="0"/>
                  <a:ea typeface="Helvetica Neue" panose="02000503000000020004" pitchFamily="2" charset="0"/>
                  <a:cs typeface="Times" panose="02020603050405020304" pitchFamily="18" charset="0"/>
                  <a:sym typeface="Noto Sans"/>
                </a:rPr>
                <a:t>We ran an overnight campaign (7,200 trials over 8 hours) : </a:t>
              </a:r>
            </a:p>
            <a:p>
              <a:pPr marL="171450" indent="-171450">
                <a:buSzPts val="1200"/>
                <a:buFont typeface="Arial" panose="020B0604020202020204" pitchFamily="34" charset="0"/>
                <a:buChar char="•"/>
              </a:pPr>
              <a:r>
                <a:rPr lang="en-CA" sz="2600" dirty="0">
                  <a:latin typeface="Times" panose="02020603050405020304" pitchFamily="18" charset="0"/>
                  <a:ea typeface="Helvetica Neue" panose="02000503000000020004" pitchFamily="2" charset="0"/>
                  <a:cs typeface="Times" panose="02020603050405020304" pitchFamily="18" charset="0"/>
                  <a:sym typeface="Noto Sans"/>
                </a:rPr>
                <a:t>Average profit for </a:t>
              </a:r>
              <a:r>
                <a:rPr lang="en-CA" sz="2600" dirty="0">
                  <a:latin typeface="Times" panose="02020603050405020304" pitchFamily="18" charset="0"/>
                  <a:cs typeface="Times" panose="02020603050405020304" pitchFamily="18" charset="0"/>
                </a:rPr>
                <a:t>h₂</a:t>
              </a:r>
              <a:r>
                <a:rPr lang="en-CA" sz="2600" dirty="0">
                  <a:latin typeface="Times" panose="02020603050405020304" pitchFamily="18" charset="0"/>
                  <a:ea typeface="Helvetica Neue" panose="02000503000000020004" pitchFamily="2" charset="0"/>
                  <a:cs typeface="Times" panose="02020603050405020304" pitchFamily="18" charset="0"/>
                  <a:sym typeface="Noto Sans"/>
                </a:rPr>
                <a:t> consistently matched the average profit from Dijkstra, while </a:t>
              </a:r>
              <a:r>
                <a:rPr lang="en-CA" sz="2600" dirty="0">
                  <a:latin typeface="Times" panose="02020603050405020304" pitchFamily="18" charset="0"/>
                  <a:cs typeface="Times" panose="02020603050405020304" pitchFamily="18" charset="0"/>
                </a:rPr>
                <a:t>h</a:t>
              </a:r>
              <a:r>
                <a:rPr lang="en-CA" sz="2600" baseline="-25000" dirty="0">
                  <a:latin typeface="Times" panose="02020603050405020304" pitchFamily="18" charset="0"/>
                  <a:cs typeface="Times" panose="02020603050405020304" pitchFamily="18" charset="0"/>
                </a:rPr>
                <a:t>1</a:t>
              </a:r>
              <a:r>
                <a:rPr lang="en-CA" sz="2600" dirty="0">
                  <a:latin typeface="Times" panose="02020603050405020304" pitchFamily="18" charset="0"/>
                  <a:cs typeface="Times" panose="02020603050405020304" pitchFamily="18" charset="0"/>
                </a:rPr>
                <a:t>, h</a:t>
              </a:r>
              <a:r>
                <a:rPr lang="en-CA" sz="2600" baseline="-25000" dirty="0">
                  <a:latin typeface="Times" panose="02020603050405020304" pitchFamily="18" charset="0"/>
                  <a:cs typeface="Times" panose="02020603050405020304" pitchFamily="18" charset="0"/>
                </a:rPr>
                <a:t>3</a:t>
              </a:r>
              <a:r>
                <a:rPr lang="en-CA" sz="2600" dirty="0">
                  <a:latin typeface="Times" panose="02020603050405020304" pitchFamily="18" charset="0"/>
                  <a:cs typeface="Times" panose="02020603050405020304" pitchFamily="18" charset="0"/>
                </a:rPr>
                <a:t>, and the 3-hop baseline performed worse</a:t>
              </a:r>
              <a:r>
                <a:rPr lang="en-CA" sz="2600" dirty="0">
                  <a:latin typeface="Times" panose="02020603050405020304" pitchFamily="18" charset="0"/>
                  <a:ea typeface="Helvetica Neue" panose="02000503000000020004" pitchFamily="2" charset="0"/>
                  <a:cs typeface="Times" panose="02020603050405020304" pitchFamily="18" charset="0"/>
                  <a:sym typeface="Noto Sans"/>
                </a:rPr>
                <a:t> </a:t>
              </a:r>
            </a:p>
            <a:p>
              <a:pPr marL="171450" indent="-171450">
                <a:buSzPts val="1200"/>
                <a:buFont typeface="Arial" panose="020B0604020202020204" pitchFamily="34" charset="0"/>
                <a:buChar char="•"/>
              </a:pPr>
              <a:r>
                <a:rPr lang="en-CA" sz="2600" dirty="0">
                  <a:latin typeface="Times" panose="02020603050405020304" pitchFamily="18" charset="0"/>
                  <a:cs typeface="Times" panose="02020603050405020304" pitchFamily="18" charset="0"/>
                </a:rPr>
                <a:t>Time-delay analysis showed that 99.6% of profitable paths remained profitable at a 120-second delay </a:t>
              </a:r>
              <a:endParaRPr lang="en-CA" sz="2600" dirty="0">
                <a:latin typeface="Times" panose="02020603050405020304" pitchFamily="18" charset="0"/>
                <a:ea typeface="Helvetica Neue" panose="02000503000000020004" pitchFamily="2" charset="0"/>
                <a:cs typeface="Times" panose="02020603050405020304" pitchFamily="18" charset="0"/>
                <a:sym typeface="Noto Sans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457200" y="2971800"/>
              <a:ext cx="13716000" cy="718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19" tIns="43697" rIns="87419" bIns="43697" anchor="t" anchorCtr="0">
              <a:spAutoFit/>
            </a:bodyPr>
            <a:lstStyle/>
            <a:p>
              <a:pPr algn="ctr">
                <a:buSzPts val="4000"/>
              </a:pPr>
              <a:r>
                <a:rPr lang="en-US" sz="3825" b="1" dirty="0">
                  <a:solidFill>
                    <a:srgbClr val="CD3E3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Overnight Campaign</a:t>
              </a:r>
              <a:endParaRPr sz="1339" dirty="0"/>
            </a:p>
          </p:txBody>
        </p:sp>
      </p:grpSp>
      <p:sp>
        <p:nvSpPr>
          <p:cNvPr id="103" name="Google Shape;103;p1"/>
          <p:cNvSpPr txBox="1"/>
          <p:nvPr/>
        </p:nvSpPr>
        <p:spPr>
          <a:xfrm>
            <a:off x="21953690" y="20457084"/>
            <a:ext cx="10164108" cy="101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419" tIns="43697" rIns="87419" bIns="43697" anchor="t" anchorCtr="0">
            <a:spAutoFit/>
          </a:bodyPr>
          <a:lstStyle/>
          <a:p>
            <a:pPr algn="ctr">
              <a:buSzPts val="4400"/>
            </a:pPr>
            <a:r>
              <a:rPr lang="en-US" sz="2400" dirty="0">
                <a:solidFill>
                  <a:srgbClr val="CD3E3D"/>
                </a:solidFill>
                <a:latin typeface="Times"/>
                <a:ea typeface="Times"/>
                <a:cs typeface="Times"/>
                <a:sym typeface="Times"/>
              </a:rPr>
              <a:t>github.com/kevinl03/Stablecoin-</a:t>
            </a:r>
            <a:r>
              <a:rPr lang="en-US" sz="2400" dirty="0" err="1">
                <a:solidFill>
                  <a:srgbClr val="CD3E3D"/>
                </a:solidFill>
                <a:latin typeface="Times"/>
                <a:ea typeface="Times"/>
                <a:cs typeface="Times"/>
                <a:sym typeface="Times"/>
              </a:rPr>
              <a:t>CrossExchange</a:t>
            </a:r>
            <a:r>
              <a:rPr lang="en-US" sz="2400" dirty="0">
                <a:solidFill>
                  <a:srgbClr val="CD3E3D"/>
                </a:solidFill>
                <a:latin typeface="Times"/>
                <a:ea typeface="Times"/>
                <a:cs typeface="Times"/>
                <a:sym typeface="Times"/>
              </a:rPr>
              <a:t>-Arbitrage</a:t>
            </a:r>
            <a:br>
              <a:rPr lang="en-US" sz="3600" dirty="0">
                <a:solidFill>
                  <a:srgbClr val="CD3E3D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3600" dirty="0">
                <a:solidFill>
                  <a:srgbClr val="CD3E3D"/>
                </a:solidFill>
                <a:latin typeface="Times"/>
                <a:ea typeface="Times"/>
                <a:cs typeface="Times"/>
                <a:sym typeface="Times"/>
              </a:rPr>
              <a:t>Canadian AI 2026  |  GSS Paper</a:t>
            </a:r>
            <a:endParaRPr lang="en-US" sz="1100" dirty="0">
              <a:solidFill>
                <a:srgbClr val="CD3E3D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8C4B149-42D8-E246-974C-EA8699E2F3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28" y="803740"/>
            <a:ext cx="4525942" cy="15490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F580A6-D882-9217-DC83-6E2840DFFF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48974" y="768868"/>
            <a:ext cx="5871684" cy="10322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9F855B5-639F-2DF3-471C-999AAF89DCF9}"/>
              </a:ext>
            </a:extLst>
          </p:cNvPr>
          <p:cNvGrpSpPr/>
          <p:nvPr/>
        </p:nvGrpSpPr>
        <p:grpSpPr>
          <a:xfrm>
            <a:off x="2020377" y="11980272"/>
            <a:ext cx="7480300" cy="7286126"/>
            <a:chOff x="1200337" y="12427084"/>
            <a:chExt cx="7934900" cy="7554021"/>
          </a:xfrm>
        </p:grpSpPr>
        <p:pic>
          <p:nvPicPr>
            <p:cNvPr id="300" name="FullGraph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200337" y="12427084"/>
              <a:ext cx="7934900" cy="6353335"/>
            </a:xfrm>
            <a:prstGeom prst="rect">
              <a:avLst/>
            </a:prstGeom>
          </p:spPr>
        </p:pic>
        <p:sp>
          <p:nvSpPr>
            <p:cNvPr id="301" name="Cap301"/>
            <p:cNvSpPr txBox="1"/>
            <p:nvPr/>
          </p:nvSpPr>
          <p:spPr>
            <a:xfrm>
              <a:off x="1200337" y="19202217"/>
              <a:ext cx="7934900" cy="778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8869" tIns="39435" rIns="78869" bIns="39435" anchor="ctr"/>
            <a:lstStyle/>
            <a:p>
              <a:pPr algn="ctr" defTabSz="788698">
                <a:buNone/>
              </a:pPr>
              <a:r>
                <a:rPr lang="en-US" sz="2475" i="1" dirty="0">
                  <a:solidFill>
                    <a:srgbClr val="555555"/>
                  </a:solidFill>
                  <a:latin typeface="Arial"/>
                </a:rPr>
                <a:t>Stablecoin arbitrage graph: 9 exchanges shown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A0FD853-76EC-53FE-1464-6F92424A2574}"/>
              </a:ext>
            </a:extLst>
          </p:cNvPr>
          <p:cNvGrpSpPr/>
          <p:nvPr/>
        </p:nvGrpSpPr>
        <p:grpSpPr>
          <a:xfrm>
            <a:off x="11571764" y="15488481"/>
            <a:ext cx="9200000" cy="5836325"/>
            <a:chOff x="11350000" y="14420000"/>
            <a:chExt cx="9200000" cy="5836325"/>
          </a:xfrm>
        </p:grpSpPr>
        <p:pic>
          <p:nvPicPr>
            <p:cNvPr id="308" name="CameraReadySuccesfulPathProfit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1350000" y="14420000"/>
              <a:ext cx="9200000" cy="5431325"/>
            </a:xfrm>
            <a:prstGeom prst="rect">
              <a:avLst/>
            </a:prstGeom>
          </p:spPr>
        </p:pic>
        <p:sp>
          <p:nvSpPr>
            <p:cNvPr id="309" name="Cap309"/>
            <p:cNvSpPr txBox="1"/>
            <p:nvPr/>
          </p:nvSpPr>
          <p:spPr>
            <a:xfrm>
              <a:off x="11350000" y="19886325"/>
              <a:ext cx="9200000" cy="37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/>
            <a:lstStyle/>
            <a:p>
              <a:pPr algn="ctr">
                <a:buNone/>
              </a:pPr>
              <a:r>
                <a:rPr lang="en-US" sz="1700" i="1" dirty="0">
                  <a:solidFill>
                    <a:srgbClr val="555555"/>
                  </a:solidFill>
                  <a:latin typeface="Arial"/>
                </a:rPr>
                <a:t>An example of a profitable path: Kraken -&gt; KuCoin (USDT -&gt; TUSD)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ACEE8-7522-9487-2DDC-D51FF456EC90}"/>
              </a:ext>
            </a:extLst>
          </p:cNvPr>
          <p:cNvGrpSpPr/>
          <p:nvPr/>
        </p:nvGrpSpPr>
        <p:grpSpPr>
          <a:xfrm>
            <a:off x="21953689" y="8119307"/>
            <a:ext cx="5389806" cy="4772555"/>
            <a:chOff x="23608160" y="5818804"/>
            <a:chExt cx="6241045" cy="4958560"/>
          </a:xfrm>
        </p:grpSpPr>
        <p:pic>
          <p:nvPicPr>
            <p:cNvPr id="310" name="fig01_node_expansion_bar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23608160" y="5818804"/>
              <a:ext cx="6241045" cy="4206162"/>
            </a:xfrm>
            <a:prstGeom prst="rect">
              <a:avLst/>
            </a:prstGeom>
          </p:spPr>
        </p:pic>
        <p:sp>
          <p:nvSpPr>
            <p:cNvPr id="311" name="Cap311"/>
            <p:cNvSpPr txBox="1"/>
            <p:nvPr/>
          </p:nvSpPr>
          <p:spPr>
            <a:xfrm>
              <a:off x="24637755" y="9877977"/>
              <a:ext cx="4324489" cy="8993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/>
            <a:lstStyle/>
            <a:p>
              <a:pPr algn="ctr">
                <a:buNone/>
              </a:pPr>
              <a:r>
                <a:rPr lang="en-US" sz="1700" i="1" dirty="0">
                  <a:solidFill>
                    <a:srgbClr val="555555"/>
                  </a:solidFill>
                  <a:latin typeface="Arial"/>
                </a:rPr>
                <a:t>Node expansions per heuristic (cached graph, $10 k order)</a:t>
              </a:r>
            </a:p>
          </p:txBody>
        </p:sp>
      </p:grpSp>
      <p:pic>
        <p:nvPicPr>
          <p:cNvPr id="312" name="qr_github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31037798" y="20388661"/>
            <a:ext cx="1080000" cy="1080000"/>
          </a:xfrm>
          <a:prstGeom prst="rect">
            <a:avLst/>
          </a:prstGeom>
        </p:spPr>
      </p:pic>
      <p:grpSp>
        <p:nvGrpSpPr>
          <p:cNvPr id="16" name="Google Shape;87;p1">
            <a:extLst>
              <a:ext uri="{FF2B5EF4-FFF2-40B4-BE49-F238E27FC236}">
                <a16:creationId xmlns:a16="http://schemas.microsoft.com/office/drawing/2014/main" id="{CFA794A0-E5FF-FFC9-1941-6D87B4DC3E44}"/>
              </a:ext>
            </a:extLst>
          </p:cNvPr>
          <p:cNvGrpSpPr/>
          <p:nvPr/>
        </p:nvGrpSpPr>
        <p:grpSpPr>
          <a:xfrm>
            <a:off x="11253648" y="3358913"/>
            <a:ext cx="9836233" cy="5039597"/>
            <a:chOff x="457200" y="2971800"/>
            <a:chExt cx="13716000" cy="52705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Google Shape;88;p1">
                  <a:extLst>
                    <a:ext uri="{FF2B5EF4-FFF2-40B4-BE49-F238E27FC236}">
                      <a16:creationId xmlns:a16="http://schemas.microsoft.com/office/drawing/2014/main" id="{B9ED6495-369B-37E1-9EF0-9AC130C615B9}"/>
                    </a:ext>
                  </a:extLst>
                </p:cNvPr>
                <p:cNvSpPr txBox="1"/>
                <p:nvPr/>
              </p:nvSpPr>
              <p:spPr>
                <a:xfrm>
                  <a:off x="457200" y="3657600"/>
                  <a:ext cx="13716000" cy="45847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7419" tIns="43697" rIns="87419" bIns="43697" anchor="t" anchorCtr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600" dirty="0">
                    <a:solidFill>
                      <a:schemeClr val="dk1"/>
                    </a:solidFill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  <a:p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Given a path </a:t>
                  </a:r>
                  <a14:m>
                    <m:oMath xmlns:m="http://schemas.openxmlformats.org/officeDocument/2006/math"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𝑃</m:t>
                      </m:r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, </m:t>
                      </m:r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" panose="02020603050405020304" pitchFamily="18" charset="0"/>
                        </a:rPr>
                        <m:t>⋯, 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, with initial capital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, final capital is: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" panose="02020603050405020304" pitchFamily="18" charset="0"/>
                        </a:rPr>
                        <m:t>∙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𝑒</m:t>
                          </m:r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𝜖</m:t>
                          </m:r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CA" sz="26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6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𝑒</m:t>
                              </m:r>
                            </m:e>
                          </m:d>
                        </m:e>
                      </m:nary>
                    </m:oMath>
                  </a14:m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, where </a:t>
                  </a:r>
                  <a14:m>
                    <m:oMath xmlns:m="http://schemas.openxmlformats.org/officeDocument/2006/math"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𝑟</m:t>
                      </m:r>
                      <m:d>
                        <m:dPr>
                          <m:ctrl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𝑒</m:t>
                          </m:r>
                        </m:e>
                      </m:d>
                    </m:oMath>
                  </a14:m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 denotes the effective rate on edge </a:t>
                  </a:r>
                  <a14:m>
                    <m:oMath xmlns:m="http://schemas.openxmlformats.org/officeDocument/2006/math"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𝑒</m:t>
                      </m:r>
                    </m:oMath>
                  </a14:m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. </a:t>
                  </a:r>
                </a:p>
                <a:p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In log space this becomes: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6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𝑒</m:t>
                          </m:r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𝜖</m:t>
                          </m:r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CA" sz="26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CA" sz="26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CA" sz="26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6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en-CA" sz="26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26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Times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≤−</m:t>
                          </m:r>
                          <m:r>
                            <m:rPr>
                              <m:sty m:val="p"/>
                            </m:rPr>
                            <a:rPr lang="en-CA" sz="2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log</m:t>
                          </m:r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⁡(1+</m:t>
                          </m:r>
                          <m:f>
                            <m:fPr>
                              <m:ctrlPr>
                                <a:rPr lang="en-US" sz="26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CA" sz="26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6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  <m:t>𝑚𝑖𝑛</m:t>
                                  </m:r>
                                </m:e>
                                <m:sub>
                                  <m:r>
                                    <a:rPr lang="en-CA" sz="26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  <m:t>𝑝𝑟𝑜𝑓𝑖𝑡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6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6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CA" sz="26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. </m:t>
                      </m:r>
                    </m:oMath>
                  </a14:m>
                  <a:endParaRPr lang="en-US" sz="2600" dirty="0">
                    <a:solidFill>
                      <a:schemeClr val="dk1"/>
                    </a:solidFill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  <a:p>
                  <a:pPr marL="457200" indent="-457200">
                    <a:buFont typeface="Arial" panose="020B0604020202020204" pitchFamily="34" charset="0"/>
                    <a:buChar char="•"/>
                  </a:pPr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Open-path formulation allows us to execute any pair where final USD value exceeds initial capital. </a:t>
                  </a:r>
                </a:p>
                <a:p>
                  <a:pPr marL="457200" indent="-457200">
                    <a:buFont typeface="Arial" panose="020B0604020202020204" pitchFamily="34" charset="0"/>
                    <a:buChar char="•"/>
                  </a:pPr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We apply A* search with evaluation function </a:t>
                  </a:r>
                  <a14:m>
                    <m:oMath xmlns:m="http://schemas.openxmlformats.org/officeDocument/2006/math"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+</m:t>
                      </m:r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endParaRPr lang="en-CA" sz="2600" b="0" dirty="0">
                    <a:solidFill>
                      <a:schemeClr val="dk1"/>
                    </a:solidFill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  <a:p>
                  <a:pPr marL="457200" indent="-45720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en-CA" sz="2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𝑒</m:t>
                          </m:r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𝜖</m:t>
                          </m:r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𝑝𝑎𝑡</m:t>
                          </m:r>
                          <m:r>
                            <m:rPr>
                              <m:brk m:alnAt="7"/>
                            </m:rP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h</m:t>
                          </m:r>
                        </m:sub>
                        <m:sup/>
                        <m:e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CA" sz="2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log</m:t>
                          </m:r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⁡(</m:t>
                          </m:r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CA" sz="26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6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CA" sz="2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a14:m>
                  <a:endParaRPr lang="en-CA" sz="2600" b="0" dirty="0">
                    <a:solidFill>
                      <a:schemeClr val="dk1"/>
                    </a:solidFill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  <a:p>
                  <a:pPr marL="457200" lvl="3" indent="-457200">
                    <a:buFont typeface="Arial" panose="020B0604020202020204" pitchFamily="34" charset="0"/>
                    <a:buChar char="•"/>
                  </a:pPr>
                  <a:r>
                    <a:rPr lang="en-US" sz="2600" i="1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h(n) </a:t>
                  </a:r>
                  <a:r>
                    <a:rPr lang="en-US" sz="2600" dirty="0">
                      <a:solidFill>
                        <a:schemeClr val="dk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estimates execution risk based on the domain-specific constraints</a:t>
                  </a:r>
                  <a:endParaRPr lang="en-US" sz="2600" i="1" dirty="0">
                    <a:solidFill>
                      <a:schemeClr val="dk1"/>
                    </a:solidFill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Google Shape;88;p1">
                  <a:extLst>
                    <a:ext uri="{FF2B5EF4-FFF2-40B4-BE49-F238E27FC236}">
                      <a16:creationId xmlns:a16="http://schemas.microsoft.com/office/drawing/2014/main" id="{B9ED6495-369B-37E1-9EF0-9AC130C615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3657600"/>
                  <a:ext cx="13716000" cy="4584745"/>
                </a:xfrm>
                <a:prstGeom prst="rect">
                  <a:avLst/>
                </a:prstGeom>
                <a:blipFill>
                  <a:blip r:embed="rId13"/>
                  <a:stretch>
                    <a:fillRect l="-1177" b="-278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Google Shape;89;p1">
              <a:extLst>
                <a:ext uri="{FF2B5EF4-FFF2-40B4-BE49-F238E27FC236}">
                  <a16:creationId xmlns:a16="http://schemas.microsoft.com/office/drawing/2014/main" id="{56A1C99B-C6A1-CCF7-D04C-EB6A3663DE07}"/>
                </a:ext>
              </a:extLst>
            </p:cNvPr>
            <p:cNvSpPr txBox="1"/>
            <p:nvPr/>
          </p:nvSpPr>
          <p:spPr>
            <a:xfrm>
              <a:off x="457200" y="2971800"/>
              <a:ext cx="13716000" cy="718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19" tIns="43697" rIns="87419" bIns="43697" anchor="t" anchorCtr="0">
              <a:spAutoFit/>
            </a:bodyPr>
            <a:lstStyle/>
            <a:p>
              <a:pPr algn="ctr">
                <a:buSzPts val="4000"/>
              </a:pPr>
              <a:r>
                <a:rPr lang="en-US" sz="3825" b="1" dirty="0">
                  <a:solidFill>
                    <a:srgbClr val="CD3E3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Method: Execution-Aware A* Search</a:t>
              </a:r>
              <a:endParaRPr lang="en-US" sz="1339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4030673C-226B-2004-C19C-82C398EF12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9104877"/>
                  </p:ext>
                </p:extLst>
              </p:nvPr>
            </p:nvGraphicFramePr>
            <p:xfrm>
              <a:off x="11503512" y="8491394"/>
              <a:ext cx="9336506" cy="7078599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659151">
                      <a:extLst>
                        <a:ext uri="{9D8B030D-6E8A-4147-A177-3AD203B41FA5}">
                          <a16:colId xmlns:a16="http://schemas.microsoft.com/office/drawing/2014/main" val="3589300610"/>
                        </a:ext>
                      </a:extLst>
                    </a:gridCol>
                    <a:gridCol w="5677355">
                      <a:extLst>
                        <a:ext uri="{9D8B030D-6E8A-4147-A177-3AD203B41FA5}">
                          <a16:colId xmlns:a16="http://schemas.microsoft.com/office/drawing/2014/main" val="4111290168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CA" sz="2600" dirty="0">
                              <a:solidFill>
                                <a:srgbClr val="A7192E"/>
                              </a:solidFill>
                              <a:latin typeface="Trebuchet MS" panose="020B0603020202020204" pitchFamily="34" charset="0"/>
                              <a:cs typeface="Times" panose="02020603050405020304" pitchFamily="18" charset="0"/>
                            </a:rPr>
                            <a:t>Execution-aware heuristics tested:</a:t>
                          </a: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45532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sz="2300" b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Liquidity</a:t>
                          </a:r>
                        </a:p>
                        <a:p>
                          <a:r>
                            <a:rPr lang="en-CA" sz="23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Penalizes low-volume markets that cannot support the required trade size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280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ource Sans Pro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𝑙𝑖𝑞</m:t>
                                    </m:r>
                                  </m:sub>
                                </m:sSub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(1−</m:t>
                                </m:r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𝑐𝑙𝑎𝑚𝑝</m:t>
                                </m:r>
                                <m:f>
                                  <m:f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𝑙𝑜𝑔</m:t>
                                        </m:r>
                                      </m:e>
                                      <m:sub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𝑟</m:t>
                                    </m:r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800" dirty="0"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  <a:sym typeface="Source Sans Pro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CA" sz="2800" dirty="0"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  <a:sym typeface="Source Sans Pro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  <a:sym typeface="Source Sans Pro"/>
                                  </a:rPr>
                                  <m:t>𝑟</m:t>
                                </m:r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  <a:sym typeface="Source Sans Pro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24</m:t>
                                        </m:r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/86,400)∙</m:t>
                                    </m:r>
                                    <m:sSub>
                                      <m:sSubPr>
                                        <m:ctrlP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  <m:t>𝑟𝑒𝑚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𝑄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sz="28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6102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sz="2300" b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Slippage</a:t>
                          </a:r>
                        </a:p>
                        <a:p>
                          <a:r>
                            <a:rPr lang="en-CA" sz="23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Penalizes paths where executing a trade deviates the price from the midpoint using volume-weighted average </a:t>
                          </a:r>
                        </a:p>
                      </a:txBody>
                      <a:tcPr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280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ource Sans Pro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𝑠𝑙𝑖𝑝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sz="2800" b="0" i="0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0, </m:t>
                                        </m:r>
                                        <m:sSub>
                                          <m:sSubPr>
                                            <m:ctrlPr>
                                              <a:rPr lang="en-CA" sz="2800" b="0" i="1" smtClean="0">
                                                <a:latin typeface="Cambria Math" panose="02040503050406030204" pitchFamily="18" charset="0"/>
                                                <a:sym typeface="Source Sans Pro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sz="2800" b="0" i="1" smtClean="0">
                                                <a:latin typeface="Cambria Math" panose="02040503050406030204" pitchFamily="18" charset="0"/>
                                                <a:sym typeface="Source Sans Pro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CA" sz="2800" b="0" i="1" smtClean="0">
                                                <a:latin typeface="Cambria Math" panose="02040503050406030204" pitchFamily="18" charset="0"/>
                                                <a:sym typeface="Source Sans Pro"/>
                                              </a:rPr>
                                              <m:t>𝑏𝑝𝑠</m:t>
                                            </m:r>
                                          </m:sub>
                                        </m:sSub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−</m:t>
                                        </m:r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CA" sz="2800" b="0" dirty="0">
                            <a:latin typeface="Helvetica Neue" panose="02000503000000020004" pitchFamily="2" charset="0"/>
                            <a:ea typeface="Cambria Math" panose="02040503050406030204" pitchFamily="18" charset="0"/>
                            <a:sym typeface="Source Sans Pro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CA" sz="2800" dirty="0"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  <a:sym typeface="Source Sans Pro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280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𝑏𝑝𝑠</m:t>
                                    </m:r>
                                  </m:sub>
                                </m:sSub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𝑉𝑊𝐴𝑃</m:t>
                                    </m:r>
                                    <m:d>
                                      <m:dPr>
                                        <m:ctrlP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𝑄</m:t>
                                        </m:r>
                                      </m:e>
                                    </m:d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𝑚𝑖𝑑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CA" sz="2800" b="0" i="1" smtClean="0">
                                            <a:latin typeface="Cambria Math" panose="02040503050406030204" pitchFamily="18" charset="0"/>
                                            <a:sym typeface="Source Sans Pro"/>
                                          </a:rPr>
                                          <m:t>𝑚𝑖𝑑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ource Sans Pro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ource Sans Pro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ource Sans Pro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28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tx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2749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sz="2300" b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Chain congestion</a:t>
                          </a:r>
                        </a:p>
                        <a:p>
                          <a:r>
                            <a:rPr lang="en-CA" sz="23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Penalizes transfer latency and operational risk using the precomputed chain transfer times and reliability scores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CA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ource Sans Pro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𝑐h𝑎𝑖𝑛</m:t>
                                    </m:r>
                                  </m:sub>
                                </m:sSub>
                                <m:r>
                                  <a:rPr lang="en-CA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ource Sans Pro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CA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CA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CA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CA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Source Sans Pro"/>
                                          </a:rPr>
                                          <m:t>𝑟𝑒𝑚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CA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ource Sans Pro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CA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ource Sans Pro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𝑒𝑥𝑐h</m:t>
                                    </m:r>
                                  </m:sub>
                                </m:sSub>
                                <m:r>
                                  <a:rPr lang="en-CA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(1−</m:t>
                                </m:r>
                                <m:r>
                                  <a:rPr lang="en-CA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ource Sans Pro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CA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ource Sans Pro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  <a:sym typeface="Source Sans Pro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22787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4030673C-226B-2004-C19C-82C398EF12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9104877"/>
                  </p:ext>
                </p:extLst>
              </p:nvPr>
            </p:nvGraphicFramePr>
            <p:xfrm>
              <a:off x="11503512" y="8491394"/>
              <a:ext cx="9336506" cy="6728079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659151">
                      <a:extLst>
                        <a:ext uri="{9D8B030D-6E8A-4147-A177-3AD203B41FA5}">
                          <a16:colId xmlns:a16="http://schemas.microsoft.com/office/drawing/2014/main" val="3589300610"/>
                        </a:ext>
                      </a:extLst>
                    </a:gridCol>
                    <a:gridCol w="5677355">
                      <a:extLst>
                        <a:ext uri="{9D8B030D-6E8A-4147-A177-3AD203B41FA5}">
                          <a16:colId xmlns:a16="http://schemas.microsoft.com/office/drawing/2014/main" val="4111290168"/>
                        </a:ext>
                      </a:extLst>
                    </a:gridCol>
                  </a:tblGrid>
                  <a:tr h="48768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CA" sz="2600" dirty="0">
                              <a:solidFill>
                                <a:srgbClr val="A7192E"/>
                              </a:solidFill>
                              <a:latin typeface="Trebuchet MS" panose="020B0603020202020204" pitchFamily="34" charset="0"/>
                              <a:cs typeface="Times" panose="02020603050405020304" pitchFamily="18" charset="0"/>
                            </a:rPr>
                            <a:t>Execution-aware heuristics tested:</a:t>
                          </a: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4553268"/>
                      </a:ext>
                    </a:extLst>
                  </a:tr>
                  <a:tr h="2201799">
                    <a:tc>
                      <a:txBody>
                        <a:bodyPr/>
                        <a:lstStyle/>
                        <a:p>
                          <a:r>
                            <a:rPr lang="en-CA" sz="2300" b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Liquidity</a:t>
                          </a:r>
                        </a:p>
                        <a:p>
                          <a:r>
                            <a:rPr lang="en-CA" sz="23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Penalizes low-volume markets that cannot support the required trade size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64485" t="-24309" r="-215" b="-1889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6102336"/>
                      </a:ext>
                    </a:extLst>
                  </a:tr>
                  <a:tr h="2194560">
                    <a:tc>
                      <a:txBody>
                        <a:bodyPr/>
                        <a:lstStyle/>
                        <a:p>
                          <a:r>
                            <a:rPr lang="en-CA" sz="2300" b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Slippage</a:t>
                          </a:r>
                        </a:p>
                        <a:p>
                          <a:r>
                            <a:rPr lang="en-CA" sz="23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Penalizes paths where executing a trade deviates the price from the midpoint using volume-weighted average </a:t>
                          </a:r>
                        </a:p>
                      </a:txBody>
                      <a:tcPr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64485" t="-125000" r="-215" b="-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2749895"/>
                      </a:ext>
                    </a:extLst>
                  </a:tr>
                  <a:tr h="1844040">
                    <a:tc>
                      <a:txBody>
                        <a:bodyPr/>
                        <a:lstStyle/>
                        <a:p>
                          <a:r>
                            <a:rPr lang="en-CA" sz="2300" b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Chain congestion</a:t>
                          </a:r>
                        </a:p>
                        <a:p>
                          <a:r>
                            <a:rPr lang="en-CA" sz="23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Penalizes transfer latency and operational risk using the precomputed chain transfer times and reliability scores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64485" t="-267327" r="-215" b="-69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227873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E7140C62-EBC1-AD0C-4BC2-141376458343}"/>
              </a:ext>
            </a:extLst>
          </p:cNvPr>
          <p:cNvGrpSpPr/>
          <p:nvPr/>
        </p:nvGrpSpPr>
        <p:grpSpPr>
          <a:xfrm>
            <a:off x="27579851" y="8398510"/>
            <a:ext cx="4240807" cy="2171840"/>
            <a:chOff x="5472505" y="1302137"/>
            <a:chExt cx="3486213" cy="1589237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4D173FD-A656-5740-3FBD-6EDB07085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472505" y="1302137"/>
              <a:ext cx="3486213" cy="116544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5BB48EB-40B8-17C1-06B8-3A7BE3E41424}"/>
                </a:ext>
              </a:extLst>
            </p:cNvPr>
            <p:cNvSpPr txBox="1"/>
            <p:nvPr/>
          </p:nvSpPr>
          <p:spPr>
            <a:xfrm>
              <a:off x="5613149" y="2440945"/>
              <a:ext cx="3123519" cy="450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Heuristic comparison at $10k (30 starts) </a:t>
              </a:r>
            </a:p>
          </p:txBody>
        </p:sp>
      </p:grpSp>
      <p:grpSp>
        <p:nvGrpSpPr>
          <p:cNvPr id="31" name="Google Shape;96;p1">
            <a:extLst>
              <a:ext uri="{FF2B5EF4-FFF2-40B4-BE49-F238E27FC236}">
                <a16:creationId xmlns:a16="http://schemas.microsoft.com/office/drawing/2014/main" id="{B6D226CD-20E6-B084-AB49-D7035D236059}"/>
              </a:ext>
            </a:extLst>
          </p:cNvPr>
          <p:cNvGrpSpPr/>
          <p:nvPr/>
        </p:nvGrpSpPr>
        <p:grpSpPr>
          <a:xfrm>
            <a:off x="22117627" y="3373103"/>
            <a:ext cx="9836233" cy="4098762"/>
            <a:chOff x="457200" y="2971800"/>
            <a:chExt cx="13716000" cy="42865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Google Shape;97;p1">
                  <a:extLst>
                    <a:ext uri="{FF2B5EF4-FFF2-40B4-BE49-F238E27FC236}">
                      <a16:creationId xmlns:a16="http://schemas.microsoft.com/office/drawing/2014/main" id="{64C7B278-383F-6ABF-02C6-12C62C888812}"/>
                    </a:ext>
                  </a:extLst>
                </p:cNvPr>
                <p:cNvSpPr txBox="1"/>
                <p:nvPr/>
              </p:nvSpPr>
              <p:spPr>
                <a:xfrm>
                  <a:off x="457200" y="3657600"/>
                  <a:ext cx="13716000" cy="36007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7419" tIns="43697" rIns="87419" bIns="43697" anchor="t" anchorCtr="0">
                  <a:spAutoFit/>
                </a:bodyPr>
                <a:lstStyle/>
                <a:p>
                  <a:pPr algn="ct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2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CA" sz="2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ar-AE" sz="2600" b="1" dirty="0">
                      <a:solidFill>
                        <a:schemeClr val="tx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 </a:t>
                  </a:r>
                  <a:r>
                    <a:rPr lang="en-CA" sz="2600" b="1" dirty="0">
                      <a:solidFill>
                        <a:schemeClr val="tx1"/>
                      </a:solidFill>
                      <a:latin typeface="Times" panose="02020603050405020304" pitchFamily="18" charset="0"/>
                      <a:cs typeface="Times" panose="02020603050405020304" pitchFamily="18" charset="0"/>
                    </a:rPr>
                    <a:t>provides profit consistently equal to Dijkstra’s algorithm, while expanding 29% fewer nodes.</a:t>
                  </a:r>
                  <a:endParaRPr lang="en-CA" sz="2600" dirty="0"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  <a:p>
                  <a:pPr marL="342900" indent="-342900">
                    <a:buFont typeface="Arial"/>
                    <a:buChar char="•"/>
                  </a:pPr>
                  <a:endParaRPr lang="en-CA" sz="2600" dirty="0">
                    <a:solidFill>
                      <a:schemeClr val="dk1"/>
                    </a:solidFill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  <a:p>
                  <a:pPr>
                    <a:buSzPts val="1200"/>
                  </a:pPr>
                  <a:r>
                    <a:rPr lang="en-CA" sz="2800" dirty="0">
                      <a:latin typeface="Times" panose="02020603050405020304" pitchFamily="18" charset="0"/>
                      <a:ea typeface="Helvetica Neue" panose="02000503000000020004" pitchFamily="2" charset="0"/>
                      <a:cs typeface="Times" panose="02020603050405020304" pitchFamily="18" charset="0"/>
                      <a:sym typeface="Noto Sans"/>
                    </a:rPr>
                    <a:t>When testing all 3 heuristics and Dijkstra baseline across 30 starts: </a:t>
                  </a:r>
                </a:p>
                <a:p>
                  <a:pPr marL="171450" indent="-171450">
                    <a:buSzPts val="1200"/>
                    <a:buFont typeface="Arial" panose="020B0604020202020204" pitchFamily="34" charset="0"/>
                    <a:buChar char="•"/>
                  </a:pPr>
                  <a:r>
                    <a:rPr lang="en-CA" sz="2800" dirty="0">
                      <a:latin typeface="Times" panose="02020603050405020304" pitchFamily="18" charset="0"/>
                      <a:ea typeface="Helvetica Neue" panose="02000503000000020004" pitchFamily="2" charset="0"/>
                      <a:cs typeface="Times" panose="02020603050405020304" pitchFamily="18" charset="0"/>
                      <a:sym typeface="Noto Sans"/>
                    </a:rPr>
                    <a:t>All options found the same number of profitable paths in this test</a:t>
                  </a:r>
                </a:p>
                <a:p>
                  <a:pPr marL="171450" indent="-171450">
                    <a:buSzPts val="1200"/>
                    <a:buFont typeface="Arial" panose="020B0604020202020204" pitchFamily="34" charset="0"/>
                    <a:buChar char="•"/>
                  </a:pPr>
                  <a:r>
                    <a:rPr lang="en-CA" sz="2800" dirty="0">
                      <a:latin typeface="Times" panose="02020603050405020304" pitchFamily="18" charset="0"/>
                      <a:ea typeface="Helvetica Neue" panose="02000503000000020004" pitchFamily="2" charset="0"/>
                      <a:cs typeface="Times" panose="02020603050405020304" pitchFamily="18" charset="0"/>
                      <a:sym typeface="Noto Sans"/>
                    </a:rPr>
                    <a:t>Average profit for Dijkstra and </a:t>
                  </a:r>
                  <a:r>
                    <a:rPr lang="en-CA" sz="2800" dirty="0">
                      <a:latin typeface="Times" panose="02020603050405020304" pitchFamily="18" charset="0"/>
                      <a:cs typeface="Times" panose="02020603050405020304" pitchFamily="18" charset="0"/>
                    </a:rPr>
                    <a:t>h₂</a:t>
                  </a:r>
                  <a:r>
                    <a:rPr lang="en-CA" sz="2800" dirty="0">
                      <a:latin typeface="Times" panose="02020603050405020304" pitchFamily="18" charset="0"/>
                      <a:ea typeface="Helvetica Neue" panose="02000503000000020004" pitchFamily="2" charset="0"/>
                      <a:cs typeface="Times" panose="02020603050405020304" pitchFamily="18" charset="0"/>
                      <a:sym typeface="Noto Sans"/>
                    </a:rPr>
                    <a:t> differed by $0.10 on an order size of $10,000 across all successful trials </a:t>
                  </a:r>
                </a:p>
                <a:p>
                  <a:pPr marL="171450" indent="-171450">
                    <a:buSzPts val="1200"/>
                    <a:buFont typeface="Arial" panose="020B0604020202020204" pitchFamily="34" charset="0"/>
                    <a:buChar char="•"/>
                  </a:pPr>
                  <a:r>
                    <a:rPr lang="en-CA" sz="2800" dirty="0">
                      <a:latin typeface="Times" panose="02020603050405020304" pitchFamily="18" charset="0"/>
                      <a:cs typeface="Times" panose="02020603050405020304" pitchFamily="18" charset="0"/>
                    </a:rPr>
                    <a:t>h₂</a:t>
                  </a:r>
                  <a:r>
                    <a:rPr lang="en-CA" sz="2800" dirty="0">
                      <a:latin typeface="Times" panose="02020603050405020304" pitchFamily="18" charset="0"/>
                      <a:ea typeface="Helvetica Neue" panose="02000503000000020004" pitchFamily="2" charset="0"/>
                      <a:cs typeface="Times" panose="02020603050405020304" pitchFamily="18" charset="0"/>
                      <a:sym typeface="Noto Sans"/>
                    </a:rPr>
                    <a:t> expanded 29% less nodes than Dijkstra’s algorithm </a:t>
                  </a:r>
                  <a:endParaRPr lang="en-CA" sz="3060" dirty="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</mc:Choice>
          <mc:Fallback xmlns="">
            <p:sp>
              <p:nvSpPr>
                <p:cNvPr id="32" name="Google Shape;97;p1">
                  <a:extLst>
                    <a:ext uri="{FF2B5EF4-FFF2-40B4-BE49-F238E27FC236}">
                      <a16:creationId xmlns:a16="http://schemas.microsoft.com/office/drawing/2014/main" id="{64C7B278-383F-6ABF-02C6-12C62C8888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3657600"/>
                  <a:ext cx="13716000" cy="3600793"/>
                </a:xfrm>
                <a:prstGeom prst="rect">
                  <a:avLst/>
                </a:prstGeom>
                <a:blipFill>
                  <a:blip r:embed="rId16"/>
                  <a:stretch>
                    <a:fillRect l="-1301" t="-1770" r="-620" b="-40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Google Shape;98;p1">
              <a:extLst>
                <a:ext uri="{FF2B5EF4-FFF2-40B4-BE49-F238E27FC236}">
                  <a16:creationId xmlns:a16="http://schemas.microsoft.com/office/drawing/2014/main" id="{49A84E8A-B22E-3F3B-0AE7-550B51A68889}"/>
                </a:ext>
              </a:extLst>
            </p:cNvPr>
            <p:cNvSpPr txBox="1"/>
            <p:nvPr/>
          </p:nvSpPr>
          <p:spPr>
            <a:xfrm>
              <a:off x="457200" y="2971800"/>
              <a:ext cx="13716000" cy="718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19" tIns="43697" rIns="87419" bIns="43697" anchor="t" anchorCtr="0">
              <a:spAutoFit/>
            </a:bodyPr>
            <a:lstStyle/>
            <a:p>
              <a:pPr algn="ctr">
                <a:buSzPts val="4000"/>
              </a:pPr>
              <a:r>
                <a:rPr lang="en-US" sz="3825" b="1" dirty="0">
                  <a:solidFill>
                    <a:srgbClr val="CD3E3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Key Results</a:t>
              </a:r>
              <a:endParaRPr sz="1339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D255038-881E-EBF5-7E6D-D9BF9ECAFE00}"/>
              </a:ext>
            </a:extLst>
          </p:cNvPr>
          <p:cNvGrpSpPr/>
          <p:nvPr/>
        </p:nvGrpSpPr>
        <p:grpSpPr>
          <a:xfrm>
            <a:off x="21635573" y="16133292"/>
            <a:ext cx="10281755" cy="4323792"/>
            <a:chOff x="21635573" y="16133292"/>
            <a:chExt cx="10281755" cy="432379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2BABA1C-1F95-E19C-D400-F203AF715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35573" y="16133292"/>
              <a:ext cx="5673849" cy="3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Cap311">
              <a:extLst>
                <a:ext uri="{FF2B5EF4-FFF2-40B4-BE49-F238E27FC236}">
                  <a16:creationId xmlns:a16="http://schemas.microsoft.com/office/drawing/2014/main" id="{C83276EB-0F3D-7644-5E32-25F131422303}"/>
                </a:ext>
              </a:extLst>
            </p:cNvPr>
            <p:cNvSpPr txBox="1"/>
            <p:nvPr/>
          </p:nvSpPr>
          <p:spPr>
            <a:xfrm>
              <a:off x="22684226" y="19628372"/>
              <a:ext cx="8679957" cy="828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/>
            <a:lstStyle/>
            <a:p>
              <a:pPr algn="ctr">
                <a:buNone/>
              </a:pPr>
              <a:r>
                <a:rPr lang="en-US" sz="1700" i="1" dirty="0">
                  <a:solidFill>
                    <a:srgbClr val="555555"/>
                  </a:solidFill>
                  <a:latin typeface="Arial"/>
                </a:rPr>
                <a:t>Average profit levels during the overnight campaign, and profitability after a time delay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1D097A9-EEA5-7E8E-BF7C-ACCD2E506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7579713" y="16133292"/>
              <a:ext cx="4337615" cy="32705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610</Words>
  <Application>Microsoft Macintosh PowerPoint</Application>
  <PresentationFormat>Custom</PresentationFormat>
  <Paragraphs>105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Cambria Math</vt:lpstr>
      <vt:lpstr>Helvetica Neue</vt:lpstr>
      <vt:lpstr>Impact</vt:lpstr>
      <vt:lpstr>Times</vt:lpstr>
      <vt:lpstr>Trebuchet MS</vt:lpstr>
      <vt:lpstr>Office Theme</vt:lpstr>
      <vt:lpstr>think-cell Slide</vt:lpstr>
      <vt:lpstr>Execution-Aware A* Search for Cross-Exchange Stablecoin Arbitrage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Greg Mori</dc:creator>
  <cp:lastModifiedBy>Kevin Litvin</cp:lastModifiedBy>
  <cp:revision>13</cp:revision>
  <dcterms:created xsi:type="dcterms:W3CDTF">2018-11-28T01:52:15Z</dcterms:created>
  <dcterms:modified xsi:type="dcterms:W3CDTF">2026-05-29T01:23:58Z</dcterms:modified>
</cp:coreProperties>
</file>