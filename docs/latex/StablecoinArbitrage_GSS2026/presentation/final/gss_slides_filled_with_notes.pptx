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11"/>
  </p:notesMasterIdLst>
  <p:handoutMasterIdLst>
    <p:handoutMasterId r:id="rId12"/>
  </p:handoutMasterIdLst>
  <p:sldIdLst>
    <p:sldId id="1173" r:id="rId2"/>
    <p:sldId id="2147474410" r:id="rId3"/>
    <p:sldId id="2147474411" r:id="rId4"/>
    <p:sldId id="2147474412" r:id="rId5"/>
    <p:sldId id="2147474413" r:id="rId6"/>
    <p:sldId id="2147474414" r:id="rId7"/>
    <p:sldId id="2147474415" r:id="rId8"/>
    <p:sldId id="2147474416" r:id="rId9"/>
    <p:sldId id="2147474418" r:id="rId10"/>
  </p:sldIdLst>
  <p:sldSz cx="9144000" cy="5143500" type="screen16x9"/>
  <p:notesSz cx="6858000" cy="9144000"/>
  <p:embeddedFontLst>
    <p:embeddedFont>
      <p:font typeface="Cambria Math" panose="02040503050406030204" pitchFamily="18" charset="0"/>
      <p:regular r:id="rId13"/>
    </p:embeddedFont>
    <p:embeddedFont>
      <p:font typeface="Helvetica Neue" panose="02000503000000020004" pitchFamily="2" charset="0"/>
      <p:regular r:id="rId14"/>
      <p:bold r:id="rId15"/>
      <p:italic r:id="rId16"/>
      <p:boldItalic r:id="rId17"/>
    </p:embeddedFont>
    <p:embeddedFont>
      <p:font typeface="Source Sans Pro" panose="020B0503030403020204" pitchFamily="34" charset="0"/>
      <p:regular r:id="rId18"/>
      <p:bold r:id="rId19"/>
      <p:italic r:id="rId20"/>
      <p:boldItalic r:id="rId21"/>
    </p:embeddedFont>
    <p:embeddedFont>
      <p:font typeface="Times" panose="02020603050405020304" pitchFamily="18" charset="0"/>
      <p:regular r:id="rId22"/>
      <p:bold r:id="rId23"/>
      <p:italic r:id="rId24"/>
      <p:boldItalic r:id="rId25"/>
    </p:embeddedFont>
  </p:embeddedFontLst>
  <p:custDataLst>
    <p:tags r:id="rId2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guide id="3" pos="171">
          <p15:clr>
            <a:srgbClr val="747775"/>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93982A-BDB4-2D75-815A-0CB464DC8290}" name="Julie Cheung" initials="JC" userId="S::jkc51@sfu.ca::00179833-4ea3-4491-9923-8204d5ba26f0" providerId="AD"/>
  <p188:author id="{4EF30A66-54C3-FD67-9857-BADCEEE5C069}" name="Tania Pocrnjic" initials="TP" userId="S::tpa42@sfu.ca::5422c9a3-6dda-4acf-a6cc-fd109d6c7d0f" providerId="AD"/>
  <p188:author id="{D6CD3DB7-84E0-E3F1-27EA-824A4068A0A8}" name="Troy Cheah" initials="TC" userId="S::tac15@sfu.ca::86f205b4-e009-497c-9b2a-ec9138b530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rah Li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D0F4"/>
    <a:srgbClr val="FFFFFF"/>
    <a:srgbClr val="083F06"/>
    <a:srgbClr val="007000"/>
    <a:srgbClr val="E0E7FA"/>
    <a:srgbClr val="00B050"/>
    <a:srgbClr val="949696"/>
    <a:srgbClr val="262626"/>
    <a:srgbClr val="01189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F5B21E-941D-4FBC-96CA-9FAA6463E71C}">
  <a:tblStyle styleId="{74F5B21E-941D-4FBC-96CA-9FAA6463E71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DA2B479-9C7D-4422-B690-3F61F330866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BBCB156-5FF9-42EB-989F-405218685BC4}"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p:restoredTop sz="46479" autoAdjust="0"/>
  </p:normalViewPr>
  <p:slideViewPr>
    <p:cSldViewPr snapToGrid="0">
      <p:cViewPr varScale="1">
        <p:scale>
          <a:sx n="63" d="100"/>
          <a:sy n="63" d="100"/>
        </p:scale>
        <p:origin x="2128" y="176"/>
      </p:cViewPr>
      <p:guideLst>
        <p:guide orient="horz" pos="1620"/>
        <p:guide pos="2880"/>
        <p:guide pos="171"/>
      </p:guideLst>
    </p:cSldViewPr>
  </p:slideViewPr>
  <p:notesTextViewPr>
    <p:cViewPr>
      <p:scale>
        <a:sx n="1" d="1"/>
        <a:sy n="1" d="1"/>
      </p:scale>
      <p:origin x="0" y="0"/>
    </p:cViewPr>
  </p:notesTextViewPr>
  <p:notesViewPr>
    <p:cSldViewPr snapToGrid="0">
      <p:cViewPr varScale="1">
        <p:scale>
          <a:sx n="98" d="100"/>
          <a:sy n="98" d="100"/>
        </p:scale>
        <p:origin x="378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8431BD-DF1E-1170-EE4D-6F5BF40B25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A19FA4-5E55-03F8-3BBC-2B5755DD1A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448090-5CF9-2640-8A5C-55664339CEAA}" type="datetimeFigureOut">
              <a:rPr lang="en-US" smtClean="0"/>
              <a:t>5/28/26</a:t>
            </a:fld>
            <a:endParaRPr lang="en-US"/>
          </a:p>
        </p:txBody>
      </p:sp>
      <p:sp>
        <p:nvSpPr>
          <p:cNvPr id="4" name="Footer Placeholder 3">
            <a:extLst>
              <a:ext uri="{FF2B5EF4-FFF2-40B4-BE49-F238E27FC236}">
                <a16:creationId xmlns:a16="http://schemas.microsoft.com/office/drawing/2014/main" id="{0F0EBB08-DB83-10AF-4DE1-360D556AF5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98385C6-D710-264A-3717-8751BCA421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C77923-C1D7-174D-BBEB-AF803A7EA26E}" type="slidenum">
              <a:rPr lang="en-US" smtClean="0"/>
              <a:t>‹#›</a:t>
            </a:fld>
            <a:endParaRPr lang="en-US"/>
          </a:p>
        </p:txBody>
      </p:sp>
    </p:spTree>
    <p:extLst>
      <p:ext uri="{BB962C8B-B14F-4D97-AF65-F5344CB8AC3E}">
        <p14:creationId xmlns:p14="http://schemas.microsoft.com/office/powerpoint/2010/main" val="2421104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3971-08A9-19F6-4DF8-108EC4E93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49804-06DD-1296-83C9-E0D05AF658A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33248C-726D-4E5A-F0AA-5D8EB3E9EE29}"/>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At any given moment, the same digital asset can be trading at a dozen different prices simultaneously across independent exchanges.</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is known as fragmentation, which is both the problem and the opportunity. And the stablecoin market, where it happens, moved more than thirty-three trillion dollars last year globally.</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I'm Kevin Litvin from Simon Fraser University.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I want to introduce a pathfinding heuristic that turns market fragmentation into executable profit by modifying Dijkstra’s Algorithm.</a:t>
            </a:r>
            <a:endParaRPr lang="en-CA" sz="1100" b="0" i="0" u="none" strike="noStrike" cap="none" dirty="0">
              <a:solidFill>
                <a:srgbClr val="000000"/>
              </a:solidFill>
              <a:effectLst/>
              <a:latin typeface="Arial"/>
              <a:ea typeface="Arial"/>
              <a:cs typeface="Arial"/>
              <a:sym typeface="Aria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CA" dirty="0"/>
          </a:p>
        </p:txBody>
      </p:sp>
      <p:sp>
        <p:nvSpPr>
          <p:cNvPr id="4" name="Slide Number Placeholder 3">
            <a:extLst>
              <a:ext uri="{FF2B5EF4-FFF2-40B4-BE49-F238E27FC236}">
                <a16:creationId xmlns:a16="http://schemas.microsoft.com/office/drawing/2014/main" id="{F5A99636-2272-7C07-5B4C-32778B66EDD4}"/>
              </a:ext>
            </a:extLst>
          </p:cNvPr>
          <p:cNvSpPr>
            <a:spLocks noGrp="1"/>
          </p:cNvSpPr>
          <p:nvPr>
            <p:ph type="sldNum" sz="quarter" idx="5"/>
          </p:nvPr>
        </p:nvSpPr>
        <p:spPr/>
        <p:txBody>
          <a:bodyPr/>
          <a:lstStyle/>
          <a:p>
            <a:fld id="{C3E03FC1-87CA-3640-80FA-1C9C7DA0D8A5}" type="slidenum">
              <a:rPr lang="en-US" smtClean="0"/>
              <a:t>1</a:t>
            </a:fld>
            <a:endParaRPr lang="en-US"/>
          </a:p>
        </p:txBody>
      </p:sp>
    </p:spTree>
    <p:extLst>
      <p:ext uri="{BB962C8B-B14F-4D97-AF65-F5344CB8AC3E}">
        <p14:creationId xmlns:p14="http://schemas.microsoft.com/office/powerpoint/2010/main" val="94489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a:extLst>
            <a:ext uri="{FF2B5EF4-FFF2-40B4-BE49-F238E27FC236}">
              <a16:creationId xmlns:a16="http://schemas.microsoft.com/office/drawing/2014/main" id="{A1A20ED2-CBB2-E684-5FFC-397455235179}"/>
            </a:ext>
          </a:extLst>
        </p:cNvPr>
        <p:cNvGrpSpPr/>
        <p:nvPr/>
      </p:nvGrpSpPr>
      <p:grpSpPr>
        <a:xfrm>
          <a:off x="0" y="0"/>
          <a:ext cx="0" cy="0"/>
          <a:chOff x="0" y="0"/>
          <a:chExt cx="0" cy="0"/>
        </a:xfrm>
      </p:grpSpPr>
      <p:sp>
        <p:nvSpPr>
          <p:cNvPr id="1662" name="Google Shape;1662;g3497ba829ba_0_558:notes">
            <a:extLst>
              <a:ext uri="{FF2B5EF4-FFF2-40B4-BE49-F238E27FC236}">
                <a16:creationId xmlns:a16="http://schemas.microsoft.com/office/drawing/2014/main" id="{B3D7E3EF-B748-9180-8A6D-C4B0EDB819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3" name="Google Shape;1663;g3497ba829ba_0_558:notes">
            <a:extLst>
              <a:ext uri="{FF2B5EF4-FFF2-40B4-BE49-F238E27FC236}">
                <a16:creationId xmlns:a16="http://schemas.microsoft.com/office/drawing/2014/main" id="{7930CDA5-91C8-9005-DC10-B6434CCC16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QUESTION: Who here has heard about stablecoin?</a:t>
            </a:r>
          </a:p>
          <a:p>
            <a:r>
              <a:rPr lang="en-US" sz="1100" b="0" i="0" u="none" strike="noStrike" cap="none" dirty="0">
                <a:solidFill>
                  <a:srgbClr val="000000"/>
                </a:solidFill>
                <a:effectLst/>
                <a:latin typeface="Arial"/>
                <a:ea typeface="Arial"/>
                <a:cs typeface="Arial"/>
                <a:sym typeface="Arial"/>
              </a:rPr>
              <a:t>Stablecoins  are blockchain-native cryptocurrencies that are pegged one-to-one with fiat currencies such as USD, or Euro.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The stablecoin market cap reached 300 billions dollars USD, and trade over 30 trillion dollars globally in 2024</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Stablecoins are how traders rebalance positions, and how liquidity moves between international exchanges</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 stablecoin is listed at varying prices across independent exchanges.</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 [PAUSE]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I wanted to see if applying pathfinding algorithms onto a stablecoin dataset can lead to market profit.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Then can we optimize the search efficiency by having the algorithm take market data.  a </a:t>
            </a:r>
            <a:r>
              <a:rPr lang="en-US" sz="1100" b="0" i="0" u="none" strike="noStrike" cap="none" dirty="0" err="1">
                <a:solidFill>
                  <a:srgbClr val="000000"/>
                </a:solidFill>
                <a:effectLst/>
                <a:latin typeface="Arial"/>
                <a:ea typeface="Arial"/>
                <a:cs typeface="Arial"/>
                <a:sym typeface="Arial"/>
              </a:rPr>
              <a:t>nd</a:t>
            </a:r>
            <a:r>
              <a:rPr lang="en-US" sz="1100" b="0" i="0" u="none" strike="noStrike" cap="none" dirty="0">
                <a:solidFill>
                  <a:srgbClr val="000000"/>
                </a:solidFill>
                <a:effectLst/>
                <a:latin typeface="Arial"/>
                <a:ea typeface="Arial"/>
                <a:cs typeface="Arial"/>
                <a:sym typeface="Arial"/>
              </a:rPr>
              <a:t> produce a better estimate of the next best trade.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622984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a:extLst>
            <a:ext uri="{FF2B5EF4-FFF2-40B4-BE49-F238E27FC236}">
              <a16:creationId xmlns:a16="http://schemas.microsoft.com/office/drawing/2014/main" id="{E5F135FC-B73D-BF8C-1392-4A0D1DFE1D69}"/>
            </a:ext>
          </a:extLst>
        </p:cNvPr>
        <p:cNvGrpSpPr/>
        <p:nvPr/>
      </p:nvGrpSpPr>
      <p:grpSpPr>
        <a:xfrm>
          <a:off x="0" y="0"/>
          <a:ext cx="0" cy="0"/>
          <a:chOff x="0" y="0"/>
          <a:chExt cx="0" cy="0"/>
        </a:xfrm>
      </p:grpSpPr>
      <p:sp>
        <p:nvSpPr>
          <p:cNvPr id="1799" name="Google Shape;1799;g3497ba829ba_0_237:notes">
            <a:extLst>
              <a:ext uri="{FF2B5EF4-FFF2-40B4-BE49-F238E27FC236}">
                <a16:creationId xmlns:a16="http://schemas.microsoft.com/office/drawing/2014/main" id="{227DDE85-6C83-64A5-FF34-275A09EE9C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3497ba829ba_0_237:notes">
            <a:extLst>
              <a:ext uri="{FF2B5EF4-FFF2-40B4-BE49-F238E27FC236}">
                <a16:creationId xmlns:a16="http://schemas.microsoft.com/office/drawing/2014/main" id="{33308011-1D8A-9420-15A0-3000941826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Why does this need new search heuristics? Why not just run shortest-path on the price graph?</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Because four real-world constraints collapse many candidate paths during execution which are not found during path planning.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Firstly,  fees. </a:t>
            </a:r>
            <a:r>
              <a:rPr lang="en-CA" sz="1100" b="0" i="0" u="none" strike="noStrike" cap="none" dirty="0">
                <a:solidFill>
                  <a:srgbClr val="000000"/>
                </a:solidFill>
                <a:effectLst/>
                <a:latin typeface="Arial"/>
                <a:ea typeface="Arial"/>
                <a:cs typeface="Arial"/>
                <a:sym typeface="Arial"/>
              </a:rPr>
              <a:t>The order needs to be large enough to offset fees. </a:t>
            </a:r>
          </a:p>
          <a:p>
            <a:r>
              <a:rPr lang="en-US" sz="1100" b="0" i="0" u="none" strike="noStrike" cap="none" dirty="0">
                <a:solidFill>
                  <a:srgbClr val="000000"/>
                </a:solidFill>
                <a:effectLst/>
                <a:latin typeface="Arial"/>
                <a:ea typeface="Arial"/>
                <a:cs typeface="Arial"/>
                <a:sym typeface="Arial"/>
              </a:rPr>
              <a:t>Two,  slippage. As trades execute, the price listed on the asset changes dynamically. The model needs to account for the fluctuations during the path planning based on market ask price depth.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Three, latency. Blockchain transfer times and high-volume congestion affect the profit window of opportunity.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Four, operational risk. Withdrawals can be paused, regions geofenced or VPN-blocked. A path that exists on paper can be unreachable in practice.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We tested three classical baselines, Bellman-Ford negative-cycle detection, one hop and two hop. None of them returned a profitable executable path under live conditions.</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means we need search that builds execution cost directly into the heuristic itself.</a:t>
            </a:r>
            <a:endParaRPr lang="en-CA"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24382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Based on the factors discussed, we adapted the graph using live market data.</a:t>
            </a:r>
          </a:p>
          <a:p>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Each node represents a stablecoin within a centralized market.</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Each edge encodes the live execution cost of the trade.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Nodes are clustered per exchange</a:t>
            </a:r>
          </a:p>
          <a:p>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To our knowledge, this is the first academic paper to apply optimized path finding to the stable coin dataset across centralized exchanges.</a:t>
            </a:r>
            <a:endParaRPr lang="en-CA"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272734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2">
          <a:extLst>
            <a:ext uri="{FF2B5EF4-FFF2-40B4-BE49-F238E27FC236}">
              <a16:creationId xmlns:a16="http://schemas.microsoft.com/office/drawing/2014/main" id="{0DB7F6FD-2F7C-01A8-955B-9B2A524EA25F}"/>
            </a:ext>
          </a:extLst>
        </p:cNvPr>
        <p:cNvGrpSpPr/>
        <p:nvPr/>
      </p:nvGrpSpPr>
      <p:grpSpPr>
        <a:xfrm>
          <a:off x="0" y="0"/>
          <a:ext cx="0" cy="0"/>
          <a:chOff x="0" y="0"/>
          <a:chExt cx="0" cy="0"/>
        </a:xfrm>
      </p:grpSpPr>
      <p:sp>
        <p:nvSpPr>
          <p:cNvPr id="2293" name="Google Shape;2293;g3497ba829ba_0_210:notes">
            <a:extLst>
              <a:ext uri="{FF2B5EF4-FFF2-40B4-BE49-F238E27FC236}">
                <a16:creationId xmlns:a16="http://schemas.microsoft.com/office/drawing/2014/main" id="{7C878AC5-0256-09DB-1733-986CC1C423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4" name="Google Shape;2294;g3497ba829ba_0_210:notes">
            <a:extLst>
              <a:ext uri="{FF2B5EF4-FFF2-40B4-BE49-F238E27FC236}">
                <a16:creationId xmlns:a16="http://schemas.microsoft.com/office/drawing/2014/main" id="{C5FB2EF2-66DC-68DC-966D-3E4B62487B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Our search backbone is A*, with a modified heuristic that estimates trade risk rather than end goal distance. </a:t>
            </a:r>
          </a:p>
          <a:p>
            <a:r>
              <a:rPr lang="en-US" sz="1100" b="0" i="0" u="none" strike="noStrike" cap="none" dirty="0">
                <a:solidFill>
                  <a:srgbClr val="000000"/>
                </a:solidFill>
                <a:effectLst/>
                <a:latin typeface="Arial"/>
                <a:ea typeface="Arial"/>
                <a:cs typeface="Arial"/>
                <a:sym typeface="Arial"/>
              </a:rPr>
              <a:t>[PAUSE]</a:t>
            </a:r>
          </a:p>
          <a:p>
            <a:r>
              <a:rPr lang="en-CA" sz="1100" b="0" i="0" u="none" strike="noStrike" cap="none" dirty="0">
                <a:solidFill>
                  <a:srgbClr val="000000"/>
                </a:solidFill>
                <a:effectLst/>
                <a:latin typeface="Arial"/>
                <a:ea typeface="Arial"/>
                <a:cs typeface="Arial"/>
                <a:sym typeface="Arial"/>
              </a:rPr>
              <a:t>Unlike typical arbitrage, the search criteria is defined by an open path, not a cycle. </a:t>
            </a:r>
          </a:p>
          <a:p>
            <a:r>
              <a:rPr lang="en-CA" sz="1100" b="0" i="0" u="none" strike="noStrike" cap="none" dirty="0">
                <a:solidFill>
                  <a:srgbClr val="000000"/>
                </a:solidFill>
                <a:effectLst/>
                <a:latin typeface="Arial"/>
                <a:ea typeface="Arial"/>
                <a:cs typeface="Arial"/>
                <a:sym typeface="Arial"/>
              </a:rPr>
              <a:t>We apply a log transformation to the accumulated profit, to convert the prod into a sum. </a:t>
            </a:r>
          </a:p>
          <a:p>
            <a:r>
              <a:rPr lang="en-US" sz="1100" b="0" i="0" u="none" strike="noStrike" cap="none" dirty="0">
                <a:solidFill>
                  <a:srgbClr val="000000"/>
                </a:solidFill>
                <a:effectLst/>
                <a:latin typeface="Arial"/>
                <a:ea typeface="Arial"/>
                <a:cs typeface="Arial"/>
                <a:sym typeface="Arial"/>
              </a:rPr>
              <a:t>[PAUSE]</a:t>
            </a:r>
          </a:p>
          <a:p>
            <a:r>
              <a:rPr lang="en-US" sz="1100" b="0" i="0" u="none" strike="noStrike" cap="none" dirty="0">
                <a:solidFill>
                  <a:srgbClr val="000000"/>
                </a:solidFill>
                <a:effectLst/>
                <a:latin typeface="Arial"/>
                <a:ea typeface="Arial"/>
                <a:cs typeface="Arial"/>
                <a:sym typeface="Arial"/>
              </a:rPr>
              <a:t>g(n) accumulates the conversion profits between the assets.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h of n is our unique contribution: a domain-specific estimate of the execution risk at the current trade.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p>
          <a:p>
            <a:r>
              <a:rPr lang="en-US" sz="1100" b="0" i="0" u="none" strike="noStrike" cap="none" dirty="0">
                <a:solidFill>
                  <a:srgbClr val="000000"/>
                </a:solidFill>
                <a:effectLst/>
                <a:latin typeface="Arial"/>
                <a:ea typeface="Arial"/>
                <a:cs typeface="Arial"/>
                <a:sym typeface="Arial"/>
              </a:rPr>
              <a:t>Because we do not have information about the end node, we cannot use standard A*. </a:t>
            </a:r>
          </a:p>
          <a:p>
            <a:r>
              <a:rPr lang="en-US" sz="1100" b="0" i="0" u="none" strike="noStrike" cap="none" dirty="0">
                <a:solidFill>
                  <a:srgbClr val="000000"/>
                </a:solidFill>
                <a:effectLst/>
                <a:latin typeface="Arial"/>
                <a:ea typeface="Arial"/>
                <a:cs typeface="Arial"/>
                <a:sym typeface="Arial"/>
              </a:rPr>
              <a:t>Therefore, we use market data to estimate the risk of the next trade, which is our execution-aware heuristic. </a:t>
            </a:r>
            <a:endParaRPr lang="en-CA"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2561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2">
          <a:extLst>
            <a:ext uri="{FF2B5EF4-FFF2-40B4-BE49-F238E27FC236}">
              <a16:creationId xmlns:a16="http://schemas.microsoft.com/office/drawing/2014/main" id="{04BB83E4-1A46-8CC2-393D-A22A852C3E8B}"/>
            </a:ext>
          </a:extLst>
        </p:cNvPr>
        <p:cNvGrpSpPr/>
        <p:nvPr/>
      </p:nvGrpSpPr>
      <p:grpSpPr>
        <a:xfrm>
          <a:off x="0" y="0"/>
          <a:ext cx="0" cy="0"/>
          <a:chOff x="0" y="0"/>
          <a:chExt cx="0" cy="0"/>
        </a:xfrm>
      </p:grpSpPr>
      <p:sp>
        <p:nvSpPr>
          <p:cNvPr id="2293" name="Google Shape;2293;g3497ba829ba_0_210:notes">
            <a:extLst>
              <a:ext uri="{FF2B5EF4-FFF2-40B4-BE49-F238E27FC236}">
                <a16:creationId xmlns:a16="http://schemas.microsoft.com/office/drawing/2014/main" id="{CBF1E41B-20CC-613D-544D-9E00F6C924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4" name="Google Shape;2294;g3497ba829ba_0_210:notes">
            <a:extLst>
              <a:ext uri="{FF2B5EF4-FFF2-40B4-BE49-F238E27FC236}">
                <a16:creationId xmlns:a16="http://schemas.microsoft.com/office/drawing/2014/main" id="{5A1708B1-A954-04A8-AFA1-999259F454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We tested three execution-aware heuristics. Each adds a domain-specific penalty to h of n, steering A* away from paths that look profitable on paper but are too risky to execute under live costs.</a:t>
            </a:r>
          </a:p>
          <a:p>
            <a:r>
              <a:rPr lang="en-US" sz="1100" b="0" i="0" u="none" strike="noStrike" cap="none" dirty="0">
                <a:solidFill>
                  <a:srgbClr val="000000"/>
                </a:solidFill>
                <a:effectLst/>
                <a:latin typeface="Arial"/>
                <a:ea typeface="Arial"/>
                <a:cs typeface="Arial"/>
                <a:sym typeface="Arial"/>
              </a:rPr>
              <a:t>We used L2 order book. The L1 order book shows the best available price for an asset, which is typically what we see on stock exchanges. The L2 order book sorts all available prices for that asset from best to worst. </a:t>
            </a:r>
          </a:p>
          <a:p>
            <a:r>
              <a:rPr lang="en-US" sz="1100" b="0" i="0" u="none" strike="noStrike" cap="none" dirty="0">
                <a:solidFill>
                  <a:srgbClr val="000000"/>
                </a:solidFill>
                <a:effectLst/>
                <a:latin typeface="Arial"/>
                <a:ea typeface="Arial"/>
                <a:cs typeface="Arial"/>
                <a:sym typeface="Arial"/>
              </a:rPr>
              <a:t>h-one — Liquidity. It penalizes trades in low-volume markets that cannot support the trade size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h-two — Slippage. </a:t>
            </a:r>
            <a:r>
              <a:rPr lang="en-CA" sz="1100" b="0" dirty="0">
                <a:solidFill>
                  <a:schemeClr val="tx1"/>
                </a:solidFill>
                <a:latin typeface="Times" panose="02020603050405020304" pitchFamily="18" charset="0"/>
                <a:cs typeface="Times" panose="02020603050405020304" pitchFamily="18" charset="0"/>
              </a:rPr>
              <a:t>Penalizes paths where executing a trade deviates the price from the midpoint. We calculate this by querying the L2 order book and computing a volume-weighted average price.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h-three — Chain risk. </a:t>
            </a:r>
            <a:r>
              <a:rPr lang="en-CA" sz="1100" b="0" dirty="0">
                <a:solidFill>
                  <a:schemeClr val="tx1"/>
                </a:solidFill>
                <a:latin typeface="Times" panose="02020603050405020304" pitchFamily="18" charset="0"/>
                <a:cs typeface="Times" panose="02020603050405020304" pitchFamily="18" charset="0"/>
              </a:rPr>
              <a:t>Penalizes transfer latency and operational risk using the known chain transfer times and reliability.</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Across all our experiments, the slippage heuristic, h2, consistently outperformed the others.</a:t>
            </a:r>
            <a:endParaRPr lang="en-CA"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36434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slippage heuristic  — matched Dijkstra's profit quality while expanding twenty-nine percent fewer nodes.</a:t>
            </a:r>
          </a:p>
          <a:p>
            <a:r>
              <a:rPr lang="en-US" sz="1100" b="0" i="0" u="none" strike="noStrike" cap="none" dirty="0">
                <a:solidFill>
                  <a:srgbClr val="000000"/>
                </a:solidFill>
                <a:effectLst/>
                <a:latin typeface="Arial"/>
                <a:ea typeface="Arial"/>
                <a:cs typeface="Arial"/>
                <a:sym typeface="Arial"/>
              </a:rPr>
              <a:t>Both h1 and h3 found lower profits, while expanding more nodes. </a:t>
            </a:r>
          </a:p>
          <a:p>
            <a:r>
              <a:rPr lang="en-US" sz="1100" b="0" i="0" u="none" strike="noStrike" cap="none" dirty="0">
                <a:solidFill>
                  <a:srgbClr val="000000"/>
                </a:solidFill>
                <a:effectLst/>
                <a:latin typeface="Arial"/>
                <a:ea typeface="Arial"/>
                <a:cs typeface="Arial"/>
                <a:sym typeface="Arial"/>
              </a:rPr>
              <a:t>On a $10,000 order size, our heuristic matches Dijkstra’s profit within 10 cents. That is a 1% difference in absolute profit, and an 0.001% difference on our order size.  </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That is a measurable decrease in compute, with no meaningful loss in solution quality.</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endParaRPr lang="en-CA" dirty="0"/>
          </a:p>
        </p:txBody>
      </p:sp>
    </p:spTree>
    <p:extLst>
      <p:ext uri="{BB962C8B-B14F-4D97-AF65-F5344CB8AC3E}">
        <p14:creationId xmlns:p14="http://schemas.microsoft.com/office/powerpoint/2010/main" val="3503005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To stress-test our preliminary findings, we ran an overnight campaign. This was eight hours of continuous A* search against twelve live exchange feeds. From this, two findings stand out.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First — over seven thousand searches, the execution-aware algorithm had an over 50% success rate in path planning. </a:t>
            </a:r>
            <a:r>
              <a:rPr lang="en-CA" sz="1100" b="0" i="0" u="none" strike="noStrike" cap="none" dirty="0">
                <a:solidFill>
                  <a:srgbClr val="000000"/>
                </a:solidFill>
                <a:effectLst/>
                <a:latin typeface="Arial"/>
                <a:ea typeface="Arial"/>
                <a:cs typeface="Arial"/>
                <a:sym typeface="Arial"/>
              </a:rPr>
              <a:t>This indicates that profitable solutions can be reproduced at high volumes. </a:t>
            </a: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Second — staleness. There is always a gap between finding a path and executing the trade. We measured how long an opportunity actually persists. After two minutes, 99.6% of paths remained profitable. However, this does not guarantee that the full order can still be executed. </a:t>
            </a:r>
          </a:p>
          <a:p>
            <a:r>
              <a:rPr lang="en-US" sz="1100" b="0" i="0" u="none" strike="noStrike" cap="none" dirty="0">
                <a:solidFill>
                  <a:srgbClr val="000000"/>
                </a:solidFill>
                <a:effectLst/>
                <a:latin typeface="Arial"/>
                <a:ea typeface="Arial"/>
                <a:cs typeface="Arial"/>
                <a:sym typeface="Arial"/>
              </a:rPr>
              <a:t>After that, the market converges, and the arbitrage opportunity is lost. </a:t>
            </a:r>
            <a:endParaRPr lang="en-CA" sz="1100" b="0" i="0" u="none" strike="noStrike" cap="none" dirty="0">
              <a:solidFill>
                <a:srgbClr val="000000"/>
              </a:solidFill>
              <a:effectLst/>
              <a:latin typeface="Arial"/>
              <a:ea typeface="Arial"/>
              <a:cs typeface="Arial"/>
              <a:sym typeface="Arial"/>
            </a:endParaRPr>
          </a:p>
          <a:p>
            <a:endParaRPr lang="en-CA" dirty="0"/>
          </a:p>
        </p:txBody>
      </p:sp>
    </p:spTree>
    <p:extLst>
      <p:ext uri="{BB962C8B-B14F-4D97-AF65-F5344CB8AC3E}">
        <p14:creationId xmlns:p14="http://schemas.microsoft.com/office/powerpoint/2010/main" val="3525388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1F2E8-0CF7-2B1A-8275-4FD746D18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24568-A0D2-58F1-B16B-4ABBDF48D6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40B871-86A5-AD69-4E27-CC62778D3125}"/>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Why does this matter beyond stablecoin trading?</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At its core, our data preparation and methodology are a template for execution-aware search in any fragmented marketplace. A natural next step for this research would be decentralized exchanges, automated market making, and other financial sectors.</a:t>
            </a:r>
          </a:p>
          <a:p>
            <a:r>
              <a:rPr lang="en-US" sz="1100" b="0" i="0" u="none" strike="noStrike" cap="none" dirty="0">
                <a:solidFill>
                  <a:srgbClr val="000000"/>
                </a:solidFill>
                <a:effectLst/>
                <a:latin typeface="Arial"/>
                <a:ea typeface="Arial"/>
                <a:cs typeface="Arial"/>
                <a:sym typeface="Arial"/>
              </a:rPr>
              <a:t>[PAUSE] </a:t>
            </a:r>
          </a:p>
          <a:p>
            <a:r>
              <a:rPr lang="en-US" sz="1100" b="0" i="0" u="none" strike="noStrike" cap="none" dirty="0">
                <a:solidFill>
                  <a:srgbClr val="000000"/>
                </a:solidFill>
                <a:effectLst/>
                <a:latin typeface="Arial"/>
                <a:ea typeface="Arial"/>
                <a:cs typeface="Arial"/>
                <a:sym typeface="Arial"/>
              </a:rPr>
              <a:t>This project is available publicly on GitHub, so results can be referenced and reproduced. Feel free to scan the QR code up on screen and take a look for yourselves. </a:t>
            </a:r>
            <a:r>
              <a:rPr lang="en-CA" sz="1100" b="0" i="0" u="none" strike="noStrike" cap="none" dirty="0">
                <a:solidFill>
                  <a:srgbClr val="000000"/>
                </a:solidFill>
                <a:effectLst/>
                <a:latin typeface="Arial"/>
                <a:ea typeface="Arial"/>
                <a:cs typeface="Arial"/>
                <a:sym typeface="Arial"/>
              </a:rPr>
              <a:t>The results are based on path planning and real-time data, but we did not execute the trades with a $10,000 funded wallet. </a:t>
            </a:r>
          </a:p>
          <a:p>
            <a:r>
              <a:rPr lang="en-CA" sz="1100" b="0" i="0" u="none" strike="noStrike" cap="none" dirty="0">
                <a:solidFill>
                  <a:srgbClr val="000000"/>
                </a:solidFill>
                <a:effectLst/>
                <a:latin typeface="Arial"/>
                <a:ea typeface="Arial"/>
                <a:cs typeface="Arial"/>
                <a:sym typeface="Arial"/>
              </a:rPr>
              <a:t>Next steps will be to execute these trades with real capital. </a:t>
            </a: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Going into this project, we asked: </a:t>
            </a:r>
            <a:r>
              <a:rPr lang="en-CA" sz="1100" i="0" dirty="0">
                <a:solidFill>
                  <a:schemeClr val="bg1"/>
                </a:solidFill>
              </a:rPr>
              <a:t>Can domain-specific heuristics steer search faster than general-purpose graph algorithms without sacrificing profit?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[PAUSE]</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 short answer is yes.</a:t>
            </a:r>
            <a:r>
              <a:rPr lang="en-CA" sz="1100" b="0" i="0" u="none" strike="noStrike" cap="none" dirty="0">
                <a:solidFill>
                  <a:srgbClr val="000000"/>
                </a:solidFill>
                <a:effectLst/>
                <a:latin typeface="Arial"/>
                <a:ea typeface="Arial"/>
                <a:cs typeface="Arial"/>
                <a:sym typeface="Arial"/>
              </a:rPr>
              <a:t> We were able to do </a:t>
            </a:r>
            <a:r>
              <a:rPr lang="en-US" sz="1100" b="0" i="0" u="none" strike="noStrike" cap="none" dirty="0">
                <a:solidFill>
                  <a:srgbClr val="000000"/>
                </a:solidFill>
                <a:effectLst/>
                <a:latin typeface="Arial"/>
                <a:ea typeface="Arial"/>
                <a:cs typeface="Arial"/>
                <a:sym typeface="Arial"/>
              </a:rPr>
              <a:t>less exploration, more execution, and achieve the same profits.</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[BEAT]</a:t>
            </a:r>
            <a:endParaRPr lang="en-CA"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"Thank you."</a:t>
            </a:r>
            <a:endParaRPr lang="en-CA" sz="1100" b="0" i="0" u="none" strike="noStrike" cap="none" dirty="0">
              <a:solidFill>
                <a:srgbClr val="000000"/>
              </a:solidFill>
              <a:effectLst/>
              <a:latin typeface="Arial"/>
              <a:ea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Tx/>
              <a:buSzTx/>
              <a:tabLst/>
              <a:defRPr/>
            </a:pPr>
            <a:endParaRPr lang="en-CA" dirty="0"/>
          </a:p>
        </p:txBody>
      </p:sp>
      <p:sp>
        <p:nvSpPr>
          <p:cNvPr id="4" name="Slide Number Placeholder 3">
            <a:extLst>
              <a:ext uri="{FF2B5EF4-FFF2-40B4-BE49-F238E27FC236}">
                <a16:creationId xmlns:a16="http://schemas.microsoft.com/office/drawing/2014/main" id="{E1B36DA5-1E2B-B02F-0719-CF6399E0B9C0}"/>
              </a:ext>
            </a:extLst>
          </p:cNvPr>
          <p:cNvSpPr>
            <a:spLocks noGrp="1"/>
          </p:cNvSpPr>
          <p:nvPr>
            <p:ph type="sldNum" sz="quarter" idx="5"/>
          </p:nvPr>
        </p:nvSpPr>
        <p:spPr/>
        <p:txBody>
          <a:bodyPr/>
          <a:lstStyle/>
          <a:p>
            <a:fld id="{C3E03FC1-87CA-3640-80FA-1C9C7DA0D8A5}" type="slidenum">
              <a:rPr lang="en-US" smtClean="0"/>
              <a:t>9</a:t>
            </a:fld>
            <a:endParaRPr lang="en-US"/>
          </a:p>
        </p:txBody>
      </p:sp>
    </p:spTree>
    <p:extLst>
      <p:ext uri="{BB962C8B-B14F-4D97-AF65-F5344CB8AC3E}">
        <p14:creationId xmlns:p14="http://schemas.microsoft.com/office/powerpoint/2010/main" val="34626562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userDrawn="1">
  <p:cSld name="good slide master">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3873202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6" name="Google Shape;16;p3"/>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
        <p:nvSpPr>
          <p:cNvPr id="6" name="Text Placeholder 5">
            <a:extLst>
              <a:ext uri="{FF2B5EF4-FFF2-40B4-BE49-F238E27FC236}">
                <a16:creationId xmlns:a16="http://schemas.microsoft.com/office/drawing/2014/main" id="{D2B086A1-8409-40F4-4CCF-9432E5F8F5EC}"/>
              </a:ext>
            </a:extLst>
          </p:cNvPr>
          <p:cNvSpPr>
            <a:spLocks noGrp="1"/>
          </p:cNvSpPr>
          <p:nvPr>
            <p:ph type="body" sz="quarter" idx="10" hasCustomPrompt="1"/>
          </p:nvPr>
        </p:nvSpPr>
        <p:spPr>
          <a:xfrm>
            <a:off x="73991" y="4857145"/>
            <a:ext cx="1966341" cy="137858"/>
          </a:xfrm>
        </p:spPr>
        <p:txBody>
          <a:bodyPr lIns="0" tIns="0" rIns="0" bIns="0">
            <a:noAutofit/>
          </a:bodyPr>
          <a:lstStyle>
            <a:lvl1pPr>
              <a:buNone/>
              <a:defRPr sz="8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Kevin Litvin – Simon Fraser University </a:t>
            </a:r>
          </a:p>
        </p:txBody>
      </p:sp>
      <p:sp>
        <p:nvSpPr>
          <p:cNvPr id="5" name="Text Placeholder 5">
            <a:extLst>
              <a:ext uri="{FF2B5EF4-FFF2-40B4-BE49-F238E27FC236}">
                <a16:creationId xmlns:a16="http://schemas.microsoft.com/office/drawing/2014/main" id="{9CFBC906-43CC-9D02-D0EA-5536E901F23C}"/>
              </a:ext>
            </a:extLst>
          </p:cNvPr>
          <p:cNvSpPr>
            <a:spLocks noGrp="1"/>
          </p:cNvSpPr>
          <p:nvPr>
            <p:ph type="body" sz="quarter" idx="11" hasCustomPrompt="1"/>
          </p:nvPr>
        </p:nvSpPr>
        <p:spPr>
          <a:xfrm>
            <a:off x="3581220" y="4852126"/>
            <a:ext cx="1966341" cy="137858"/>
          </a:xfrm>
        </p:spPr>
        <p:txBody>
          <a:bodyPr lIns="0" tIns="0" rIns="0" bIns="0">
            <a:noAutofit/>
          </a:bodyPr>
          <a:lstStyle>
            <a:lvl1pPr algn="ctr">
              <a:buNone/>
              <a:defRPr sz="8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Canadian AI 2026 – GSS </a:t>
            </a:r>
          </a:p>
        </p:txBody>
      </p:sp>
      <p:cxnSp>
        <p:nvCxnSpPr>
          <p:cNvPr id="8" name="Straight Connector 7">
            <a:extLst>
              <a:ext uri="{FF2B5EF4-FFF2-40B4-BE49-F238E27FC236}">
                <a16:creationId xmlns:a16="http://schemas.microsoft.com/office/drawing/2014/main" id="{A4BF07FE-CF46-A016-215A-1C1754B02380}"/>
              </a:ext>
            </a:extLst>
          </p:cNvPr>
          <p:cNvCxnSpPr/>
          <p:nvPr userDrawn="1"/>
        </p:nvCxnSpPr>
        <p:spPr>
          <a:xfrm>
            <a:off x="0" y="4757738"/>
            <a:ext cx="915352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6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reserve="1" userDrawn="1">
  <p:cSld name="Strategy">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aphicFrame>
        <p:nvGraphicFramePr>
          <p:cNvPr id="3" name="Google Shape;20;p4">
            <a:extLst>
              <a:ext uri="{FF2B5EF4-FFF2-40B4-BE49-F238E27FC236}">
                <a16:creationId xmlns:a16="http://schemas.microsoft.com/office/drawing/2014/main" id="{534EA241-A0A5-3AED-65FE-36FEBF6FAAA3}"/>
              </a:ext>
            </a:extLst>
          </p:cNvPr>
          <p:cNvGraphicFramePr/>
          <p:nvPr userDrawn="1">
            <p:extLst>
              <p:ext uri="{D42A27DB-BD31-4B8C-83A1-F6EECF244321}">
                <p14:modId xmlns:p14="http://schemas.microsoft.com/office/powerpoint/2010/main" val="2251046627"/>
              </p:ext>
            </p:extLst>
          </p:nvPr>
        </p:nvGraphicFramePr>
        <p:xfrm>
          <a:off x="1733723" y="4852006"/>
          <a:ext cx="5565844" cy="243900"/>
        </p:xfrm>
        <a:graphic>
          <a:graphicData uri="http://schemas.openxmlformats.org/drawingml/2006/table">
            <a:tbl>
              <a:tblPr firstRow="1" bandRow="1">
                <a:noFill/>
                <a:tableStyleId>{74F5B21E-941D-4FBC-96CA-9FAA6463E71C}</a:tableStyleId>
              </a:tblPr>
              <a:tblGrid>
                <a:gridCol w="1391461">
                  <a:extLst>
                    <a:ext uri="{9D8B030D-6E8A-4147-A177-3AD203B41FA5}">
                      <a16:colId xmlns:a16="http://schemas.microsoft.com/office/drawing/2014/main" val="20000"/>
                    </a:ext>
                  </a:extLst>
                </a:gridCol>
                <a:gridCol w="1391461">
                  <a:extLst>
                    <a:ext uri="{9D8B030D-6E8A-4147-A177-3AD203B41FA5}">
                      <a16:colId xmlns:a16="http://schemas.microsoft.com/office/drawing/2014/main" val="20001"/>
                    </a:ext>
                  </a:extLst>
                </a:gridCol>
                <a:gridCol w="1391461">
                  <a:extLst>
                    <a:ext uri="{9D8B030D-6E8A-4147-A177-3AD203B41FA5}">
                      <a16:colId xmlns:a16="http://schemas.microsoft.com/office/drawing/2014/main" val="20002"/>
                    </a:ext>
                  </a:extLst>
                </a:gridCol>
                <a:gridCol w="1391461">
                  <a:extLst>
                    <a:ext uri="{9D8B030D-6E8A-4147-A177-3AD203B41FA5}">
                      <a16:colId xmlns:a16="http://schemas.microsoft.com/office/drawing/2014/main" val="20003"/>
                    </a:ext>
                  </a:extLst>
                </a:gridCol>
              </a:tblGrid>
              <a:tr h="243900">
                <a:tc>
                  <a:txBody>
                    <a:bodyPr/>
                    <a:lstStyle/>
                    <a:p>
                      <a:pPr marL="0" marR="0" lvl="0" indent="0" algn="ctr" rtl="0">
                        <a:lnSpc>
                          <a:spcPct val="100000"/>
                        </a:lnSpc>
                        <a:spcBef>
                          <a:spcPts val="0"/>
                        </a:spcBef>
                        <a:spcAft>
                          <a:spcPts val="0"/>
                        </a:spcAft>
                        <a:buClr>
                          <a:srgbClr val="000000"/>
                        </a:buClr>
                        <a:buFont typeface="Arial"/>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Analysis</a:t>
                      </a:r>
                      <a:endParaRPr sz="800" b="0">
                        <a:solidFill>
                          <a:srgbClr val="595959"/>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1">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Strategy</a:t>
                      </a:r>
                      <a:endParaRPr sz="800" b="1">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Implementation</a:t>
                      </a:r>
                      <a:endParaRPr sz="800" b="0" i="0" u="none" strike="noStrike" cap="none">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Impact</a:t>
                      </a:r>
                      <a:endParaRPr sz="800" b="0" u="none" strike="noStrike" cap="none">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5" name="Text Placeholder 5">
            <a:extLst>
              <a:ext uri="{FF2B5EF4-FFF2-40B4-BE49-F238E27FC236}">
                <a16:creationId xmlns:a16="http://schemas.microsoft.com/office/drawing/2014/main" id="{721B9233-A1E2-1E67-C18A-C0B7EF54DA64}"/>
              </a:ext>
            </a:extLst>
          </p:cNvPr>
          <p:cNvSpPr>
            <a:spLocks noGrp="1"/>
          </p:cNvSpPr>
          <p:nvPr>
            <p:ph type="body" sz="quarter" idx="10"/>
          </p:nvPr>
        </p:nvSpPr>
        <p:spPr>
          <a:xfrm>
            <a:off x="73991" y="4905027"/>
            <a:ext cx="1966341" cy="137858"/>
          </a:xfrm>
        </p:spPr>
        <p:txBody>
          <a:bodyPr lIns="0" tIns="0" rIns="0" bIns="0">
            <a:noAutofit/>
          </a:bodyPr>
          <a:lstStyle>
            <a:lvl1pPr>
              <a:buNone/>
              <a:defRPr sz="6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endParaRPr lang="en-US"/>
          </a:p>
        </p:txBody>
      </p:sp>
      <p:cxnSp>
        <p:nvCxnSpPr>
          <p:cNvPr id="6" name="Straight Connector 5">
            <a:extLst>
              <a:ext uri="{FF2B5EF4-FFF2-40B4-BE49-F238E27FC236}">
                <a16:creationId xmlns:a16="http://schemas.microsoft.com/office/drawing/2014/main" id="{11F7F9B6-BD87-5145-6747-0B061B36B5A5}"/>
              </a:ext>
            </a:extLst>
          </p:cNvPr>
          <p:cNvCxnSpPr>
            <a:cxnSpLocks/>
          </p:cNvCxnSpPr>
          <p:nvPr userDrawn="1"/>
        </p:nvCxnSpPr>
        <p:spPr>
          <a:xfrm>
            <a:off x="3408012" y="4819421"/>
            <a:ext cx="827439" cy="0"/>
          </a:xfrm>
          <a:prstGeom prst="line">
            <a:avLst/>
          </a:prstGeom>
          <a:ln w="31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Google Shape;16;p3">
            <a:extLst>
              <a:ext uri="{FF2B5EF4-FFF2-40B4-BE49-F238E27FC236}">
                <a16:creationId xmlns:a16="http://schemas.microsoft.com/office/drawing/2014/main" id="{7FBE5C96-5D0C-B056-5A2C-1192720BC621}"/>
              </a:ext>
            </a:extLst>
          </p:cNvPr>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Tree>
    <p:extLst>
      <p:ext uri="{BB962C8B-B14F-4D97-AF65-F5344CB8AC3E}">
        <p14:creationId xmlns:p14="http://schemas.microsoft.com/office/powerpoint/2010/main" val="3005019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Implementation">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aphicFrame>
        <p:nvGraphicFramePr>
          <p:cNvPr id="3" name="Google Shape;20;p4">
            <a:extLst>
              <a:ext uri="{FF2B5EF4-FFF2-40B4-BE49-F238E27FC236}">
                <a16:creationId xmlns:a16="http://schemas.microsoft.com/office/drawing/2014/main" id="{534EA241-A0A5-3AED-65FE-36FEBF6FAAA3}"/>
              </a:ext>
            </a:extLst>
          </p:cNvPr>
          <p:cNvGraphicFramePr/>
          <p:nvPr userDrawn="1">
            <p:extLst>
              <p:ext uri="{D42A27DB-BD31-4B8C-83A1-F6EECF244321}">
                <p14:modId xmlns:p14="http://schemas.microsoft.com/office/powerpoint/2010/main" val="71757605"/>
              </p:ext>
            </p:extLst>
          </p:nvPr>
        </p:nvGraphicFramePr>
        <p:xfrm>
          <a:off x="1733723" y="4852006"/>
          <a:ext cx="5565844" cy="243900"/>
        </p:xfrm>
        <a:graphic>
          <a:graphicData uri="http://schemas.openxmlformats.org/drawingml/2006/table">
            <a:tbl>
              <a:tblPr firstRow="1" bandRow="1">
                <a:noFill/>
                <a:tableStyleId>{74F5B21E-941D-4FBC-96CA-9FAA6463E71C}</a:tableStyleId>
              </a:tblPr>
              <a:tblGrid>
                <a:gridCol w="1391461">
                  <a:extLst>
                    <a:ext uri="{9D8B030D-6E8A-4147-A177-3AD203B41FA5}">
                      <a16:colId xmlns:a16="http://schemas.microsoft.com/office/drawing/2014/main" val="20000"/>
                    </a:ext>
                  </a:extLst>
                </a:gridCol>
                <a:gridCol w="1391461">
                  <a:extLst>
                    <a:ext uri="{9D8B030D-6E8A-4147-A177-3AD203B41FA5}">
                      <a16:colId xmlns:a16="http://schemas.microsoft.com/office/drawing/2014/main" val="20001"/>
                    </a:ext>
                  </a:extLst>
                </a:gridCol>
                <a:gridCol w="1391461">
                  <a:extLst>
                    <a:ext uri="{9D8B030D-6E8A-4147-A177-3AD203B41FA5}">
                      <a16:colId xmlns:a16="http://schemas.microsoft.com/office/drawing/2014/main" val="20002"/>
                    </a:ext>
                  </a:extLst>
                </a:gridCol>
                <a:gridCol w="1391461">
                  <a:extLst>
                    <a:ext uri="{9D8B030D-6E8A-4147-A177-3AD203B41FA5}">
                      <a16:colId xmlns:a16="http://schemas.microsoft.com/office/drawing/2014/main" val="20003"/>
                    </a:ext>
                  </a:extLst>
                </a:gridCol>
              </a:tblGrid>
              <a:tr h="243900">
                <a:tc>
                  <a:txBody>
                    <a:bodyPr/>
                    <a:lstStyle/>
                    <a:p>
                      <a:pPr marL="0" marR="0" lvl="0" indent="0" algn="ctr" rtl="0">
                        <a:lnSpc>
                          <a:spcPct val="100000"/>
                        </a:lnSpc>
                        <a:spcBef>
                          <a:spcPts val="0"/>
                        </a:spcBef>
                        <a:spcAft>
                          <a:spcPts val="0"/>
                        </a:spcAft>
                        <a:buClr>
                          <a:srgbClr val="000000"/>
                        </a:buClr>
                        <a:buFont typeface="Arial"/>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Analysis</a:t>
                      </a:r>
                      <a:endParaRPr sz="800" b="0">
                        <a:solidFill>
                          <a:srgbClr val="595959"/>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Strategy</a:t>
                      </a:r>
                      <a:endParaRPr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1">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Implementation</a:t>
                      </a:r>
                      <a:endParaRPr sz="800" b="1" i="0" u="none" strike="noStrike" cap="none">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Impact</a:t>
                      </a:r>
                      <a:endParaRPr sz="800" b="0" u="none" strike="noStrike" cap="none">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4" name="Text Placeholder 5">
            <a:extLst>
              <a:ext uri="{FF2B5EF4-FFF2-40B4-BE49-F238E27FC236}">
                <a16:creationId xmlns:a16="http://schemas.microsoft.com/office/drawing/2014/main" id="{BC7DD257-65D3-9990-B7B4-8154E1C425DD}"/>
              </a:ext>
            </a:extLst>
          </p:cNvPr>
          <p:cNvSpPr>
            <a:spLocks noGrp="1"/>
          </p:cNvSpPr>
          <p:nvPr>
            <p:ph type="body" sz="quarter" idx="10"/>
          </p:nvPr>
        </p:nvSpPr>
        <p:spPr>
          <a:xfrm>
            <a:off x="73991" y="4905027"/>
            <a:ext cx="1966341" cy="137858"/>
          </a:xfrm>
        </p:spPr>
        <p:txBody>
          <a:bodyPr lIns="0" tIns="0" rIns="0" bIns="0">
            <a:noAutofit/>
          </a:bodyPr>
          <a:lstStyle>
            <a:lvl1pPr>
              <a:buNone/>
              <a:defRPr sz="6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endParaRPr lang="en-US"/>
          </a:p>
        </p:txBody>
      </p:sp>
      <p:cxnSp>
        <p:nvCxnSpPr>
          <p:cNvPr id="5" name="Straight Connector 4">
            <a:extLst>
              <a:ext uri="{FF2B5EF4-FFF2-40B4-BE49-F238E27FC236}">
                <a16:creationId xmlns:a16="http://schemas.microsoft.com/office/drawing/2014/main" id="{47382207-F206-09AA-81E0-C32D1390C096}"/>
              </a:ext>
            </a:extLst>
          </p:cNvPr>
          <p:cNvCxnSpPr>
            <a:cxnSpLocks/>
          </p:cNvCxnSpPr>
          <p:nvPr userDrawn="1"/>
        </p:nvCxnSpPr>
        <p:spPr>
          <a:xfrm>
            <a:off x="4791329" y="4819421"/>
            <a:ext cx="827439" cy="0"/>
          </a:xfrm>
          <a:prstGeom prst="line">
            <a:avLst/>
          </a:prstGeom>
          <a:ln w="31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Google Shape;16;p3">
            <a:extLst>
              <a:ext uri="{FF2B5EF4-FFF2-40B4-BE49-F238E27FC236}">
                <a16:creationId xmlns:a16="http://schemas.microsoft.com/office/drawing/2014/main" id="{86618A02-338D-07B6-D8AA-2EB5C78FF860}"/>
              </a:ext>
            </a:extLst>
          </p:cNvPr>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Tree>
    <p:extLst>
      <p:ext uri="{BB962C8B-B14F-4D97-AF65-F5344CB8AC3E}">
        <p14:creationId xmlns:p14="http://schemas.microsoft.com/office/powerpoint/2010/main" val="123576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Impact">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aphicFrame>
        <p:nvGraphicFramePr>
          <p:cNvPr id="3" name="Google Shape;20;p4">
            <a:extLst>
              <a:ext uri="{FF2B5EF4-FFF2-40B4-BE49-F238E27FC236}">
                <a16:creationId xmlns:a16="http://schemas.microsoft.com/office/drawing/2014/main" id="{534EA241-A0A5-3AED-65FE-36FEBF6FAAA3}"/>
              </a:ext>
            </a:extLst>
          </p:cNvPr>
          <p:cNvGraphicFramePr/>
          <p:nvPr userDrawn="1">
            <p:extLst>
              <p:ext uri="{D42A27DB-BD31-4B8C-83A1-F6EECF244321}">
                <p14:modId xmlns:p14="http://schemas.microsoft.com/office/powerpoint/2010/main" val="66560444"/>
              </p:ext>
            </p:extLst>
          </p:nvPr>
        </p:nvGraphicFramePr>
        <p:xfrm>
          <a:off x="1733723" y="4852006"/>
          <a:ext cx="5565844" cy="243900"/>
        </p:xfrm>
        <a:graphic>
          <a:graphicData uri="http://schemas.openxmlformats.org/drawingml/2006/table">
            <a:tbl>
              <a:tblPr firstRow="1" bandRow="1">
                <a:noFill/>
                <a:tableStyleId>{74F5B21E-941D-4FBC-96CA-9FAA6463E71C}</a:tableStyleId>
              </a:tblPr>
              <a:tblGrid>
                <a:gridCol w="1391461">
                  <a:extLst>
                    <a:ext uri="{9D8B030D-6E8A-4147-A177-3AD203B41FA5}">
                      <a16:colId xmlns:a16="http://schemas.microsoft.com/office/drawing/2014/main" val="20000"/>
                    </a:ext>
                  </a:extLst>
                </a:gridCol>
                <a:gridCol w="1391461">
                  <a:extLst>
                    <a:ext uri="{9D8B030D-6E8A-4147-A177-3AD203B41FA5}">
                      <a16:colId xmlns:a16="http://schemas.microsoft.com/office/drawing/2014/main" val="20001"/>
                    </a:ext>
                  </a:extLst>
                </a:gridCol>
                <a:gridCol w="1391461">
                  <a:extLst>
                    <a:ext uri="{9D8B030D-6E8A-4147-A177-3AD203B41FA5}">
                      <a16:colId xmlns:a16="http://schemas.microsoft.com/office/drawing/2014/main" val="20002"/>
                    </a:ext>
                  </a:extLst>
                </a:gridCol>
                <a:gridCol w="1391461">
                  <a:extLst>
                    <a:ext uri="{9D8B030D-6E8A-4147-A177-3AD203B41FA5}">
                      <a16:colId xmlns:a16="http://schemas.microsoft.com/office/drawing/2014/main" val="20003"/>
                    </a:ext>
                  </a:extLst>
                </a:gridCol>
              </a:tblGrid>
              <a:tr h="243900">
                <a:tc>
                  <a:txBody>
                    <a:bodyPr/>
                    <a:lstStyle/>
                    <a:p>
                      <a:pPr marL="0" marR="0" lvl="0" indent="0" algn="ctr" rtl="0">
                        <a:lnSpc>
                          <a:spcPct val="100000"/>
                        </a:lnSpc>
                        <a:spcBef>
                          <a:spcPts val="0"/>
                        </a:spcBef>
                        <a:spcAft>
                          <a:spcPts val="0"/>
                        </a:spcAft>
                        <a:buClr>
                          <a:srgbClr val="000000"/>
                        </a:buClr>
                        <a:buFont typeface="Arial"/>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Analysis</a:t>
                      </a:r>
                      <a:endParaRPr sz="800" b="0">
                        <a:solidFill>
                          <a:srgbClr val="595959"/>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Strategy</a:t>
                      </a:r>
                      <a:endParaRPr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0">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Implementation</a:t>
                      </a:r>
                      <a:endParaRPr sz="800" b="0" i="0" u="none" strike="noStrike" cap="none">
                        <a:solidFill>
                          <a:srgbClr val="7F7F7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CA" sz="800" b="1">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Impact</a:t>
                      </a:r>
                      <a:endParaRPr sz="800" b="1" u="none" strike="noStrike" cap="none">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5" name="Text Placeholder 5">
            <a:extLst>
              <a:ext uri="{FF2B5EF4-FFF2-40B4-BE49-F238E27FC236}">
                <a16:creationId xmlns:a16="http://schemas.microsoft.com/office/drawing/2014/main" id="{D5B9C23A-5FEB-4CDA-BD4C-691AE86546D5}"/>
              </a:ext>
            </a:extLst>
          </p:cNvPr>
          <p:cNvSpPr>
            <a:spLocks noGrp="1"/>
          </p:cNvSpPr>
          <p:nvPr>
            <p:ph type="body" sz="quarter" idx="11"/>
          </p:nvPr>
        </p:nvSpPr>
        <p:spPr>
          <a:xfrm>
            <a:off x="73991" y="4905027"/>
            <a:ext cx="1966341" cy="137858"/>
          </a:xfrm>
        </p:spPr>
        <p:txBody>
          <a:bodyPr lIns="0" tIns="0" rIns="0" bIns="0">
            <a:noAutofit/>
          </a:bodyPr>
          <a:lstStyle>
            <a:lvl1pPr>
              <a:buNone/>
              <a:defRPr sz="6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endParaRPr lang="en-US"/>
          </a:p>
        </p:txBody>
      </p:sp>
      <p:cxnSp>
        <p:nvCxnSpPr>
          <p:cNvPr id="6" name="Straight Connector 5">
            <a:extLst>
              <a:ext uri="{FF2B5EF4-FFF2-40B4-BE49-F238E27FC236}">
                <a16:creationId xmlns:a16="http://schemas.microsoft.com/office/drawing/2014/main" id="{BE8670A0-9A60-5991-2616-B463EB19A95E}"/>
              </a:ext>
            </a:extLst>
          </p:cNvPr>
          <p:cNvCxnSpPr>
            <a:cxnSpLocks/>
          </p:cNvCxnSpPr>
          <p:nvPr userDrawn="1"/>
        </p:nvCxnSpPr>
        <p:spPr>
          <a:xfrm>
            <a:off x="6213730" y="4819421"/>
            <a:ext cx="827439" cy="0"/>
          </a:xfrm>
          <a:prstGeom prst="line">
            <a:avLst/>
          </a:prstGeom>
          <a:ln w="31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Google Shape;16;p3">
            <a:extLst>
              <a:ext uri="{FF2B5EF4-FFF2-40B4-BE49-F238E27FC236}">
                <a16:creationId xmlns:a16="http://schemas.microsoft.com/office/drawing/2014/main" id="{F64BA803-B11A-AD14-B44E-DB507A7C6A97}"/>
              </a:ext>
            </a:extLst>
          </p:cNvPr>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Tree>
    <p:extLst>
      <p:ext uri="{BB962C8B-B14F-4D97-AF65-F5344CB8AC3E}">
        <p14:creationId xmlns:p14="http://schemas.microsoft.com/office/powerpoint/2010/main" val="1671114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Appendix">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aphicFrame>
        <p:nvGraphicFramePr>
          <p:cNvPr id="3" name="Google Shape;20;p4">
            <a:extLst>
              <a:ext uri="{FF2B5EF4-FFF2-40B4-BE49-F238E27FC236}">
                <a16:creationId xmlns:a16="http://schemas.microsoft.com/office/drawing/2014/main" id="{534EA241-A0A5-3AED-65FE-36FEBF6FAAA3}"/>
              </a:ext>
            </a:extLst>
          </p:cNvPr>
          <p:cNvGraphicFramePr/>
          <p:nvPr userDrawn="1">
            <p:extLst>
              <p:ext uri="{D42A27DB-BD31-4B8C-83A1-F6EECF244321}">
                <p14:modId xmlns:p14="http://schemas.microsoft.com/office/powerpoint/2010/main" val="3008728110"/>
              </p:ext>
            </p:extLst>
          </p:nvPr>
        </p:nvGraphicFramePr>
        <p:xfrm>
          <a:off x="3691716" y="4852006"/>
          <a:ext cx="1391461" cy="243900"/>
        </p:xfrm>
        <a:graphic>
          <a:graphicData uri="http://schemas.openxmlformats.org/drawingml/2006/table">
            <a:tbl>
              <a:tblPr firstRow="1" bandRow="1">
                <a:noFill/>
                <a:tableStyleId>{74F5B21E-941D-4FBC-96CA-9FAA6463E71C}</a:tableStyleId>
              </a:tblPr>
              <a:tblGrid>
                <a:gridCol w="1391461">
                  <a:extLst>
                    <a:ext uri="{9D8B030D-6E8A-4147-A177-3AD203B41FA5}">
                      <a16:colId xmlns:a16="http://schemas.microsoft.com/office/drawing/2014/main" val="20003"/>
                    </a:ext>
                  </a:extLst>
                </a:gridCol>
              </a:tblGrid>
              <a:tr h="243900">
                <a:tc>
                  <a:txBody>
                    <a:bodyPr/>
                    <a:lstStyle/>
                    <a:p>
                      <a:pPr marL="0" marR="0" lvl="0" indent="0" algn="ctr" rtl="0">
                        <a:lnSpc>
                          <a:spcPct val="100000"/>
                        </a:lnSpc>
                        <a:spcBef>
                          <a:spcPts val="0"/>
                        </a:spcBef>
                        <a:spcAft>
                          <a:spcPts val="0"/>
                        </a:spcAft>
                        <a:buNone/>
                      </a:pPr>
                      <a:r>
                        <a:rPr lang="en-CA" sz="800" b="1">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Appendix</a:t>
                      </a:r>
                      <a:endParaRPr sz="800" b="1" u="none" strike="noStrike" cap="none">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5" name="Text Placeholder 5">
            <a:extLst>
              <a:ext uri="{FF2B5EF4-FFF2-40B4-BE49-F238E27FC236}">
                <a16:creationId xmlns:a16="http://schemas.microsoft.com/office/drawing/2014/main" id="{D5B9C23A-5FEB-4CDA-BD4C-691AE86546D5}"/>
              </a:ext>
            </a:extLst>
          </p:cNvPr>
          <p:cNvSpPr>
            <a:spLocks noGrp="1"/>
          </p:cNvSpPr>
          <p:nvPr>
            <p:ph type="body" sz="quarter" idx="11"/>
          </p:nvPr>
        </p:nvSpPr>
        <p:spPr>
          <a:xfrm>
            <a:off x="73991" y="4905027"/>
            <a:ext cx="1966341" cy="137858"/>
          </a:xfrm>
        </p:spPr>
        <p:txBody>
          <a:bodyPr lIns="0" tIns="0" rIns="0" bIns="0">
            <a:noAutofit/>
          </a:bodyPr>
          <a:lstStyle>
            <a:lvl1pPr>
              <a:buNone/>
              <a:defRPr sz="6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endParaRPr lang="en-US"/>
          </a:p>
        </p:txBody>
      </p:sp>
      <p:cxnSp>
        <p:nvCxnSpPr>
          <p:cNvPr id="6" name="Straight Connector 5">
            <a:extLst>
              <a:ext uri="{FF2B5EF4-FFF2-40B4-BE49-F238E27FC236}">
                <a16:creationId xmlns:a16="http://schemas.microsoft.com/office/drawing/2014/main" id="{BE8670A0-9A60-5991-2616-B463EB19A95E}"/>
              </a:ext>
            </a:extLst>
          </p:cNvPr>
          <p:cNvCxnSpPr>
            <a:cxnSpLocks/>
          </p:cNvCxnSpPr>
          <p:nvPr userDrawn="1"/>
        </p:nvCxnSpPr>
        <p:spPr>
          <a:xfrm>
            <a:off x="3973727" y="4819421"/>
            <a:ext cx="827439" cy="0"/>
          </a:xfrm>
          <a:prstGeom prst="line">
            <a:avLst/>
          </a:prstGeom>
          <a:ln w="31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Google Shape;16;p3">
            <a:extLst>
              <a:ext uri="{FF2B5EF4-FFF2-40B4-BE49-F238E27FC236}">
                <a16:creationId xmlns:a16="http://schemas.microsoft.com/office/drawing/2014/main" id="{58B815EC-8A4F-7145-8499-BCE3732AE98F}"/>
              </a:ext>
            </a:extLst>
          </p:cNvPr>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Tree>
    <p:extLst>
      <p:ext uri="{BB962C8B-B14F-4D97-AF65-F5344CB8AC3E}">
        <p14:creationId xmlns:p14="http://schemas.microsoft.com/office/powerpoint/2010/main" val="188962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 Placeholder 5">
            <a:extLst>
              <a:ext uri="{FF2B5EF4-FFF2-40B4-BE49-F238E27FC236}">
                <a16:creationId xmlns:a16="http://schemas.microsoft.com/office/drawing/2014/main" id="{D5B9C23A-5FEB-4CDA-BD4C-691AE86546D5}"/>
              </a:ext>
            </a:extLst>
          </p:cNvPr>
          <p:cNvSpPr>
            <a:spLocks noGrp="1"/>
          </p:cNvSpPr>
          <p:nvPr>
            <p:ph type="body" sz="quarter" idx="11"/>
          </p:nvPr>
        </p:nvSpPr>
        <p:spPr>
          <a:xfrm>
            <a:off x="73991" y="4905027"/>
            <a:ext cx="1966341" cy="137858"/>
          </a:xfrm>
        </p:spPr>
        <p:txBody>
          <a:bodyPr lIns="0" tIns="0" rIns="0" bIns="0">
            <a:noAutofit/>
          </a:bodyPr>
          <a:lstStyle>
            <a:lvl1pPr>
              <a:buNone/>
              <a:defRPr sz="600" b="0">
                <a:solidFill>
                  <a:schemeClr val="tx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a:buNone/>
              <a:defRPr sz="600">
                <a:latin typeface="Helvetica Neue" panose="02000503000000020004" pitchFamily="2" charset="0"/>
                <a:ea typeface="Helvetica Neue" panose="02000503000000020004" pitchFamily="2" charset="0"/>
                <a:cs typeface="Helvetica Neue" panose="02000503000000020004" pitchFamily="2" charset="0"/>
              </a:defRPr>
            </a:lvl2pPr>
            <a:lvl3pPr>
              <a:buNone/>
              <a:defRPr sz="600">
                <a:latin typeface="Helvetica Neue" panose="02000503000000020004" pitchFamily="2" charset="0"/>
                <a:ea typeface="Helvetica Neue" panose="02000503000000020004" pitchFamily="2" charset="0"/>
                <a:cs typeface="Helvetica Neue" panose="02000503000000020004" pitchFamily="2" charset="0"/>
              </a:defRPr>
            </a:lvl3pPr>
            <a:lvl4pPr>
              <a:buNone/>
              <a:defRPr sz="600">
                <a:latin typeface="Helvetica Neue" panose="02000503000000020004" pitchFamily="2" charset="0"/>
                <a:ea typeface="Helvetica Neue" panose="02000503000000020004" pitchFamily="2" charset="0"/>
                <a:cs typeface="Helvetica Neue" panose="02000503000000020004" pitchFamily="2" charset="0"/>
              </a:defRPr>
            </a:lvl4pPr>
            <a:lvl5pPr>
              <a:buNone/>
              <a:defRPr sz="600">
                <a:latin typeface="Helvetica Neue" panose="02000503000000020004" pitchFamily="2" charset="0"/>
                <a:ea typeface="Helvetica Neue" panose="02000503000000020004" pitchFamily="2" charset="0"/>
                <a:cs typeface="Helvetica Neue" panose="02000503000000020004" pitchFamily="2" charset="0"/>
              </a:defRPr>
            </a:lvl5pPr>
          </a:lstStyle>
          <a:p>
            <a:pPr lvl="0"/>
            <a:endParaRPr lang="en-US"/>
          </a:p>
        </p:txBody>
      </p:sp>
      <p:sp>
        <p:nvSpPr>
          <p:cNvPr id="4" name="Google Shape;16;p3">
            <a:extLst>
              <a:ext uri="{FF2B5EF4-FFF2-40B4-BE49-F238E27FC236}">
                <a16:creationId xmlns:a16="http://schemas.microsoft.com/office/drawing/2014/main" id="{58B815EC-8A4F-7145-8499-BCE3732AE98F}"/>
              </a:ext>
            </a:extLst>
          </p:cNvPr>
          <p:cNvSpPr txBox="1">
            <a:spLocks noGrp="1"/>
          </p:cNvSpPr>
          <p:nvPr>
            <p:ph type="title"/>
          </p:nvPr>
        </p:nvSpPr>
        <p:spPr>
          <a:xfrm>
            <a:off x="73991" y="152911"/>
            <a:ext cx="8980800" cy="424135"/>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sz="1800">
                <a:solidFill>
                  <a:schemeClr val="accent1"/>
                </a:solidFill>
                <a:latin typeface="Helvetica Neue" panose="02000503000000020004" pitchFamily="2" charset="0"/>
                <a:ea typeface="Helvetica Neue" panose="02000503000000020004" pitchFamily="2" charset="0"/>
                <a:cs typeface="Helvetica Neue" panose="02000503000000020004" pitchFamily="2" charset="0"/>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Tree>
    <p:extLst>
      <p:ext uri="{BB962C8B-B14F-4D97-AF65-F5344CB8AC3E}">
        <p14:creationId xmlns:p14="http://schemas.microsoft.com/office/powerpoint/2010/main" val="3442685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3EF3B2-85CB-9E71-4A70-49FBE8ED4042}"/>
              </a:ext>
            </a:extLst>
          </p:cNvPr>
          <p:cNvGraphicFramePr>
            <a:graphicFrameLocks/>
          </p:cNvGraphicFramePr>
          <p:nvPr userDrawn="1">
            <p:custDataLst>
              <p:tags r:id="rId1"/>
            </p:custDataLst>
            <p:extLst>
              <p:ext uri="{D42A27DB-BD31-4B8C-83A1-F6EECF244321}">
                <p14:modId xmlns:p14="http://schemas.microsoft.com/office/powerpoint/2010/main" val="933544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think-cell data - do not delete" hidden="1">
                        <a:extLst>
                          <a:ext uri="{FF2B5EF4-FFF2-40B4-BE49-F238E27FC236}">
                            <a16:creationId xmlns:a16="http://schemas.microsoft.com/office/drawing/2014/main" id="{603EF3B2-85CB-9E71-4A70-49FBE8ED4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66FD7AA1-606E-91D7-0BE1-BC2FEE670E5A}"/>
              </a:ext>
            </a:extLst>
          </p:cNvPr>
          <p:cNvSpPr/>
          <p:nvPr userDrawn="1"/>
        </p:nvSpPr>
        <p:spPr>
          <a:xfrm>
            <a:off x="0" y="0"/>
            <a:ext cx="873760" cy="721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4940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CEBC14C-624D-D6D7-BDEE-46F84B73B5A6}"/>
              </a:ext>
            </a:extLst>
          </p:cNvPr>
          <p:cNvGraphicFramePr>
            <a:graphicFrameLocks/>
          </p:cNvGraphicFramePr>
          <p:nvPr userDrawn="1">
            <p:custDataLst>
              <p:tags r:id="rId9"/>
            </p:custDataLst>
            <p:extLst>
              <p:ext uri="{D42A27DB-BD31-4B8C-83A1-F6EECF244321}">
                <p14:modId xmlns:p14="http://schemas.microsoft.com/office/powerpoint/2010/main" val="5796023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2" name="think-cell data - do not delete" hidden="1">
                        <a:extLst>
                          <a:ext uri="{FF2B5EF4-FFF2-40B4-BE49-F238E27FC236}">
                            <a16:creationId xmlns:a16="http://schemas.microsoft.com/office/drawing/2014/main" id="{0CEBC14C-624D-D6D7-BDEE-46F84B73B5A6}"/>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pic>
        <p:nvPicPr>
          <p:cNvPr id="3" name="Picture 2">
            <a:hlinkClick r:id="" action="ppaction://noaction"/>
            <a:extLst>
              <a:ext uri="{FF2B5EF4-FFF2-40B4-BE49-F238E27FC236}">
                <a16:creationId xmlns:a16="http://schemas.microsoft.com/office/drawing/2014/main" id="{1120A467-D5FD-FB26-D9AC-9CB7B5F46A9E}"/>
              </a:ext>
            </a:extLst>
          </p:cNvPr>
          <p:cNvPicPr>
            <a:picLocks noChangeAspect="1"/>
          </p:cNvPicPr>
          <p:nvPr userDrawn="1"/>
        </p:nvPicPr>
        <p:blipFill>
          <a:blip r:embed="rId12"/>
          <a:stretch>
            <a:fillRect/>
          </a:stretch>
        </p:blipFill>
        <p:spPr>
          <a:xfrm>
            <a:off x="8010144" y="4313710"/>
            <a:ext cx="1133856" cy="813529"/>
          </a:xfrm>
          <a:prstGeom prst="rect">
            <a:avLst/>
          </a:prstGeom>
        </p:spPr>
      </p:pic>
      <p:sp>
        <p:nvSpPr>
          <p:cNvPr id="6" name="Google Shape;6;p1"/>
          <p:cNvSpPr txBox="1">
            <a:spLocks noGrp="1"/>
          </p:cNvSpPr>
          <p:nvPr>
            <p:ph type="title"/>
          </p:nvPr>
        </p:nvSpPr>
        <p:spPr>
          <a:xfrm>
            <a:off x="82800" y="76050"/>
            <a:ext cx="85206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000"/>
              <a:buFont typeface="Source Sans Pro"/>
              <a:buNone/>
              <a:defRPr sz="2000" b="1">
                <a:solidFill>
                  <a:schemeClr val="dk1"/>
                </a:solidFill>
                <a:latin typeface="Source Sans Pro"/>
                <a:ea typeface="Source Sans Pro"/>
                <a:cs typeface="Source Sans Pro"/>
                <a:sym typeface="Source Sans Pro"/>
              </a:defRPr>
            </a:lvl1pPr>
            <a:lvl2pPr lvl="1">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2pPr>
            <a:lvl3pPr lvl="2">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3pPr>
            <a:lvl4pPr lvl="3">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4pPr>
            <a:lvl5pPr lvl="4">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5pPr>
            <a:lvl6pPr lvl="5">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6pPr>
            <a:lvl7pPr lvl="6">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7pPr>
            <a:lvl8pPr lvl="7">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8pPr>
            <a:lvl9pPr lvl="8">
              <a:spcBef>
                <a:spcPts val="0"/>
              </a:spcBef>
              <a:spcAft>
                <a:spcPts val="0"/>
              </a:spcAft>
              <a:buClr>
                <a:schemeClr val="dk1"/>
              </a:buClr>
              <a:buSzPts val="2200"/>
              <a:buFont typeface="Source Sans Pro"/>
              <a:buNone/>
              <a:defRPr sz="2200" b="1">
                <a:solidFill>
                  <a:schemeClr val="dk1"/>
                </a:solidFill>
                <a:latin typeface="Source Sans Pro"/>
                <a:ea typeface="Source Sans Pro"/>
                <a:cs typeface="Source Sans Pro"/>
                <a:sym typeface="Source Sans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CA"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Source Sans Pro"/>
              </a:rPr>
              <a:t>‹#›</a:t>
            </a:fld>
            <a:endParaRPr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cxnSp>
        <p:nvCxnSpPr>
          <p:cNvPr id="9" name="Google Shape;9;p1"/>
          <p:cNvCxnSpPr/>
          <p:nvPr/>
        </p:nvCxnSpPr>
        <p:spPr>
          <a:xfrm>
            <a:off x="8734525" y="4859425"/>
            <a:ext cx="0" cy="165600"/>
          </a:xfrm>
          <a:prstGeom prst="straightConnector1">
            <a:avLst/>
          </a:prstGeom>
          <a:noFill/>
          <a:ln w="9525" cap="flat" cmpd="sng">
            <a:solidFill>
              <a:srgbClr val="D9D9D9"/>
            </a:solidFill>
            <a:prstDash val="solid"/>
            <a:round/>
            <a:headEnd type="none" w="med" len="med"/>
            <a:tailEnd type="none" w="med" len="med"/>
          </a:ln>
        </p:spPr>
      </p:cxnSp>
      <p:sp>
        <p:nvSpPr>
          <p:cNvPr id="10" name="Google Shape;10;p1"/>
          <p:cNvSpPr/>
          <p:nvPr/>
        </p:nvSpPr>
        <p:spPr>
          <a:xfrm>
            <a:off x="-28300" y="5107327"/>
            <a:ext cx="9202800" cy="6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Google Shape;11;p1"/>
          <p:cNvSpPr/>
          <p:nvPr/>
        </p:nvSpPr>
        <p:spPr>
          <a:xfrm>
            <a:off x="-17425" y="125250"/>
            <a:ext cx="100200" cy="48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5" name="Picture 4" descr="logo-canai-2026.png">
            <a:extLst>
              <a:ext uri="{FF2B5EF4-FFF2-40B4-BE49-F238E27FC236}">
                <a16:creationId xmlns:a16="http://schemas.microsoft.com/office/drawing/2014/main" id="{448E0746-DCE0-016F-0FDB-E62A079AFF43}"/>
              </a:ext>
            </a:extLst>
          </p:cNvPr>
          <p:cNvPicPr>
            <a:picLocks noChangeAspect="1"/>
          </p:cNvPicPr>
          <p:nvPr userDrawn="1"/>
        </p:nvPicPr>
        <p:blipFill>
          <a:blip r:embed="rId13"/>
          <a:stretch>
            <a:fillRect/>
          </a:stretch>
        </p:blipFill>
        <p:spPr>
          <a:xfrm>
            <a:off x="7095240" y="163289"/>
            <a:ext cx="1965960" cy="345619"/>
          </a:xfrm>
          <a:prstGeom prst="rect">
            <a:avLst/>
          </a:prstGeom>
        </p:spPr>
      </p:pic>
    </p:spTree>
  </p:cSld>
  <p:clrMap bg1="lt1" tx1="dk1" bg2="dk2" tx2="lt2" accent1="accent1" accent2="accent2" accent3="accent3" accent4="accent4" accent5="accent5" accent6="accent6" hlink="hlink" folHlink="folHlink"/>
  <p:sldLayoutIdLst>
    <p:sldLayoutId id="2147483653" r:id="rId1"/>
    <p:sldLayoutId id="2147483655" r:id="rId2"/>
    <p:sldLayoutId id="2147483656" r:id="rId3"/>
    <p:sldLayoutId id="2147483657" r:id="rId4"/>
    <p:sldLayoutId id="2147483660" r:id="rId5"/>
    <p:sldLayoutId id="2147483661"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image" Target="../media/image7.emf"/><Relationship Id="rId4"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8.emf"/><Relationship Id="rId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image" Target="../media/image9.e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5.xml"/><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6.xml"/><Relationship Id="rId7" Type="http://schemas.openxmlformats.org/officeDocument/2006/relationships/image" Target="../media/image15.png"/><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4.png"/><Relationship Id="rId5" Type="http://schemas.openxmlformats.org/officeDocument/2006/relationships/image" Target="../media/image10.emf"/><Relationship Id="rId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8.png"/><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7.png"/><Relationship Id="rId5" Type="http://schemas.openxmlformats.org/officeDocument/2006/relationships/image" Target="../media/image11.emf"/><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9.png"/><Relationship Id="rId5" Type="http://schemas.openxmlformats.org/officeDocument/2006/relationships/image" Target="../media/image11.e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1.png"/><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8D92-BD61-BB31-8507-E00CCFEC644F}"/>
            </a:ext>
          </a:extLst>
        </p:cNvPr>
        <p:cNvGrpSpPr/>
        <p:nvPr/>
      </p:nvGrpSpPr>
      <p:grpSpPr>
        <a:xfrm>
          <a:off x="0" y="0"/>
          <a:ext cx="0" cy="0"/>
          <a:chOff x="0" y="0"/>
          <a:chExt cx="0" cy="0"/>
        </a:xfrm>
      </p:grpSpPr>
      <p:pic>
        <p:nvPicPr>
          <p:cNvPr id="8" name="Picture 7" descr="FullGraph.png">
            <a:extLst>
              <a:ext uri="{FF2B5EF4-FFF2-40B4-BE49-F238E27FC236}">
                <a16:creationId xmlns:a16="http://schemas.microsoft.com/office/drawing/2014/main" id="{BBCACEBD-C2D0-C86A-6A0A-97AAB1A193CE}"/>
              </a:ext>
            </a:extLst>
          </p:cNvPr>
          <p:cNvPicPr>
            <a:picLocks noChangeAspect="1"/>
          </p:cNvPicPr>
          <p:nvPr/>
        </p:nvPicPr>
        <p:blipFill>
          <a:blip r:embed="rId4"/>
          <a:stretch>
            <a:fillRect/>
          </a:stretch>
        </p:blipFill>
        <p:spPr>
          <a:xfrm>
            <a:off x="2" y="0"/>
            <a:ext cx="9138971" cy="5140800"/>
          </a:xfrm>
          <a:prstGeom prst="rect">
            <a:avLst/>
          </a:prstGeom>
        </p:spPr>
      </p:pic>
      <p:graphicFrame>
        <p:nvGraphicFramePr>
          <p:cNvPr id="37" name="think-cell data - do not delete" hidden="1">
            <a:extLst>
              <a:ext uri="{FF2B5EF4-FFF2-40B4-BE49-F238E27FC236}">
                <a16:creationId xmlns:a16="http://schemas.microsoft.com/office/drawing/2014/main" id="{192FFF47-A04C-E883-8A55-1426E91FCBC2}"/>
              </a:ext>
            </a:extLst>
          </p:cNvPr>
          <p:cNvGraphicFramePr>
            <a:graphicFrameLocks/>
          </p:cNvGraphicFramePr>
          <p:nvPr>
            <p:custDataLst>
              <p:tags r:id="rId1"/>
            </p:custDataLst>
            <p:extLst>
              <p:ext uri="{D42A27DB-BD31-4B8C-83A1-F6EECF244321}">
                <p14:modId xmlns:p14="http://schemas.microsoft.com/office/powerpoint/2010/main" val="208854522"/>
              </p:ext>
            </p:extLst>
          </p:nvPr>
        </p:nvGraphicFramePr>
        <p:xfrm>
          <a:off x="1192" y="1191"/>
          <a:ext cx="920" cy="1191"/>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37" name="think-cell data - do not delete" hidden="1">
                        <a:extLst>
                          <a:ext uri="{FF2B5EF4-FFF2-40B4-BE49-F238E27FC236}">
                            <a16:creationId xmlns:a16="http://schemas.microsoft.com/office/drawing/2014/main" id="{192FFF47-A04C-E883-8A55-1426E91FCBC2}"/>
                          </a:ext>
                        </a:extLst>
                      </p:cNvPr>
                      <p:cNvPicPr/>
                      <p:nvPr/>
                    </p:nvPicPr>
                    <p:blipFill>
                      <a:blip r:embed="rId6"/>
                      <a:stretch>
                        <a:fillRect/>
                      </a:stretch>
                    </p:blipFill>
                    <p:spPr>
                      <a:xfrm>
                        <a:off x="1192" y="1191"/>
                        <a:ext cx="920" cy="1191"/>
                      </a:xfrm>
                      <a:prstGeom prst="rect">
                        <a:avLst/>
                      </a:prstGeom>
                    </p:spPr>
                  </p:pic>
                </p:oleObj>
              </mc:Fallback>
            </mc:AlternateContent>
          </a:graphicData>
        </a:graphic>
      </p:graphicFrame>
      <p:sp>
        <p:nvSpPr>
          <p:cNvPr id="2" name="Google Shape;55;p13">
            <a:extLst>
              <a:ext uri="{FF2B5EF4-FFF2-40B4-BE49-F238E27FC236}">
                <a16:creationId xmlns:a16="http://schemas.microsoft.com/office/drawing/2014/main" id="{413DDA8C-D82E-2DC3-D88A-D0229FE877C5}"/>
              </a:ext>
            </a:extLst>
          </p:cNvPr>
          <p:cNvSpPr/>
          <p:nvPr/>
        </p:nvSpPr>
        <p:spPr>
          <a:xfrm rot="10800000">
            <a:off x="-7522" y="-10380"/>
            <a:ext cx="9151521" cy="5151923"/>
          </a:xfrm>
          <a:prstGeom prst="rect">
            <a:avLst/>
          </a:prstGeom>
          <a:gradFill>
            <a:gsLst>
              <a:gs pos="0">
                <a:schemeClr val="accent1">
                  <a:lumMod val="75000"/>
                </a:schemeClr>
              </a:gs>
              <a:gs pos="32000">
                <a:schemeClr val="accent1">
                  <a:lumMod val="75000"/>
                </a:schemeClr>
              </a:gs>
              <a:gs pos="81000">
                <a:srgbClr val="141414">
                  <a:alpha val="43529"/>
                  <a:alpha val="32910"/>
                </a:srgbClr>
              </a:gs>
            </a:gsLst>
            <a:lin ang="10800000" scaled="0"/>
          </a:gradFill>
          <a:ln>
            <a:noFill/>
          </a:ln>
        </p:spPr>
        <p:txBody>
          <a:bodyPr spcFirstLastPara="1" wrap="square" lIns="68569" tIns="68569" rIns="68569" bIns="68569" anchor="ctr" anchorCtr="0">
            <a:noAutofit/>
          </a:bodyPr>
          <a:lstStyle/>
          <a:p>
            <a:endParaRPr sz="105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F6BB6738-6FFC-8588-A55A-6C8CD68DA246}"/>
              </a:ext>
            </a:extLst>
          </p:cNvPr>
          <p:cNvSpPr txBox="1"/>
          <p:nvPr/>
        </p:nvSpPr>
        <p:spPr>
          <a:xfrm>
            <a:off x="289262" y="1015438"/>
            <a:ext cx="5806738" cy="830997"/>
          </a:xfrm>
          <a:prstGeom prst="rect">
            <a:avLst/>
          </a:prstGeom>
          <a:noFill/>
          <a:effectLst>
            <a:outerShdw blurRad="50800" dist="38100" dir="2700000" algn="tl" rotWithShape="0">
              <a:prstClr val="black">
                <a:alpha val="91000"/>
              </a:prstClr>
            </a:outerShdw>
          </a:effectLst>
        </p:spPr>
        <p:txBody>
          <a:bodyPr wrap="square" rtlCol="0">
            <a:spAutoFit/>
          </a:bodyPr>
          <a:lstStyle/>
          <a:p>
            <a:r>
              <a:rPr lang="en-CA" sz="2400" b="1" dirty="0">
                <a:solidFill>
                  <a:srgbClr val="FFFFFF"/>
                </a:solidFill>
              </a:rPr>
              <a:t>Execution-Aware A* Search for
Cross-Exchange Stablecoin Arbitrage</a:t>
            </a:r>
          </a:p>
        </p:txBody>
      </p:sp>
      <p:sp>
        <p:nvSpPr>
          <p:cNvPr id="17" name="TextBox 16">
            <a:extLst>
              <a:ext uri="{FF2B5EF4-FFF2-40B4-BE49-F238E27FC236}">
                <a16:creationId xmlns:a16="http://schemas.microsoft.com/office/drawing/2014/main" id="{7D570F59-B905-ACA9-9FE0-752DF6755F04}"/>
              </a:ext>
            </a:extLst>
          </p:cNvPr>
          <p:cNvSpPr txBox="1"/>
          <p:nvPr/>
        </p:nvSpPr>
        <p:spPr>
          <a:xfrm>
            <a:off x="342522" y="3391344"/>
            <a:ext cx="4808122" cy="1031051"/>
          </a:xfrm>
          <a:prstGeom prst="rect">
            <a:avLst/>
          </a:prstGeom>
          <a:noFill/>
          <a:effectLst>
            <a:outerShdw blurRad="50800" dist="38100" dir="8100000" algn="tr" rotWithShape="0">
              <a:prstClr val="black">
                <a:alpha val="63907"/>
              </a:prstClr>
            </a:outerShdw>
          </a:effectLst>
        </p:spPr>
        <p:txBody>
          <a:bodyPr wrap="square" rtlCol="0">
            <a:spAutoFit/>
          </a:bodyPr>
          <a:lstStyle/>
          <a:p>
            <a:pPr>
              <a:spcAft>
                <a:spcPts val="225"/>
              </a:spcAft>
            </a:pPr>
            <a:r>
              <a:rPr lang="en-US" b="1" dirty="0">
                <a:solidFill>
                  <a:schemeClr val="bg1"/>
                </a:solidFill>
                <a:latin typeface="+mn-lt"/>
                <a:ea typeface="Helvetica Neue" panose="02000503000000020004" pitchFamily="2" charset="0"/>
                <a:cs typeface="Helvetica Neue" panose="02000503000000020004" pitchFamily="2" charset="0"/>
              </a:rPr>
              <a:t>Kevin Litvin – Simon Fraser University</a:t>
            </a:r>
          </a:p>
          <a:p>
            <a:pPr>
              <a:spcAft>
                <a:spcPts val="225"/>
              </a:spcAft>
            </a:pPr>
            <a:r>
              <a:rPr lang="en-CA" dirty="0">
                <a:solidFill>
                  <a:srgbClr val="AAAAAA"/>
                </a:solidFill>
                <a:latin typeface="+mn-lt"/>
              </a:rPr>
              <a:t>github.com/kevinl03/Stablecoin-</a:t>
            </a:r>
            <a:r>
              <a:rPr lang="en-CA" dirty="0" err="1">
                <a:solidFill>
                  <a:srgbClr val="AAAAAA"/>
                </a:solidFill>
                <a:latin typeface="+mn-lt"/>
              </a:rPr>
              <a:t>CrossExchange</a:t>
            </a:r>
            <a:r>
              <a:rPr lang="en-CA" dirty="0">
                <a:solidFill>
                  <a:srgbClr val="AAAAAA"/>
                </a:solidFill>
                <a:latin typeface="+mn-lt"/>
              </a:rPr>
              <a:t>-Arbitrage</a:t>
            </a:r>
            <a:r>
              <a:rPr lang="en-US" b="1" dirty="0">
                <a:solidFill>
                  <a:schemeClr val="bg1"/>
                </a:solidFill>
                <a:latin typeface="+mn-lt"/>
                <a:ea typeface="Helvetica Neue" panose="02000503000000020004" pitchFamily="2" charset="0"/>
                <a:cs typeface="Helvetica Neue" panose="02000503000000020004" pitchFamily="2" charset="0"/>
              </a:rPr>
              <a:t> </a:t>
            </a:r>
          </a:p>
          <a:p>
            <a:pPr>
              <a:spcAft>
                <a:spcPts val="225"/>
              </a:spcAft>
            </a:pPr>
            <a:endParaRPr lang="en-US" b="1" dirty="0">
              <a:solidFill>
                <a:schemeClr val="bg1"/>
              </a:solidFill>
              <a:latin typeface="+mn-lt"/>
              <a:ea typeface="Helvetica Neue" panose="02000503000000020004" pitchFamily="2" charset="0"/>
              <a:cs typeface="Helvetica Neue" panose="02000503000000020004" pitchFamily="2" charset="0"/>
            </a:endParaRPr>
          </a:p>
          <a:p>
            <a:pPr>
              <a:spcAft>
                <a:spcPts val="225"/>
              </a:spcAft>
            </a:pPr>
            <a:r>
              <a:rPr lang="en-US" b="1" dirty="0">
                <a:solidFill>
                  <a:schemeClr val="bg1"/>
                </a:solidFill>
                <a:latin typeface="+mn-lt"/>
                <a:ea typeface="Helvetica Neue" panose="02000503000000020004" pitchFamily="2" charset="0"/>
                <a:cs typeface="Helvetica Neue" panose="02000503000000020004" pitchFamily="2" charset="0"/>
              </a:rPr>
              <a:t>Canadian AI 2026 - GSS</a:t>
            </a:r>
          </a:p>
        </p:txBody>
      </p:sp>
      <p:sp>
        <p:nvSpPr>
          <p:cNvPr id="7" name="TextBox 6">
            <a:extLst>
              <a:ext uri="{FF2B5EF4-FFF2-40B4-BE49-F238E27FC236}">
                <a16:creationId xmlns:a16="http://schemas.microsoft.com/office/drawing/2014/main" id="{B789A3CF-2D2F-15C5-A4C2-6E035A70C632}"/>
              </a:ext>
            </a:extLst>
          </p:cNvPr>
          <p:cNvSpPr txBox="1"/>
          <p:nvPr/>
        </p:nvSpPr>
        <p:spPr>
          <a:xfrm>
            <a:off x="342522" y="2085410"/>
            <a:ext cx="5334378" cy="1066959"/>
          </a:xfrm>
          <a:prstGeom prst="rect">
            <a:avLst/>
          </a:prstGeom>
          <a:noFill/>
          <a:effectLst>
            <a:outerShdw blurRad="50800" dist="38100" dir="8100000" algn="tr" rotWithShape="0">
              <a:prstClr val="black">
                <a:alpha val="63907"/>
              </a:prstClr>
            </a:outerShdw>
          </a:effectLst>
        </p:spPr>
        <p:txBody>
          <a:bodyPr wrap="square" rtlCol="0">
            <a:spAutoFit/>
          </a:bodyPr>
          <a:lstStyle/>
          <a:p>
            <a:pPr>
              <a:spcAft>
                <a:spcPts val="225"/>
              </a:spcAft>
            </a:pPr>
            <a:r>
              <a:rPr lang="en-CA" sz="1600" i="1" dirty="0">
                <a:solidFill>
                  <a:schemeClr val="bg1"/>
                </a:solidFill>
              </a:rPr>
              <a:t>Can domain-specific heuristics steer search faster than
general-purpose graph algorithms without sacrificing profit?</a:t>
            </a:r>
          </a:p>
          <a:p>
            <a:pPr>
              <a:spcAft>
                <a:spcPts val="225"/>
              </a:spcAft>
            </a:pPr>
            <a:endParaRPr lang="en-US" sz="12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334DC6B8-543F-5581-A84D-03EE7CB02632}"/>
              </a:ext>
            </a:extLst>
          </p:cNvPr>
          <p:cNvSpPr txBox="1"/>
          <p:nvPr/>
        </p:nvSpPr>
        <p:spPr>
          <a:xfrm>
            <a:off x="7924800" y="6343650"/>
            <a:ext cx="0" cy="0"/>
          </a:xfrm>
          <a:prstGeom prst="rect">
            <a:avLst/>
          </a:prstGeom>
          <a:noFill/>
        </p:spPr>
        <p:txBody>
          <a:bodyPr wrap="none" rtlCol="0">
            <a:noAutofit/>
          </a:bodyPr>
          <a:lstStyle/>
          <a:p>
            <a:pPr algn="l"/>
            <a:endParaRPr lang="en-US" sz="105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CD73753B-6455-317D-2572-AA3B28A1ABEF}"/>
              </a:ext>
            </a:extLst>
          </p:cNvPr>
          <p:cNvSpPr>
            <a:spLocks noGrp="1"/>
          </p:cNvSpPr>
          <p:nvPr>
            <p:ph type="body" sz="quarter" idx="10"/>
          </p:nvPr>
        </p:nvSpPr>
        <p:spPr/>
        <p:txBody>
          <a:bodyPr/>
          <a:lstStyle/>
          <a:p>
            <a:endParaRPr lang="en-CA"/>
          </a:p>
        </p:txBody>
      </p:sp>
      <p:sp>
        <p:nvSpPr>
          <p:cNvPr id="9" name="Text Placeholder 8">
            <a:extLst>
              <a:ext uri="{FF2B5EF4-FFF2-40B4-BE49-F238E27FC236}">
                <a16:creationId xmlns:a16="http://schemas.microsoft.com/office/drawing/2014/main" id="{E5E6FB07-08EB-2A8C-8DB4-93E6E6AA0C2D}"/>
              </a:ext>
            </a:extLst>
          </p:cNvPr>
          <p:cNvSpPr>
            <a:spLocks noGrp="1"/>
          </p:cNvSpPr>
          <p:nvPr>
            <p:ph type="body" sz="quarter" idx="11"/>
          </p:nvPr>
        </p:nvSpPr>
        <p:spPr/>
        <p:txBody>
          <a:bodyPr/>
          <a:lstStyle/>
          <a:p>
            <a:endParaRPr lang="en-CA"/>
          </a:p>
        </p:txBody>
      </p:sp>
    </p:spTree>
    <p:extLst>
      <p:ext uri="{BB962C8B-B14F-4D97-AF65-F5344CB8AC3E}">
        <p14:creationId xmlns:p14="http://schemas.microsoft.com/office/powerpoint/2010/main" val="48454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4">
          <a:extLst>
            <a:ext uri="{FF2B5EF4-FFF2-40B4-BE49-F238E27FC236}">
              <a16:creationId xmlns:a16="http://schemas.microsoft.com/office/drawing/2014/main" id="{749E7C08-71B4-7667-72DE-A2C1C0A2A0F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3A0DCE3-8754-66EB-487F-1005EE10F24E}"/>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F3A0DCE3-8754-66EB-487F-1005EE10F24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D6DA33-B3D0-F623-44C4-B7B161B912F0}"/>
              </a:ext>
            </a:extLst>
          </p:cNvPr>
          <p:cNvSpPr>
            <a:spLocks noGrp="1"/>
          </p:cNvSpPr>
          <p:nvPr>
            <p:ph type="title"/>
          </p:nvPr>
        </p:nvSpPr>
        <p:spPr/>
        <p:txBody>
          <a:bodyPr vert="horz" rIns="91425"/>
          <a:lstStyle/>
          <a:p>
            <a:r>
              <a:rPr lang="en-CA" dirty="0"/>
              <a:t>Stablecoin: Bridging international crypto trade</a:t>
            </a:r>
          </a:p>
        </p:txBody>
      </p:sp>
      <p:sp>
        <p:nvSpPr>
          <p:cNvPr id="7" name="Text Placeholder 6">
            <a:extLst>
              <a:ext uri="{FF2B5EF4-FFF2-40B4-BE49-F238E27FC236}">
                <a16:creationId xmlns:a16="http://schemas.microsoft.com/office/drawing/2014/main" id="{AA07B8DC-E427-0AC7-B0DC-BFD575AA58E8}"/>
              </a:ext>
            </a:extLst>
          </p:cNvPr>
          <p:cNvSpPr>
            <a:spLocks noGrp="1"/>
          </p:cNvSpPr>
          <p:nvPr>
            <p:ph type="body" sz="quarter" idx="11"/>
          </p:nvPr>
        </p:nvSpPr>
        <p:spPr/>
        <p:txBody>
          <a:bodyPr/>
          <a:lstStyle/>
          <a:p>
            <a:endParaRPr lang="en-CA"/>
          </a:p>
        </p:txBody>
      </p:sp>
      <p:grpSp>
        <p:nvGrpSpPr>
          <p:cNvPr id="45" name="Group 44">
            <a:extLst>
              <a:ext uri="{FF2B5EF4-FFF2-40B4-BE49-F238E27FC236}">
                <a16:creationId xmlns:a16="http://schemas.microsoft.com/office/drawing/2014/main" id="{872896EC-1FC6-5DDE-4C45-56BB612F51BB}"/>
              </a:ext>
            </a:extLst>
          </p:cNvPr>
          <p:cNvGrpSpPr/>
          <p:nvPr/>
        </p:nvGrpSpPr>
        <p:grpSpPr>
          <a:xfrm>
            <a:off x="289964" y="696023"/>
            <a:ext cx="3388901" cy="682351"/>
            <a:chOff x="326498" y="1162427"/>
            <a:chExt cx="3869376" cy="324898"/>
          </a:xfrm>
        </p:grpSpPr>
        <p:cxnSp>
          <p:nvCxnSpPr>
            <p:cNvPr id="46" name="Straight Connector 45">
              <a:extLst>
                <a:ext uri="{FF2B5EF4-FFF2-40B4-BE49-F238E27FC236}">
                  <a16:creationId xmlns:a16="http://schemas.microsoft.com/office/drawing/2014/main" id="{91C3AD2F-393B-62A8-B74A-F72BC5AC8D27}"/>
                </a:ext>
              </a:extLst>
            </p:cNvPr>
            <p:cNvCxnSpPr>
              <a:cxnSpLocks/>
            </p:cNvCxnSpPr>
            <p:nvPr/>
          </p:nvCxnSpPr>
          <p:spPr>
            <a:xfrm>
              <a:off x="326498" y="1443036"/>
              <a:ext cx="3869376"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6AEA0844-9C9B-E6B6-C19F-4CDD01647E3E}"/>
                </a:ext>
              </a:extLst>
            </p:cNvPr>
            <p:cNvSpPr/>
            <p:nvPr/>
          </p:nvSpPr>
          <p:spPr>
            <a:xfrm>
              <a:off x="326498" y="1162427"/>
              <a:ext cx="3805657" cy="324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12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Key stablecoin stats</a:t>
              </a:r>
              <a:endParaRPr lang="en-US" sz="12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48" name="TextBox 47">
            <a:extLst>
              <a:ext uri="{FF2B5EF4-FFF2-40B4-BE49-F238E27FC236}">
                <a16:creationId xmlns:a16="http://schemas.microsoft.com/office/drawing/2014/main" id="{F61959C1-AC48-992E-1992-43C300A5A6FA}"/>
              </a:ext>
            </a:extLst>
          </p:cNvPr>
          <p:cNvSpPr txBox="1"/>
          <p:nvPr/>
        </p:nvSpPr>
        <p:spPr>
          <a:xfrm>
            <a:off x="1786270" y="1533562"/>
            <a:ext cx="1892595" cy="521200"/>
          </a:xfrm>
          <a:prstGeom prst="rect">
            <a:avLst/>
          </a:prstGeom>
          <a:noFill/>
        </p:spPr>
        <p:txBody>
          <a:bodyPr wrap="square" rtlCol="0" anchor="ctr">
            <a:noAutofit/>
          </a:bodyPr>
          <a:lstStyle/>
          <a:p>
            <a:r>
              <a:rPr lang="en-US" sz="1050" dirty="0">
                <a:latin typeface="Helvetica Neue" panose="02000503000000020004" pitchFamily="2" charset="0"/>
                <a:ea typeface="Helvetica Neue" panose="02000503000000020004" pitchFamily="2" charset="0"/>
                <a:cs typeface="Helvetica Neue" panose="02000503000000020004" pitchFamily="2" charset="0"/>
              </a:rPr>
              <a:t>Circulating supply</a:t>
            </a:r>
          </a:p>
        </p:txBody>
      </p:sp>
      <p:sp>
        <p:nvSpPr>
          <p:cNvPr id="49" name="Google Shape;147;p10">
            <a:extLst>
              <a:ext uri="{FF2B5EF4-FFF2-40B4-BE49-F238E27FC236}">
                <a16:creationId xmlns:a16="http://schemas.microsoft.com/office/drawing/2014/main" id="{E41D22B6-36D3-004A-C013-14A02B847476}"/>
              </a:ext>
            </a:extLst>
          </p:cNvPr>
          <p:cNvSpPr/>
          <p:nvPr/>
        </p:nvSpPr>
        <p:spPr>
          <a:xfrm>
            <a:off x="289964" y="1359462"/>
            <a:ext cx="1538836" cy="86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2400" b="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$300B +</a:t>
            </a:r>
            <a:endParaRPr sz="700" i="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sp>
        <p:nvSpPr>
          <p:cNvPr id="50" name="TextBox 49">
            <a:extLst>
              <a:ext uri="{FF2B5EF4-FFF2-40B4-BE49-F238E27FC236}">
                <a16:creationId xmlns:a16="http://schemas.microsoft.com/office/drawing/2014/main" id="{8D538551-3F95-012E-3F0E-82B77A4A24BB}"/>
              </a:ext>
            </a:extLst>
          </p:cNvPr>
          <p:cNvSpPr txBox="1"/>
          <p:nvPr/>
        </p:nvSpPr>
        <p:spPr>
          <a:xfrm>
            <a:off x="1756864" y="2402873"/>
            <a:ext cx="1922001" cy="521200"/>
          </a:xfrm>
          <a:prstGeom prst="rect">
            <a:avLst/>
          </a:prstGeom>
          <a:noFill/>
        </p:spPr>
        <p:txBody>
          <a:bodyPr wrap="square" rtlCol="0" anchor="ctr">
            <a:noAutofit/>
          </a:bodyPr>
          <a:lstStyle/>
          <a:p>
            <a:r>
              <a:rPr lang="en-US" sz="1050" dirty="0">
                <a:latin typeface="Helvetica Neue" panose="02000503000000020004" pitchFamily="2" charset="0"/>
                <a:ea typeface="Helvetica Neue" panose="02000503000000020004" pitchFamily="2" charset="0"/>
                <a:cs typeface="Helvetica Neue" panose="02000503000000020004" pitchFamily="2" charset="0"/>
              </a:rPr>
              <a:t>Annual on-chain volume (2024)</a:t>
            </a:r>
          </a:p>
        </p:txBody>
      </p:sp>
      <p:sp>
        <p:nvSpPr>
          <p:cNvPr id="51" name="Google Shape;147;p10">
            <a:extLst>
              <a:ext uri="{FF2B5EF4-FFF2-40B4-BE49-F238E27FC236}">
                <a16:creationId xmlns:a16="http://schemas.microsoft.com/office/drawing/2014/main" id="{E213BD69-A96D-8616-C349-8103E4562CB1}"/>
              </a:ext>
            </a:extLst>
          </p:cNvPr>
          <p:cNvSpPr/>
          <p:nvPr/>
        </p:nvSpPr>
        <p:spPr>
          <a:xfrm>
            <a:off x="289964" y="2247552"/>
            <a:ext cx="1296600" cy="86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2400" b="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$33T</a:t>
            </a:r>
            <a:endParaRPr sz="700" i="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sp>
        <p:nvSpPr>
          <p:cNvPr id="3" name="Google Shape;1811;p59">
            <a:extLst>
              <a:ext uri="{FF2B5EF4-FFF2-40B4-BE49-F238E27FC236}">
                <a16:creationId xmlns:a16="http://schemas.microsoft.com/office/drawing/2014/main" id="{80C819C8-F418-7361-84A9-2D1222B4F4CD}"/>
              </a:ext>
            </a:extLst>
          </p:cNvPr>
          <p:cNvSpPr/>
          <p:nvPr/>
        </p:nvSpPr>
        <p:spPr>
          <a:xfrm>
            <a:off x="4149340" y="1213425"/>
            <a:ext cx="4532698" cy="2030731"/>
          </a:xfrm>
          <a:prstGeom prst="rect">
            <a:avLst/>
          </a:prstGeom>
          <a:solidFill>
            <a:srgbClr val="EEEEEE"/>
          </a:solidFill>
          <a:ln>
            <a:noFill/>
          </a:ln>
        </p:spPr>
        <p:txBody>
          <a:bodyPr spcFirstLastPara="1" wrap="square" lIns="91425" tIns="91425" rIns="91425" bIns="91425" anchor="ctr" anchorCtr="0">
            <a:noAutofit/>
          </a:bodyPr>
          <a:lstStyle/>
          <a:p>
            <a:pPr lvl="0" rtl="0">
              <a:spcBef>
                <a:spcPts val="0"/>
              </a:spcBef>
              <a:spcAft>
                <a:spcPts val="0"/>
              </a:spcAft>
            </a:pPr>
            <a:r>
              <a:rPr lang="en-CA" sz="1200" b="1" dirty="0">
                <a:latin typeface="Helvetica Neue" panose="020B0604020202020204" charset="0"/>
                <a:ea typeface="Source Sans Pro"/>
                <a:cs typeface="Source Sans Pro"/>
                <a:sym typeface="Source Sans Pro"/>
              </a:rPr>
              <a:t>Key issue: </a:t>
            </a:r>
          </a:p>
          <a:p>
            <a:pPr lvl="0" rtl="0">
              <a:spcBef>
                <a:spcPts val="0"/>
              </a:spcBef>
              <a:spcAft>
                <a:spcPts val="0"/>
              </a:spcAft>
            </a:pPr>
            <a:r>
              <a:rPr lang="en-CA" sz="1200" dirty="0">
                <a:latin typeface="Helvetica Neue" panose="020B0604020202020204" charset="0"/>
                <a:ea typeface="Source Sans Pro"/>
                <a:cs typeface="Source Sans Pro"/>
                <a:sym typeface="Source Sans Pro"/>
              </a:rPr>
              <a:t>Stablecoin is spread across 12 different markets (market fragmentation)</a:t>
            </a:r>
          </a:p>
          <a:p>
            <a:pPr lvl="0" rtl="0">
              <a:spcBef>
                <a:spcPts val="0"/>
              </a:spcBef>
              <a:spcAft>
                <a:spcPts val="0"/>
              </a:spcAft>
            </a:pPr>
            <a:endParaRPr lang="en-CA" sz="1200" dirty="0">
              <a:latin typeface="Helvetica Neue" panose="020B0604020202020204" charset="0"/>
              <a:ea typeface="Source Sans Pro"/>
              <a:cs typeface="Source Sans Pro"/>
              <a:sym typeface="Source Sans Pro"/>
            </a:endParaRPr>
          </a:p>
          <a:p>
            <a:pPr lvl="0" rtl="0">
              <a:spcBef>
                <a:spcPts val="0"/>
              </a:spcBef>
              <a:spcAft>
                <a:spcPts val="0"/>
              </a:spcAft>
            </a:pPr>
            <a:r>
              <a:rPr lang="en-CA" sz="1200" b="1" dirty="0">
                <a:latin typeface="Helvetica Neue" panose="020B0604020202020204" charset="0"/>
                <a:ea typeface="Source Sans Pro"/>
                <a:cs typeface="Source Sans Pro"/>
                <a:sym typeface="Source Sans Pro"/>
              </a:rPr>
              <a:t>Key opportunity: </a:t>
            </a:r>
          </a:p>
          <a:p>
            <a:pPr lvl="0" rtl="0">
              <a:spcBef>
                <a:spcPts val="0"/>
              </a:spcBef>
              <a:spcAft>
                <a:spcPts val="0"/>
              </a:spcAft>
            </a:pPr>
            <a:r>
              <a:rPr lang="en-CA" sz="1200" dirty="0">
                <a:latin typeface="Helvetica Neue" panose="020B0604020202020204" charset="0"/>
                <a:ea typeface="Source Sans Pro"/>
                <a:cs typeface="Source Sans Pro"/>
                <a:sym typeface="Source Sans Pro"/>
              </a:rPr>
              <a:t>Arbitrage and pathfinding can be used to extract profit from these differences</a:t>
            </a:r>
          </a:p>
        </p:txBody>
      </p:sp>
      <p:graphicFrame>
        <p:nvGraphicFramePr>
          <p:cNvPr id="4" name="Table 3">
            <a:extLst>
              <a:ext uri="{FF2B5EF4-FFF2-40B4-BE49-F238E27FC236}">
                <a16:creationId xmlns:a16="http://schemas.microsoft.com/office/drawing/2014/main" id="{FEFE9186-0C0A-57C2-4EDC-2316EF6BE0A4}"/>
              </a:ext>
            </a:extLst>
          </p:cNvPr>
          <p:cNvGraphicFramePr>
            <a:graphicFrameLocks noGrp="1"/>
          </p:cNvGraphicFramePr>
          <p:nvPr>
            <p:extLst>
              <p:ext uri="{D42A27DB-BD31-4B8C-83A1-F6EECF244321}">
                <p14:modId xmlns:p14="http://schemas.microsoft.com/office/powerpoint/2010/main" val="2540215253"/>
              </p:ext>
            </p:extLst>
          </p:nvPr>
        </p:nvGraphicFramePr>
        <p:xfrm>
          <a:off x="433388" y="3578166"/>
          <a:ext cx="8248650" cy="569840"/>
        </p:xfrm>
        <a:graphic>
          <a:graphicData uri="http://schemas.openxmlformats.org/drawingml/2006/table">
            <a:tbl>
              <a:tblPr firstRow="1" bandRow="1">
                <a:tableStyleId>{74F5B21E-941D-4FBC-96CA-9FAA6463E71C}</a:tableStyleId>
              </a:tblPr>
              <a:tblGrid>
                <a:gridCol w="5138738">
                  <a:extLst>
                    <a:ext uri="{9D8B030D-6E8A-4147-A177-3AD203B41FA5}">
                      <a16:colId xmlns:a16="http://schemas.microsoft.com/office/drawing/2014/main" val="2285845801"/>
                    </a:ext>
                  </a:extLst>
                </a:gridCol>
                <a:gridCol w="3109912">
                  <a:extLst>
                    <a:ext uri="{9D8B030D-6E8A-4147-A177-3AD203B41FA5}">
                      <a16:colId xmlns:a16="http://schemas.microsoft.com/office/drawing/2014/main" val="4168508603"/>
                    </a:ext>
                  </a:extLst>
                </a:gridCol>
              </a:tblGrid>
              <a:tr h="569840">
                <a:tc>
                  <a:txBody>
                    <a:bodyPr/>
                    <a:lstStyle/>
                    <a:p>
                      <a:pPr algn="ctr"/>
                      <a:r>
                        <a:rPr lang="en-US" b="1" dirty="0">
                          <a:solidFill>
                            <a:schemeClr val="bg1"/>
                          </a:solidFill>
                        </a:rPr>
                        <a:t>Stablecoins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a:txBody>
                    <a:bodyPr/>
                    <a:lstStyle/>
                    <a:p>
                      <a:pPr algn="ctr"/>
                      <a:r>
                        <a:rPr lang="en-US" b="1" dirty="0">
                          <a:solidFill>
                            <a:schemeClr val="bg2"/>
                          </a:solidFill>
                        </a:rPr>
                        <a:t>All other crypto</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13574640"/>
                  </a:ext>
                </a:extLst>
              </a:tr>
            </a:tbl>
          </a:graphicData>
        </a:graphic>
      </p:graphicFrame>
      <p:sp>
        <p:nvSpPr>
          <p:cNvPr id="6" name="TextBox 5">
            <a:extLst>
              <a:ext uri="{FF2B5EF4-FFF2-40B4-BE49-F238E27FC236}">
                <a16:creationId xmlns:a16="http://schemas.microsoft.com/office/drawing/2014/main" id="{564F8E6A-5799-DE5B-F626-230E46D19DC9}"/>
              </a:ext>
            </a:extLst>
          </p:cNvPr>
          <p:cNvSpPr txBox="1"/>
          <p:nvPr/>
        </p:nvSpPr>
        <p:spPr>
          <a:xfrm>
            <a:off x="433388" y="4185867"/>
            <a:ext cx="8248650" cy="261610"/>
          </a:xfrm>
          <a:prstGeom prst="rect">
            <a:avLst/>
          </a:prstGeom>
          <a:noFill/>
        </p:spPr>
        <p:txBody>
          <a:bodyPr wrap="square" rtlCol="0">
            <a:spAutoFit/>
          </a:bodyPr>
          <a:lstStyle/>
          <a:p>
            <a:pPr algn="ctr"/>
            <a:r>
              <a:rPr lang="en-US" sz="1100" dirty="0"/>
              <a:t>Stablecoins make up the majority of all on-chain settled value across crypto markets</a:t>
            </a:r>
            <a:endParaRPr lang="en-US" dirty="0"/>
          </a:p>
        </p:txBody>
      </p:sp>
      <p:sp>
        <p:nvSpPr>
          <p:cNvPr id="9" name="Text Placeholder 8">
            <a:extLst>
              <a:ext uri="{FF2B5EF4-FFF2-40B4-BE49-F238E27FC236}">
                <a16:creationId xmlns:a16="http://schemas.microsoft.com/office/drawing/2014/main" id="{D007E514-4C76-7CF7-2680-7ACBD0C719F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9144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1">
          <a:extLst>
            <a:ext uri="{FF2B5EF4-FFF2-40B4-BE49-F238E27FC236}">
              <a16:creationId xmlns:a16="http://schemas.microsoft.com/office/drawing/2014/main" id="{0CD8BCE3-8C80-5893-87EE-5C02DC7421E7}"/>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2DD4F52-64FF-9D11-8BAD-B97597A6E711}"/>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42DD4F52-64FF-9D11-8BAD-B97597A6E71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5" name="Title 24">
            <a:extLst>
              <a:ext uri="{FF2B5EF4-FFF2-40B4-BE49-F238E27FC236}">
                <a16:creationId xmlns:a16="http://schemas.microsoft.com/office/drawing/2014/main" id="{EDEC0C51-4957-CC2A-BF58-95E7DAA8EB99}"/>
              </a:ext>
            </a:extLst>
          </p:cNvPr>
          <p:cNvSpPr>
            <a:spLocks noGrp="1"/>
          </p:cNvSpPr>
          <p:nvPr>
            <p:ph type="title"/>
          </p:nvPr>
        </p:nvSpPr>
        <p:spPr/>
        <p:txBody>
          <a:bodyPr vert="horz" rIns="91425"/>
          <a:lstStyle/>
          <a:p>
            <a:r>
              <a:rPr lang="en-CA" dirty="0"/>
              <a:t>Why shortest-path isn’t enough: 4 real-world costs</a:t>
            </a:r>
          </a:p>
        </p:txBody>
      </p:sp>
      <p:sp>
        <p:nvSpPr>
          <p:cNvPr id="6" name="Text Placeholder 5">
            <a:extLst>
              <a:ext uri="{FF2B5EF4-FFF2-40B4-BE49-F238E27FC236}">
                <a16:creationId xmlns:a16="http://schemas.microsoft.com/office/drawing/2014/main" id="{E597FA12-0E8F-19D5-C7AC-188056D7ACE3}"/>
              </a:ext>
            </a:extLst>
          </p:cNvPr>
          <p:cNvSpPr>
            <a:spLocks noGrp="1"/>
          </p:cNvSpPr>
          <p:nvPr>
            <p:ph type="body" sz="quarter" idx="10"/>
          </p:nvPr>
        </p:nvSpPr>
        <p:spPr/>
        <p:txBody>
          <a:bodyPr/>
          <a:lstStyle/>
          <a:p>
            <a:endParaRPr lang="en-CA"/>
          </a:p>
        </p:txBody>
      </p:sp>
      <p:sp>
        <p:nvSpPr>
          <p:cNvPr id="11" name="Text Placeholder 10">
            <a:extLst>
              <a:ext uri="{FF2B5EF4-FFF2-40B4-BE49-F238E27FC236}">
                <a16:creationId xmlns:a16="http://schemas.microsoft.com/office/drawing/2014/main" id="{F1E2FFA4-EB94-47B0-3571-BEC1463A5316}"/>
              </a:ext>
            </a:extLst>
          </p:cNvPr>
          <p:cNvSpPr>
            <a:spLocks noGrp="1"/>
          </p:cNvSpPr>
          <p:nvPr>
            <p:ph type="body" sz="quarter" idx="11"/>
          </p:nvPr>
        </p:nvSpPr>
        <p:spPr/>
        <p:txBody>
          <a:bodyPr/>
          <a:lstStyle/>
          <a:p>
            <a:endParaRPr lang="en-CA"/>
          </a:p>
        </p:txBody>
      </p:sp>
      <p:sp>
        <p:nvSpPr>
          <p:cNvPr id="7" name="Google Shape;1804;p59">
            <a:extLst>
              <a:ext uri="{FF2B5EF4-FFF2-40B4-BE49-F238E27FC236}">
                <a16:creationId xmlns:a16="http://schemas.microsoft.com/office/drawing/2014/main" id="{5D7AA06F-F56B-12A2-FF9C-A8176D33A9A8}"/>
              </a:ext>
            </a:extLst>
          </p:cNvPr>
          <p:cNvSpPr/>
          <p:nvPr/>
        </p:nvSpPr>
        <p:spPr>
          <a:xfrm>
            <a:off x="4715711" y="2264593"/>
            <a:ext cx="1902638" cy="2068254"/>
          </a:xfrm>
          <a:prstGeom prst="rect">
            <a:avLst/>
          </a:prstGeom>
          <a:solidFill>
            <a:srgbClr val="EEEEEE"/>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CA" sz="1200" b="1" dirty="0">
                <a:latin typeface="Helvetica Neue" panose="020B0604020202020204" charset="0"/>
                <a:ea typeface="Source Sans Pro"/>
                <a:cs typeface="Source Sans Pro"/>
                <a:sym typeface="Source Sans Pro"/>
              </a:rPr>
              <a:t>3. Latency</a:t>
            </a:r>
            <a:r>
              <a:rPr lang="en-CA" sz="1200" dirty="0">
                <a:latin typeface="Helvetica Neue" panose="020B0604020202020204" charset="0"/>
                <a:ea typeface="Source Sans Pro"/>
                <a:cs typeface="Source Sans Pro"/>
                <a:sym typeface="Source Sans Pro"/>
              </a:rPr>
              <a:t> </a:t>
            </a: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228600" lvl="0" indent="-228600" rtl="0">
              <a:spcBef>
                <a:spcPts val="0"/>
              </a:spcBef>
              <a:spcAft>
                <a:spcPts val="0"/>
              </a:spcAft>
              <a:buFont typeface="Arial" panose="020B0604020202020204" pitchFamily="34" charset="0"/>
              <a:buChar char="•"/>
            </a:pPr>
            <a:r>
              <a:rPr lang="en-CA" sz="1200" dirty="0">
                <a:latin typeface="Helvetica Neue" panose="020B0604020202020204" charset="0"/>
                <a:ea typeface="Source Sans Pro"/>
                <a:cs typeface="Source Sans Pro"/>
                <a:sym typeface="Source Sans Pro"/>
              </a:rPr>
              <a:t>Some blockchains have longer processing time</a:t>
            </a:r>
          </a:p>
          <a:p>
            <a:pPr marL="228600" lvl="0" indent="-228600" rtl="0">
              <a:spcBef>
                <a:spcPts val="0"/>
              </a:spcBef>
              <a:spcAft>
                <a:spcPts val="0"/>
              </a:spcAft>
              <a:buFont typeface="Arial" panose="020B0604020202020204" pitchFamily="34" charset="0"/>
              <a:buChar char="•"/>
            </a:pPr>
            <a:r>
              <a:rPr lang="en-CA" sz="1200" dirty="0">
                <a:latin typeface="Helvetica Neue" panose="020B0604020202020204" charset="0"/>
                <a:ea typeface="Source Sans Pro"/>
                <a:cs typeface="Source Sans Pro"/>
                <a:sym typeface="Source Sans Pro"/>
              </a:rPr>
              <a:t>Others are slower due to high volume</a:t>
            </a:r>
          </a:p>
          <a:p>
            <a:pPr marL="228600" lvl="0" indent="-228600" rtl="0">
              <a:spcBef>
                <a:spcPts val="0"/>
              </a:spcBef>
              <a:spcAft>
                <a:spcPts val="0"/>
              </a:spcAft>
              <a:buFont typeface="+mj-lt"/>
              <a:buAutoNum type="arabicPeriod"/>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p:txBody>
      </p:sp>
      <p:sp>
        <p:nvSpPr>
          <p:cNvPr id="8" name="Google Shape;1804;p59">
            <a:extLst>
              <a:ext uri="{FF2B5EF4-FFF2-40B4-BE49-F238E27FC236}">
                <a16:creationId xmlns:a16="http://schemas.microsoft.com/office/drawing/2014/main" id="{CE273F8B-49D1-6E4B-97D8-043FBEBEDAC3}"/>
              </a:ext>
            </a:extLst>
          </p:cNvPr>
          <p:cNvSpPr/>
          <p:nvPr/>
        </p:nvSpPr>
        <p:spPr>
          <a:xfrm>
            <a:off x="6816011" y="2264593"/>
            <a:ext cx="1902638" cy="2068254"/>
          </a:xfrm>
          <a:prstGeom prst="rect">
            <a:avLst/>
          </a:prstGeom>
          <a:solidFill>
            <a:srgbClr val="EEEEEE"/>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CA" sz="1200" b="1" dirty="0">
                <a:latin typeface="Helvetica Neue" panose="020B0604020202020204" charset="0"/>
                <a:ea typeface="Source Sans Pro"/>
                <a:cs typeface="Source Sans Pro"/>
                <a:sym typeface="Source Sans Pro"/>
              </a:rPr>
              <a:t>4. Operational risk</a:t>
            </a: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r>
              <a:rPr lang="en-CA" sz="1200" dirty="0">
                <a:latin typeface="Helvetica Neue" panose="020B0604020202020204" charset="0"/>
                <a:ea typeface="Source Sans Pro"/>
                <a:cs typeface="Source Sans Pro"/>
                <a:sym typeface="Source Sans Pro"/>
              </a:rPr>
              <a:t>Withdrawals may be paused, regions geofenced, or VPNs blocked</a:t>
            </a: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p:txBody>
      </p:sp>
      <p:sp>
        <p:nvSpPr>
          <p:cNvPr id="9" name="Google Shape;1811;p59">
            <a:extLst>
              <a:ext uri="{FF2B5EF4-FFF2-40B4-BE49-F238E27FC236}">
                <a16:creationId xmlns:a16="http://schemas.microsoft.com/office/drawing/2014/main" id="{9927E59C-B48B-AA1F-C437-2338394760E1}"/>
              </a:ext>
            </a:extLst>
          </p:cNvPr>
          <p:cNvSpPr/>
          <p:nvPr/>
        </p:nvSpPr>
        <p:spPr>
          <a:xfrm>
            <a:off x="468848" y="2264593"/>
            <a:ext cx="1948901" cy="2068254"/>
          </a:xfrm>
          <a:prstGeom prst="rect">
            <a:avLst/>
          </a:prstGeom>
          <a:solidFill>
            <a:srgbClr val="EEEEEE"/>
          </a:solidFill>
          <a:ln>
            <a:noFill/>
          </a:ln>
        </p:spPr>
        <p:txBody>
          <a:bodyPr spcFirstLastPara="1" wrap="square" lIns="91425" tIns="91425" rIns="91425" bIns="91425" anchor="ctr" anchorCtr="0">
            <a:noAutofit/>
          </a:bodyPr>
          <a:lstStyle/>
          <a:p>
            <a:pPr lvl="0" rtl="0">
              <a:spcBef>
                <a:spcPts val="0"/>
              </a:spcBef>
              <a:spcAft>
                <a:spcPts val="0"/>
              </a:spcAft>
            </a:pPr>
            <a:r>
              <a:rPr lang="en-CA" sz="1200" b="1" dirty="0">
                <a:latin typeface="Helvetica Neue" panose="020B0604020202020204" charset="0"/>
                <a:ea typeface="Source Sans Pro"/>
                <a:cs typeface="Source Sans Pro"/>
                <a:sym typeface="Source Sans Pro"/>
              </a:rPr>
              <a:t>1. Fees</a:t>
            </a:r>
          </a:p>
          <a:p>
            <a:pPr lvl="0" rtl="0">
              <a:spcBef>
                <a:spcPts val="0"/>
              </a:spcBef>
              <a:spcAft>
                <a:spcPts val="0"/>
              </a:spcAft>
            </a:pPr>
            <a:endParaRPr lang="en-CA" sz="1200" dirty="0">
              <a:latin typeface="Helvetica Neue" panose="020B0604020202020204" charset="0"/>
              <a:ea typeface="Source Sans Pro"/>
              <a:cs typeface="Source Sans Pro"/>
              <a:sym typeface="Source Sans Pro"/>
            </a:endParaRPr>
          </a:p>
          <a:p>
            <a:pPr lvl="0" rtl="0">
              <a:spcBef>
                <a:spcPts val="0"/>
              </a:spcBef>
              <a:spcAft>
                <a:spcPts val="0"/>
              </a:spcAft>
            </a:pPr>
            <a:r>
              <a:rPr lang="en-CA" sz="1200" dirty="0">
                <a:latin typeface="Helvetica Neue" panose="020B0604020202020204" charset="0"/>
                <a:ea typeface="Source Sans Pro"/>
                <a:cs typeface="Source Sans Pro"/>
                <a:sym typeface="Source Sans Pro"/>
              </a:rPr>
              <a:t>Flat transfer fees apply to each trade; the order needs to be large enough to offset</a:t>
            </a:r>
          </a:p>
          <a:p>
            <a:pPr lvl="0" rtl="0">
              <a:spcBef>
                <a:spcPts val="0"/>
              </a:spcBef>
              <a:spcAft>
                <a:spcPts val="0"/>
              </a:spcAft>
            </a:pPr>
            <a:endParaRPr lang="en-CA" sz="1200" dirty="0">
              <a:latin typeface="Helvetica Neue" panose="020B0604020202020204" charset="0"/>
              <a:ea typeface="Source Sans Pro"/>
              <a:cs typeface="Source Sans Pro"/>
              <a:sym typeface="Source Sans Pro"/>
            </a:endParaRPr>
          </a:p>
          <a:p>
            <a:pPr lvl="0" rtl="0">
              <a:spcBef>
                <a:spcPts val="0"/>
              </a:spcBef>
              <a:spcAft>
                <a:spcPts val="0"/>
              </a:spcAft>
            </a:pPr>
            <a:endParaRPr lang="en-CA" sz="1200" dirty="0">
              <a:latin typeface="Helvetica Neue" panose="020B0604020202020204" charset="0"/>
              <a:ea typeface="Source Sans Pro"/>
              <a:cs typeface="Source Sans Pro"/>
              <a:sym typeface="Source Sans Pro"/>
            </a:endParaRPr>
          </a:p>
          <a:p>
            <a:pPr lvl="0" rtl="0">
              <a:spcBef>
                <a:spcPts val="0"/>
              </a:spcBef>
              <a:spcAft>
                <a:spcPts val="0"/>
              </a:spcAft>
            </a:pPr>
            <a:endParaRPr lang="en-CA" sz="1200" dirty="0">
              <a:latin typeface="Helvetica Neue" panose="020B0604020202020204" charset="0"/>
              <a:ea typeface="Source Sans Pro"/>
              <a:cs typeface="Source Sans Pro"/>
              <a:sym typeface="Source Sans Pro"/>
            </a:endParaRPr>
          </a:p>
        </p:txBody>
      </p:sp>
      <p:sp>
        <p:nvSpPr>
          <p:cNvPr id="10" name="Google Shape;1822;p59">
            <a:extLst>
              <a:ext uri="{FF2B5EF4-FFF2-40B4-BE49-F238E27FC236}">
                <a16:creationId xmlns:a16="http://schemas.microsoft.com/office/drawing/2014/main" id="{00F712BA-3400-F44E-06B5-43F9AE5E0B53}"/>
              </a:ext>
            </a:extLst>
          </p:cNvPr>
          <p:cNvSpPr/>
          <p:nvPr/>
        </p:nvSpPr>
        <p:spPr>
          <a:xfrm>
            <a:off x="2615411" y="2264593"/>
            <a:ext cx="1902638" cy="2068254"/>
          </a:xfrm>
          <a:prstGeom prst="rect">
            <a:avLst/>
          </a:prstGeom>
          <a:solidFill>
            <a:srgbClr val="EEEEEE"/>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CA" sz="1200" b="1" dirty="0">
                <a:latin typeface="Helvetica Neue" panose="020B0604020202020204" charset="0"/>
                <a:ea typeface="Source Sans Pro"/>
                <a:cs typeface="Source Sans Pro"/>
                <a:sym typeface="Source Sans Pro"/>
              </a:rPr>
              <a:t>2. Slippage </a:t>
            </a: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r>
              <a:rPr lang="en-CA" sz="1200" dirty="0">
                <a:latin typeface="Helvetica Neue" panose="020B0604020202020204" charset="0"/>
                <a:ea typeface="Source Sans Pro"/>
                <a:cs typeface="Source Sans Pro"/>
                <a:sym typeface="Source Sans Pro"/>
              </a:rPr>
              <a:t>Asset prices change during execution, impacting profit for larger order sizes</a:t>
            </a: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a:p>
            <a:pPr marL="0" lvl="0" indent="0" rtl="0">
              <a:spcBef>
                <a:spcPts val="0"/>
              </a:spcBef>
              <a:spcAft>
                <a:spcPts val="0"/>
              </a:spcAft>
              <a:buNone/>
            </a:pPr>
            <a:endParaRPr lang="en-CA" sz="1200" dirty="0">
              <a:latin typeface="Helvetica Neue" panose="020B0604020202020204" charset="0"/>
              <a:ea typeface="Source Sans Pro"/>
              <a:cs typeface="Source Sans Pro"/>
              <a:sym typeface="Source Sans Pro"/>
            </a:endParaRPr>
          </a:p>
        </p:txBody>
      </p:sp>
      <p:sp>
        <p:nvSpPr>
          <p:cNvPr id="13" name="Google Shape;160;p13">
            <a:extLst>
              <a:ext uri="{FF2B5EF4-FFF2-40B4-BE49-F238E27FC236}">
                <a16:creationId xmlns:a16="http://schemas.microsoft.com/office/drawing/2014/main" id="{D63EDC7D-99C8-C192-D49A-2D5B76BE41F1}"/>
              </a:ext>
            </a:extLst>
          </p:cNvPr>
          <p:cNvSpPr/>
          <p:nvPr/>
        </p:nvSpPr>
        <p:spPr>
          <a:xfrm>
            <a:off x="-3236" y="835075"/>
            <a:ext cx="9144000" cy="722069"/>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algn="ctr">
              <a:spcAft>
                <a:spcPts val="225"/>
              </a:spcAft>
            </a:pPr>
            <a:r>
              <a:rPr lang="en-CA" sz="1600" b="1" dirty="0">
                <a:solidFill>
                  <a:schemeClr val="tx1"/>
                </a:solidFill>
              </a:rPr>
              <a:t>Can domain-specific heuristics steer search faster than
general-purpose graph algorithms without sacrificing profit?</a:t>
            </a:r>
          </a:p>
        </p:txBody>
      </p:sp>
      <p:grpSp>
        <p:nvGrpSpPr>
          <p:cNvPr id="3" name="Group 2">
            <a:extLst>
              <a:ext uri="{FF2B5EF4-FFF2-40B4-BE49-F238E27FC236}">
                <a16:creationId xmlns:a16="http://schemas.microsoft.com/office/drawing/2014/main" id="{011010F5-AE19-AAA5-5732-50162DBF990F}"/>
              </a:ext>
            </a:extLst>
          </p:cNvPr>
          <p:cNvGrpSpPr/>
          <p:nvPr/>
        </p:nvGrpSpPr>
        <p:grpSpPr>
          <a:xfrm>
            <a:off x="453925" y="1815173"/>
            <a:ext cx="8264724" cy="298550"/>
            <a:chOff x="268875" y="767644"/>
            <a:chExt cx="3791971" cy="227476"/>
          </a:xfrm>
        </p:grpSpPr>
        <p:sp>
          <p:nvSpPr>
            <p:cNvPr id="4" name="Rectangle 3">
              <a:extLst>
                <a:ext uri="{FF2B5EF4-FFF2-40B4-BE49-F238E27FC236}">
                  <a16:creationId xmlns:a16="http://schemas.microsoft.com/office/drawing/2014/main" id="{129A139C-F08F-9526-2E28-91B2109E8F70}"/>
                </a:ext>
              </a:extLst>
            </p:cNvPr>
            <p:cNvSpPr/>
            <p:nvPr/>
          </p:nvSpPr>
          <p:spPr>
            <a:xfrm>
              <a:off x="268875" y="767644"/>
              <a:ext cx="3620456" cy="2166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4 domain-specific factors that affect profitability during pathfinding: </a:t>
              </a:r>
            </a:p>
          </p:txBody>
        </p:sp>
        <p:cxnSp>
          <p:nvCxnSpPr>
            <p:cNvPr id="5" name="Straight Connector 4">
              <a:extLst>
                <a:ext uri="{FF2B5EF4-FFF2-40B4-BE49-F238E27FC236}">
                  <a16:creationId xmlns:a16="http://schemas.microsoft.com/office/drawing/2014/main" id="{50614121-3849-7EC5-97B6-7A4C13E118F1}"/>
                </a:ext>
              </a:extLst>
            </p:cNvPr>
            <p:cNvCxnSpPr>
              <a:cxnSpLocks/>
            </p:cNvCxnSpPr>
            <p:nvPr/>
          </p:nvCxnSpPr>
          <p:spPr>
            <a:xfrm>
              <a:off x="275722" y="995120"/>
              <a:ext cx="3785124"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9069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47F3-7E09-1914-533A-FFACE053E8C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470BC2D-FB10-C669-65BD-80FAAA5E203B}"/>
              </a:ext>
            </a:extLst>
          </p:cNvPr>
          <p:cNvGraphicFramePr>
            <a:graphicFrameLocks/>
          </p:cNvGraphicFramePr>
          <p:nvPr>
            <p:custDataLst>
              <p:tags r:id="rId1"/>
            </p:custDataLst>
          </p:nvPr>
        </p:nvGraphicFramePr>
        <p:xfrm>
          <a:off x="1192" y="1191"/>
          <a:ext cx="920" cy="1191"/>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2470BC2D-FB10-C669-65BD-80FAAA5E203B}"/>
                          </a:ext>
                        </a:extLst>
                      </p:cNvPr>
                      <p:cNvPicPr/>
                      <p:nvPr/>
                    </p:nvPicPr>
                    <p:blipFill>
                      <a:blip r:embed="rId5"/>
                      <a:stretch>
                        <a:fillRect/>
                      </a:stretch>
                    </p:blipFill>
                    <p:spPr>
                      <a:xfrm>
                        <a:off x="1192" y="1191"/>
                        <a:ext cx="920" cy="1191"/>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C6484DA-E80C-3BA5-B4A1-5574D74D1E13}"/>
              </a:ext>
            </a:extLst>
          </p:cNvPr>
          <p:cNvSpPr>
            <a:spLocks noGrp="1"/>
          </p:cNvSpPr>
          <p:nvPr>
            <p:ph type="title"/>
          </p:nvPr>
        </p:nvSpPr>
        <p:spPr/>
        <p:txBody>
          <a:bodyPr vert="horz" rIns="91440">
            <a:normAutofit fontScale="90000"/>
          </a:bodyPr>
          <a:lstStyle/>
          <a:p>
            <a:r>
              <a:rPr lang="en-US" dirty="0"/>
              <a:t>The dataset: first academically integrated CEX stablecoin graph</a:t>
            </a:r>
          </a:p>
        </p:txBody>
      </p:sp>
      <p:sp>
        <p:nvSpPr>
          <p:cNvPr id="15" name="Text Placeholder 14">
            <a:extLst>
              <a:ext uri="{FF2B5EF4-FFF2-40B4-BE49-F238E27FC236}">
                <a16:creationId xmlns:a16="http://schemas.microsoft.com/office/drawing/2014/main" id="{E7856949-4388-0CC9-5088-3A7B268A4928}"/>
              </a:ext>
            </a:extLst>
          </p:cNvPr>
          <p:cNvSpPr>
            <a:spLocks noGrp="1"/>
          </p:cNvSpPr>
          <p:nvPr>
            <p:ph type="body" sz="quarter" idx="10"/>
          </p:nvPr>
        </p:nvSpPr>
        <p:spPr/>
        <p:txBody>
          <a:bodyPr/>
          <a:lstStyle/>
          <a:p>
            <a:endParaRPr lang="en-CA"/>
          </a:p>
        </p:txBody>
      </p:sp>
      <p:sp>
        <p:nvSpPr>
          <p:cNvPr id="16" name="Text Placeholder 15">
            <a:extLst>
              <a:ext uri="{FF2B5EF4-FFF2-40B4-BE49-F238E27FC236}">
                <a16:creationId xmlns:a16="http://schemas.microsoft.com/office/drawing/2014/main" id="{C4DAB35E-EC3B-4A5B-EBD5-C9CECD6B5EB9}"/>
              </a:ext>
            </a:extLst>
          </p:cNvPr>
          <p:cNvSpPr>
            <a:spLocks noGrp="1"/>
          </p:cNvSpPr>
          <p:nvPr>
            <p:ph type="body" sz="quarter" idx="11"/>
          </p:nvPr>
        </p:nvSpPr>
        <p:spPr/>
        <p:txBody>
          <a:bodyPr/>
          <a:lstStyle/>
          <a:p>
            <a:endParaRPr lang="en-CA"/>
          </a:p>
        </p:txBody>
      </p:sp>
      <p:grpSp>
        <p:nvGrpSpPr>
          <p:cNvPr id="2" name="Group 1">
            <a:extLst>
              <a:ext uri="{FF2B5EF4-FFF2-40B4-BE49-F238E27FC236}">
                <a16:creationId xmlns:a16="http://schemas.microsoft.com/office/drawing/2014/main" id="{9D9A2FEE-A6D1-CC28-A4E5-7C68E96F241B}"/>
              </a:ext>
            </a:extLst>
          </p:cNvPr>
          <p:cNvGrpSpPr/>
          <p:nvPr/>
        </p:nvGrpSpPr>
        <p:grpSpPr>
          <a:xfrm>
            <a:off x="268875" y="767644"/>
            <a:ext cx="3791971" cy="227476"/>
            <a:chOff x="268875" y="767644"/>
            <a:chExt cx="3791971" cy="227476"/>
          </a:xfrm>
        </p:grpSpPr>
        <p:sp>
          <p:nvSpPr>
            <p:cNvPr id="12" name="Rectangle 11">
              <a:extLst>
                <a:ext uri="{FF2B5EF4-FFF2-40B4-BE49-F238E27FC236}">
                  <a16:creationId xmlns:a16="http://schemas.microsoft.com/office/drawing/2014/main" id="{A6D2CF35-F8EA-B081-2CAA-6FC5D0B1B5C4}"/>
                </a:ext>
              </a:extLst>
            </p:cNvPr>
            <p:cNvSpPr/>
            <p:nvPr/>
          </p:nvSpPr>
          <p:spPr>
            <a:xfrm>
              <a:off x="268875" y="767644"/>
              <a:ext cx="3620456" cy="2166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The stablecoin graph </a:t>
              </a:r>
            </a:p>
          </p:txBody>
        </p:sp>
        <p:cxnSp>
          <p:nvCxnSpPr>
            <p:cNvPr id="13" name="Straight Connector 12">
              <a:extLst>
                <a:ext uri="{FF2B5EF4-FFF2-40B4-BE49-F238E27FC236}">
                  <a16:creationId xmlns:a16="http://schemas.microsoft.com/office/drawing/2014/main" id="{D27662BE-D838-8599-00F4-69DEA3787E14}"/>
                </a:ext>
              </a:extLst>
            </p:cNvPr>
            <p:cNvCxnSpPr>
              <a:cxnSpLocks/>
            </p:cNvCxnSpPr>
            <p:nvPr/>
          </p:nvCxnSpPr>
          <p:spPr>
            <a:xfrm>
              <a:off x="275722" y="995120"/>
              <a:ext cx="3785124"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680D16F9-C529-205D-33E5-832DAEE5328E}"/>
              </a:ext>
            </a:extLst>
          </p:cNvPr>
          <p:cNvGrpSpPr/>
          <p:nvPr/>
        </p:nvGrpSpPr>
        <p:grpSpPr>
          <a:xfrm>
            <a:off x="5254671" y="759157"/>
            <a:ext cx="3638510" cy="235964"/>
            <a:chOff x="4569486" y="759157"/>
            <a:chExt cx="4323696" cy="237590"/>
          </a:xfrm>
        </p:grpSpPr>
        <p:sp>
          <p:nvSpPr>
            <p:cNvPr id="28" name="Rectangle 27">
              <a:extLst>
                <a:ext uri="{FF2B5EF4-FFF2-40B4-BE49-F238E27FC236}">
                  <a16:creationId xmlns:a16="http://schemas.microsoft.com/office/drawing/2014/main" id="{85548697-D4A5-097F-F213-32D0AC2F892A}"/>
                </a:ext>
              </a:extLst>
            </p:cNvPr>
            <p:cNvSpPr/>
            <p:nvPr/>
          </p:nvSpPr>
          <p:spPr>
            <a:xfrm>
              <a:off x="4569486" y="759157"/>
              <a:ext cx="4305640" cy="2166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sz="11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At-a-glance</a:t>
              </a:r>
              <a:endParaRPr lang="en-US" sz="11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29" name="Straight Connector 28">
              <a:extLst>
                <a:ext uri="{FF2B5EF4-FFF2-40B4-BE49-F238E27FC236}">
                  <a16:creationId xmlns:a16="http://schemas.microsoft.com/office/drawing/2014/main" id="{551D2B59-26BF-A297-DDA9-4BAE79D93D6B}"/>
                </a:ext>
              </a:extLst>
            </p:cNvPr>
            <p:cNvCxnSpPr>
              <a:cxnSpLocks/>
            </p:cNvCxnSpPr>
            <p:nvPr/>
          </p:nvCxnSpPr>
          <p:spPr>
            <a:xfrm>
              <a:off x="4572000" y="996747"/>
              <a:ext cx="4321182"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44" name="Rectangle 43">
            <a:extLst>
              <a:ext uri="{FF2B5EF4-FFF2-40B4-BE49-F238E27FC236}">
                <a16:creationId xmlns:a16="http://schemas.microsoft.com/office/drawing/2014/main" id="{81FDF818-5272-28F3-7F3C-1F174D92DD80}"/>
              </a:ext>
            </a:extLst>
          </p:cNvPr>
          <p:cNvSpPr/>
          <p:nvPr/>
        </p:nvSpPr>
        <p:spPr>
          <a:xfrm>
            <a:off x="5341868" y="4065178"/>
            <a:ext cx="3533251" cy="521199"/>
          </a:xfrm>
          <a:prstGeom prst="rect">
            <a:avLst/>
          </a:prstGeom>
          <a:solidFill>
            <a:schemeClr val="bg1"/>
          </a:solid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The first academically integrated cross-exchange stablecoin graph</a:t>
            </a:r>
          </a:p>
        </p:txBody>
      </p:sp>
      <p:sp>
        <p:nvSpPr>
          <p:cNvPr id="10" name="Google Shape;160;p13">
            <a:extLst>
              <a:ext uri="{FF2B5EF4-FFF2-40B4-BE49-F238E27FC236}">
                <a16:creationId xmlns:a16="http://schemas.microsoft.com/office/drawing/2014/main" id="{A91AA73F-A7E6-4140-2108-2969AB651A83}"/>
              </a:ext>
            </a:extLst>
          </p:cNvPr>
          <p:cNvSpPr/>
          <p:nvPr/>
        </p:nvSpPr>
        <p:spPr>
          <a:xfrm rot="16200000">
            <a:off x="-444891" y="2164748"/>
            <a:ext cx="1984296" cy="543070"/>
          </a:xfrm>
          <a:prstGeom prst="rect">
            <a:avLst/>
          </a:prstGeom>
          <a:solidFill>
            <a:schemeClr val="bg1"/>
          </a:solidFill>
          <a:ln>
            <a:noFill/>
          </a:ln>
        </p:spPr>
        <p:txBody>
          <a:bodyPr spcFirstLastPara="1" wrap="square" lIns="91425" tIns="91425" rIns="91425" bIns="91425" anchor="ctr" anchorCtr="0">
            <a:noAutofit/>
          </a:bodyPr>
          <a:lstStyle/>
          <a:p>
            <a:pPr algn="ctr">
              <a:buClr>
                <a:srgbClr val="000000"/>
              </a:buClr>
              <a:buSzPts val="1200"/>
            </a:pPr>
            <a:r>
              <a:rPr lang="en-CA" sz="1050" b="1">
                <a:solidFill>
                  <a:schemeClr val="accent1"/>
                </a:solidFill>
                <a:latin typeface="Helvetica Neue" panose="02000503000000020004"/>
                <a:ea typeface="Noto Sans"/>
                <a:cs typeface="Noto Sans"/>
                <a:sym typeface="Noto Sans"/>
              </a:rPr>
              <a:t>x</a:t>
            </a:r>
          </a:p>
        </p:txBody>
      </p:sp>
      <p:grpSp>
        <p:nvGrpSpPr>
          <p:cNvPr id="7" name="Group 6">
            <a:extLst>
              <a:ext uri="{FF2B5EF4-FFF2-40B4-BE49-F238E27FC236}">
                <a16:creationId xmlns:a16="http://schemas.microsoft.com/office/drawing/2014/main" id="{47261E92-DA30-4B60-F764-78F8F7854D96}"/>
              </a:ext>
            </a:extLst>
          </p:cNvPr>
          <p:cNvGrpSpPr/>
          <p:nvPr/>
        </p:nvGrpSpPr>
        <p:grpSpPr>
          <a:xfrm>
            <a:off x="4983078" y="1194768"/>
            <a:ext cx="3868443" cy="869400"/>
            <a:chOff x="4983078" y="1194768"/>
            <a:chExt cx="3868443" cy="869400"/>
          </a:xfrm>
        </p:grpSpPr>
        <p:sp>
          <p:nvSpPr>
            <p:cNvPr id="21" name="TextBox 20">
              <a:extLst>
                <a:ext uri="{FF2B5EF4-FFF2-40B4-BE49-F238E27FC236}">
                  <a16:creationId xmlns:a16="http://schemas.microsoft.com/office/drawing/2014/main" id="{1F7404D7-1F44-2BA7-4768-6DC83349BA78}"/>
                </a:ext>
              </a:extLst>
            </p:cNvPr>
            <p:cNvSpPr txBox="1"/>
            <p:nvPr/>
          </p:nvSpPr>
          <p:spPr>
            <a:xfrm>
              <a:off x="6350000" y="1371074"/>
              <a:ext cx="2501521" cy="521199"/>
            </a:xfrm>
            <a:prstGeom prst="rect">
              <a:avLst/>
            </a:prstGeom>
            <a:noFill/>
          </p:spPr>
          <p:txBody>
            <a:bodyPr wrap="square" rtlCol="0" anchor="ctr">
              <a:noAutofit/>
            </a:bodyPr>
            <a:lstStyle/>
            <a:p>
              <a:r>
                <a:rPr lang="en-US" sz="1050" dirty="0">
                  <a:latin typeface="Helvetica Neue" panose="02000503000000020004" pitchFamily="2" charset="0"/>
                  <a:ea typeface="Helvetica Neue" panose="02000503000000020004" pitchFamily="2" charset="0"/>
                  <a:cs typeface="Helvetica Neue" panose="02000503000000020004" pitchFamily="2" charset="0"/>
                </a:rPr>
                <a:t>Most popular centralized cryptocurrency exchanges</a:t>
              </a:r>
            </a:p>
          </p:txBody>
        </p:sp>
        <p:sp>
          <p:nvSpPr>
            <p:cNvPr id="22" name="Google Shape;147;p10">
              <a:extLst>
                <a:ext uri="{FF2B5EF4-FFF2-40B4-BE49-F238E27FC236}">
                  <a16:creationId xmlns:a16="http://schemas.microsoft.com/office/drawing/2014/main" id="{13F441E0-6C16-C693-CC89-A156F1740FBA}"/>
                </a:ext>
              </a:extLst>
            </p:cNvPr>
            <p:cNvSpPr/>
            <p:nvPr/>
          </p:nvSpPr>
          <p:spPr>
            <a:xfrm>
              <a:off x="4983078" y="1194768"/>
              <a:ext cx="1296600" cy="86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2400" b="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12</a:t>
              </a:r>
              <a:endParaRPr sz="700" i="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grpSp>
      <p:grpSp>
        <p:nvGrpSpPr>
          <p:cNvPr id="9" name="Group 8">
            <a:extLst>
              <a:ext uri="{FF2B5EF4-FFF2-40B4-BE49-F238E27FC236}">
                <a16:creationId xmlns:a16="http://schemas.microsoft.com/office/drawing/2014/main" id="{4B778B2B-397D-736C-8845-734B7DF1A297}"/>
              </a:ext>
            </a:extLst>
          </p:cNvPr>
          <p:cNvGrpSpPr/>
          <p:nvPr/>
        </p:nvGrpSpPr>
        <p:grpSpPr>
          <a:xfrm>
            <a:off x="4983078" y="1937075"/>
            <a:ext cx="3868443" cy="869400"/>
            <a:chOff x="4983078" y="2082858"/>
            <a:chExt cx="3868443" cy="869400"/>
          </a:xfrm>
        </p:grpSpPr>
        <p:sp>
          <p:nvSpPr>
            <p:cNvPr id="27" name="TextBox 26">
              <a:extLst>
                <a:ext uri="{FF2B5EF4-FFF2-40B4-BE49-F238E27FC236}">
                  <a16:creationId xmlns:a16="http://schemas.microsoft.com/office/drawing/2014/main" id="{90FB7C28-FD81-3114-42A3-B906A87121E7}"/>
                </a:ext>
              </a:extLst>
            </p:cNvPr>
            <p:cNvSpPr txBox="1"/>
            <p:nvPr/>
          </p:nvSpPr>
          <p:spPr>
            <a:xfrm>
              <a:off x="6350000" y="2259164"/>
              <a:ext cx="2501521" cy="468388"/>
            </a:xfrm>
            <a:prstGeom prst="rect">
              <a:avLst/>
            </a:prstGeom>
            <a:noFill/>
          </p:spPr>
          <p:txBody>
            <a:bodyPr wrap="square" rtlCol="0" anchor="ctr">
              <a:noAutofit/>
            </a:bodyPr>
            <a:lstStyle/>
            <a:p>
              <a:r>
                <a:rPr lang="en-US" sz="1050" dirty="0">
                  <a:latin typeface="Helvetica Neue" panose="02000503000000020004" pitchFamily="2" charset="0"/>
                  <a:ea typeface="Helvetica Neue" panose="02000503000000020004" pitchFamily="2" charset="0"/>
                  <a:cs typeface="Helvetica Neue" panose="02000503000000020004" pitchFamily="2" charset="0"/>
                </a:rPr>
                <a:t>Nodes, representing possible coins to trade</a:t>
              </a:r>
            </a:p>
          </p:txBody>
        </p:sp>
        <p:sp>
          <p:nvSpPr>
            <p:cNvPr id="30" name="Google Shape;147;p10">
              <a:extLst>
                <a:ext uri="{FF2B5EF4-FFF2-40B4-BE49-F238E27FC236}">
                  <a16:creationId xmlns:a16="http://schemas.microsoft.com/office/drawing/2014/main" id="{4DB45BF2-2B6B-DBB5-02F9-DF40151009BB}"/>
                </a:ext>
              </a:extLst>
            </p:cNvPr>
            <p:cNvSpPr/>
            <p:nvPr/>
          </p:nvSpPr>
          <p:spPr>
            <a:xfrm>
              <a:off x="4983078" y="2082858"/>
              <a:ext cx="1296600" cy="86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2400" b="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41</a:t>
              </a:r>
              <a:endParaRPr sz="700" i="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grpSp>
      <p:grpSp>
        <p:nvGrpSpPr>
          <p:cNvPr id="14" name="Group 13">
            <a:extLst>
              <a:ext uri="{FF2B5EF4-FFF2-40B4-BE49-F238E27FC236}">
                <a16:creationId xmlns:a16="http://schemas.microsoft.com/office/drawing/2014/main" id="{AFC8245A-5C75-1593-6789-C45722FC325E}"/>
              </a:ext>
            </a:extLst>
          </p:cNvPr>
          <p:cNvGrpSpPr/>
          <p:nvPr/>
        </p:nvGrpSpPr>
        <p:grpSpPr>
          <a:xfrm>
            <a:off x="4983078" y="2798801"/>
            <a:ext cx="3868443" cy="869400"/>
            <a:chOff x="4983078" y="2974322"/>
            <a:chExt cx="3868443" cy="869400"/>
          </a:xfrm>
        </p:grpSpPr>
        <p:sp>
          <p:nvSpPr>
            <p:cNvPr id="32" name="TextBox 31">
              <a:extLst>
                <a:ext uri="{FF2B5EF4-FFF2-40B4-BE49-F238E27FC236}">
                  <a16:creationId xmlns:a16="http://schemas.microsoft.com/office/drawing/2014/main" id="{CD39B1A2-B2A4-4DDD-DEFE-C642F18E6200}"/>
                </a:ext>
              </a:extLst>
            </p:cNvPr>
            <p:cNvSpPr txBox="1"/>
            <p:nvPr/>
          </p:nvSpPr>
          <p:spPr>
            <a:xfrm>
              <a:off x="6350000" y="3147254"/>
              <a:ext cx="2501521" cy="468388"/>
            </a:xfrm>
            <a:prstGeom prst="rect">
              <a:avLst/>
            </a:prstGeom>
            <a:noFill/>
          </p:spPr>
          <p:txBody>
            <a:bodyPr wrap="square" rtlCol="0" anchor="ctr">
              <a:noAutofit/>
            </a:bodyPr>
            <a:lstStyle/>
            <a:p>
              <a:r>
                <a:rPr lang="en-US" sz="1050" dirty="0">
                  <a:latin typeface="Helvetica Neue" panose="02000503000000020004" pitchFamily="2" charset="0"/>
                  <a:ea typeface="Helvetica Neue" panose="02000503000000020004" pitchFamily="2" charset="0"/>
                  <a:cs typeface="Helvetica Neue" panose="02000503000000020004" pitchFamily="2" charset="0"/>
                </a:rPr>
                <a:t>Directed edges representing possible trades</a:t>
              </a:r>
            </a:p>
          </p:txBody>
        </p:sp>
        <p:sp>
          <p:nvSpPr>
            <p:cNvPr id="33" name="Google Shape;147;p10">
              <a:extLst>
                <a:ext uri="{FF2B5EF4-FFF2-40B4-BE49-F238E27FC236}">
                  <a16:creationId xmlns:a16="http://schemas.microsoft.com/office/drawing/2014/main" id="{B3F440E6-FCAF-E527-E5FD-904731BBBC66}"/>
                </a:ext>
              </a:extLst>
            </p:cNvPr>
            <p:cNvSpPr/>
            <p:nvPr/>
          </p:nvSpPr>
          <p:spPr>
            <a:xfrm>
              <a:off x="4983078" y="2974322"/>
              <a:ext cx="1296600" cy="86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2400" b="1"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rPr>
                <a:t>864</a:t>
              </a:r>
              <a:endParaRPr sz="700" dirty="0">
                <a:solidFill>
                  <a:schemeClr val="accent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grpSp>
      <p:sp>
        <p:nvSpPr>
          <p:cNvPr id="45" name="Triangle 44">
            <a:extLst>
              <a:ext uri="{FF2B5EF4-FFF2-40B4-BE49-F238E27FC236}">
                <a16:creationId xmlns:a16="http://schemas.microsoft.com/office/drawing/2014/main" id="{D9BEE6E4-1376-2874-D33B-ACD9ED2BFA10}"/>
              </a:ext>
            </a:extLst>
          </p:cNvPr>
          <p:cNvSpPr/>
          <p:nvPr/>
        </p:nvSpPr>
        <p:spPr>
          <a:xfrm rot="10800000">
            <a:off x="5299702" y="3745585"/>
            <a:ext cx="3533251" cy="135962"/>
          </a:xfrm>
          <a:prstGeom prst="triangle">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err="1">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1" name="Straight Connector 10">
            <a:extLst>
              <a:ext uri="{FF2B5EF4-FFF2-40B4-BE49-F238E27FC236}">
                <a16:creationId xmlns:a16="http://schemas.microsoft.com/office/drawing/2014/main" id="{77054E54-1DA0-71EC-A0D2-485C864C997F}"/>
              </a:ext>
            </a:extLst>
          </p:cNvPr>
          <p:cNvCxnSpPr>
            <a:cxnSpLocks/>
          </p:cNvCxnSpPr>
          <p:nvPr/>
        </p:nvCxnSpPr>
        <p:spPr>
          <a:xfrm>
            <a:off x="4936378" y="851472"/>
            <a:ext cx="0" cy="3870411"/>
          </a:xfrm>
          <a:prstGeom prst="line">
            <a:avLst/>
          </a:prstGeom>
          <a:ln w="19050">
            <a:solidFill>
              <a:schemeClr val="tx1">
                <a:lumMod val="50000"/>
                <a:lumOff val="50000"/>
              </a:schemeClr>
            </a:solidFill>
            <a:prstDash val="dash"/>
          </a:ln>
          <a:effectLst/>
        </p:spPr>
        <p:style>
          <a:lnRef idx="2">
            <a:schemeClr val="accent1"/>
          </a:lnRef>
          <a:fillRef idx="0">
            <a:schemeClr val="accent1"/>
          </a:fillRef>
          <a:effectRef idx="1">
            <a:schemeClr val="accent1"/>
          </a:effectRef>
          <a:fontRef idx="minor">
            <a:schemeClr val="tx1"/>
          </a:fontRef>
        </p:style>
      </p:cxnSp>
      <p:pic>
        <p:nvPicPr>
          <p:cNvPr id="6" name="Picture 5" descr="FullGraph.png">
            <a:extLst>
              <a:ext uri="{FF2B5EF4-FFF2-40B4-BE49-F238E27FC236}">
                <a16:creationId xmlns:a16="http://schemas.microsoft.com/office/drawing/2014/main" id="{493537BD-591D-BBE5-F796-4AE211BE9981}"/>
              </a:ext>
            </a:extLst>
          </p:cNvPr>
          <p:cNvPicPr>
            <a:picLocks noChangeAspect="1"/>
          </p:cNvPicPr>
          <p:nvPr/>
        </p:nvPicPr>
        <p:blipFill>
          <a:blip r:embed="rId6"/>
          <a:stretch>
            <a:fillRect/>
          </a:stretch>
        </p:blipFill>
        <p:spPr>
          <a:xfrm>
            <a:off x="209224" y="1119043"/>
            <a:ext cx="4406746" cy="3528143"/>
          </a:xfrm>
          <a:prstGeom prst="rect">
            <a:avLst/>
          </a:prstGeom>
        </p:spPr>
      </p:pic>
    </p:spTree>
    <p:extLst>
      <p:ext uri="{BB962C8B-B14F-4D97-AF65-F5344CB8AC3E}">
        <p14:creationId xmlns:p14="http://schemas.microsoft.com/office/powerpoint/2010/main" val="3766661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95">
          <a:extLst>
            <a:ext uri="{FF2B5EF4-FFF2-40B4-BE49-F238E27FC236}">
              <a16:creationId xmlns:a16="http://schemas.microsoft.com/office/drawing/2014/main" id="{EFF44357-42C5-D84E-B4F7-4DEC6CF7C5C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D249986-D8B2-4DF6-8801-23369F65AEAD}"/>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ED249986-D8B2-4DF6-8801-23369F65AEA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A37B9573-B90E-0A76-CDB0-AE7AB2D8BB6A}"/>
              </a:ext>
            </a:extLst>
          </p:cNvPr>
          <p:cNvSpPr>
            <a:spLocks noGrp="1"/>
          </p:cNvSpPr>
          <p:nvPr>
            <p:ph type="title"/>
          </p:nvPr>
        </p:nvSpPr>
        <p:spPr/>
        <p:txBody>
          <a:bodyPr vert="horz" rIns="91425"/>
          <a:lstStyle/>
          <a:p>
            <a:r>
              <a:rPr lang="en-CA" dirty="0"/>
              <a:t>Methodology: A* search with execution-aware heuristic</a:t>
            </a:r>
          </a:p>
        </p:txBody>
      </p:sp>
      <p:sp>
        <p:nvSpPr>
          <p:cNvPr id="2" name="Text Placeholder 1">
            <a:extLst>
              <a:ext uri="{FF2B5EF4-FFF2-40B4-BE49-F238E27FC236}">
                <a16:creationId xmlns:a16="http://schemas.microsoft.com/office/drawing/2014/main" id="{C13F3910-D37A-5244-D149-B1D90042E463}"/>
              </a:ext>
            </a:extLst>
          </p:cNvPr>
          <p:cNvSpPr>
            <a:spLocks noGrp="1"/>
          </p:cNvSpPr>
          <p:nvPr>
            <p:ph type="body" sz="quarter" idx="10"/>
          </p:nvPr>
        </p:nvSpPr>
        <p:spPr/>
        <p:txBody>
          <a:bodyPr/>
          <a:lstStyle/>
          <a:p>
            <a:endParaRPr lang="en-CA"/>
          </a:p>
        </p:txBody>
      </p:sp>
      <p:sp>
        <p:nvSpPr>
          <p:cNvPr id="3" name="Text Placeholder 2">
            <a:extLst>
              <a:ext uri="{FF2B5EF4-FFF2-40B4-BE49-F238E27FC236}">
                <a16:creationId xmlns:a16="http://schemas.microsoft.com/office/drawing/2014/main" id="{257EA35E-8901-F361-0426-83EB52FF281C}"/>
              </a:ext>
            </a:extLst>
          </p:cNvPr>
          <p:cNvSpPr>
            <a:spLocks noGrp="1"/>
          </p:cNvSpPr>
          <p:nvPr>
            <p:ph type="body" sz="quarter" idx="11"/>
          </p:nvPr>
        </p:nvSpPr>
        <p:spPr/>
        <p:txBody>
          <a:bodyPr/>
          <a:lstStyle/>
          <a:p>
            <a:endParaRPr lang="en-CA"/>
          </a:p>
        </p:txBody>
      </p:sp>
      <p:sp>
        <p:nvSpPr>
          <p:cNvPr id="2297" name="Google Shape;2297;p66">
            <a:extLst>
              <a:ext uri="{FF2B5EF4-FFF2-40B4-BE49-F238E27FC236}">
                <a16:creationId xmlns:a16="http://schemas.microsoft.com/office/drawing/2014/main" id="{D788CB6A-7737-0393-7C08-6A36B1E1CCE8}"/>
              </a:ext>
            </a:extLst>
          </p:cNvPr>
          <p:cNvSpPr/>
          <p:nvPr/>
        </p:nvSpPr>
        <p:spPr>
          <a:xfrm>
            <a:off x="370477" y="1519428"/>
            <a:ext cx="2926021" cy="393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CA" b="1"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Problem formulation</a:t>
            </a:r>
            <a:endParaRPr b="1" i="0" u="none" strike="noStrike" cap="none"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mc:AlternateContent xmlns:mc="http://schemas.openxmlformats.org/markup-compatibility/2006" xmlns:a14="http://schemas.microsoft.com/office/drawing/2010/main">
        <mc:Choice Requires="a14">
          <p:sp>
            <p:nvSpPr>
              <p:cNvPr id="2301" name="Google Shape;2301;p66">
                <a:extLst>
                  <a:ext uri="{FF2B5EF4-FFF2-40B4-BE49-F238E27FC236}">
                    <a16:creationId xmlns:a16="http://schemas.microsoft.com/office/drawing/2014/main" id="{F7F23794-0131-4C34-FF01-BC526C9BCD3E}"/>
                  </a:ext>
                </a:extLst>
              </p:cNvPr>
              <p:cNvSpPr/>
              <p:nvPr/>
            </p:nvSpPr>
            <p:spPr>
              <a:xfrm>
                <a:off x="370477" y="1990713"/>
                <a:ext cx="2926022" cy="2493111"/>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marL="171450" indent="-171450">
                  <a:buFont typeface="Arial" panose="020B0604020202020204" pitchFamily="34" charset="0"/>
                  <a:buChar char="•"/>
                </a:pPr>
                <a:r>
                  <a:rPr lang="en-US" sz="1200" dirty="0">
                    <a:solidFill>
                      <a:schemeClr val="dk1"/>
                    </a:solidFill>
                    <a:latin typeface="Helvetica Neue" panose="020B0604020202020204" charset="0"/>
                    <a:cs typeface="Times" panose="02020603050405020304" pitchFamily="18" charset="0"/>
                  </a:rPr>
                  <a:t>Profitable path: </a:t>
                </a:r>
                <a14:m>
                  <m:oMath xmlns:m="http://schemas.openxmlformats.org/officeDocument/2006/math">
                    <m:r>
                      <a:rPr lang="en-CA" sz="1200" i="1">
                        <a:solidFill>
                          <a:schemeClr val="dk1"/>
                        </a:solidFill>
                        <a:latin typeface="Cambria Math" panose="02040503050406030204" pitchFamily="18" charset="0"/>
                        <a:cs typeface="Times" panose="02020603050405020304" pitchFamily="18" charset="0"/>
                      </a:rPr>
                      <m:t>𝑃</m:t>
                    </m:r>
                    <m:r>
                      <a:rPr lang="en-CA" sz="1200" i="1">
                        <a:solidFill>
                          <a:schemeClr val="dk1"/>
                        </a:solidFill>
                        <a:latin typeface="Cambria Math" panose="02040503050406030204" pitchFamily="18" charset="0"/>
                        <a:cs typeface="Times" panose="02020603050405020304" pitchFamily="18" charset="0"/>
                      </a:rPr>
                      <m:t>=</m:t>
                    </m:r>
                    <m:d>
                      <m:dPr>
                        <m:ctrlPr>
                          <a:rPr lang="en-CA" sz="1200" i="1">
                            <a:solidFill>
                              <a:schemeClr val="dk1"/>
                            </a:solidFill>
                            <a:latin typeface="Cambria Math" panose="02040503050406030204" pitchFamily="18" charset="0"/>
                            <a:cs typeface="Times" panose="02020603050405020304" pitchFamily="18" charset="0"/>
                          </a:rPr>
                        </m:ctrlPr>
                      </m:dPr>
                      <m:e>
                        <m:sSub>
                          <m:sSubPr>
                            <m:ctrlPr>
                              <a:rPr lang="en-US" sz="1200" i="1">
                                <a:solidFill>
                                  <a:schemeClr val="dk1"/>
                                </a:solidFill>
                                <a:latin typeface="Cambria Math" panose="02040503050406030204" pitchFamily="18" charset="0"/>
                                <a:cs typeface="Times" panose="02020603050405020304" pitchFamily="18" charset="0"/>
                              </a:rPr>
                            </m:ctrlPr>
                          </m:sSubPr>
                          <m:e>
                            <m: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𝜐</m:t>
                            </m:r>
                          </m:e>
                          <m:sub>
                            <m:r>
                              <a:rPr lang="en-CA" sz="1200" i="1">
                                <a:solidFill>
                                  <a:schemeClr val="dk1"/>
                                </a:solidFill>
                                <a:latin typeface="Cambria Math" panose="02040503050406030204" pitchFamily="18" charset="0"/>
                                <a:cs typeface="Times" panose="02020603050405020304" pitchFamily="18" charset="0"/>
                              </a:rPr>
                              <m:t>0</m:t>
                            </m:r>
                          </m:sub>
                        </m:sSub>
                        <m:r>
                          <a:rPr lang="en-CA" sz="1200" i="1">
                            <a:solidFill>
                              <a:schemeClr val="dk1"/>
                            </a:solidFill>
                            <a:latin typeface="Cambria Math" panose="02040503050406030204" pitchFamily="18" charset="0"/>
                            <a:cs typeface="Times" panose="02020603050405020304" pitchFamily="18" charset="0"/>
                          </a:rPr>
                          <m:t>, </m:t>
                        </m:r>
                        <m:sSub>
                          <m:sSubPr>
                            <m:ctrlPr>
                              <a:rPr lang="en-US" sz="1200" i="1">
                                <a:solidFill>
                                  <a:schemeClr val="dk1"/>
                                </a:solidFill>
                                <a:latin typeface="Cambria Math" panose="02040503050406030204" pitchFamily="18" charset="0"/>
                                <a:cs typeface="Times" panose="02020603050405020304" pitchFamily="18" charset="0"/>
                              </a:rPr>
                            </m:ctrlPr>
                          </m:sSubPr>
                          <m:e>
                            <m: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𝜐</m:t>
                            </m:r>
                          </m:e>
                          <m:sub>
                            <m:r>
                              <a:rPr lang="en-CA" sz="1200" i="1">
                                <a:solidFill>
                                  <a:schemeClr val="dk1"/>
                                </a:solidFill>
                                <a:latin typeface="Cambria Math" panose="02040503050406030204" pitchFamily="18" charset="0"/>
                                <a:cs typeface="Times" panose="02020603050405020304" pitchFamily="18" charset="0"/>
                              </a:rPr>
                              <m:t>1</m:t>
                            </m:r>
                          </m:sub>
                        </m:sSub>
                        <m:r>
                          <a:rPr lang="en-CA" sz="1200" i="1">
                            <a:solidFill>
                              <a:schemeClr val="dk1"/>
                            </a:solidFill>
                            <a:latin typeface="Cambria Math" panose="02040503050406030204" pitchFamily="18" charset="0"/>
                            <a:cs typeface="Times" panose="02020603050405020304" pitchFamily="18" charset="0"/>
                          </a:rPr>
                          <m:t>, </m:t>
                        </m:r>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 </m:t>
                        </m:r>
                        <m:sSub>
                          <m:sSubPr>
                            <m:ctrlP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ctrlPr>
                          </m:sSubPr>
                          <m:e>
                            <m: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𝜐</m:t>
                            </m:r>
                          </m:e>
                          <m:sub>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𝑘</m:t>
                            </m:r>
                          </m:sub>
                        </m:sSub>
                      </m:e>
                    </m:d>
                  </m:oMath>
                </a14:m>
                <a:r>
                  <a:rPr lang="en-US" sz="1200" dirty="0">
                    <a:solidFill>
                      <a:schemeClr val="dk1"/>
                    </a:solidFill>
                    <a:latin typeface="Helvetica Neue" panose="020B0604020202020204" charset="0"/>
                    <a:cs typeface="Times" panose="02020603050405020304" pitchFamily="18" charset="0"/>
                  </a:rPr>
                  <a:t> with initial capital </a:t>
                </a:r>
                <a14:m>
                  <m:oMath xmlns:m="http://schemas.openxmlformats.org/officeDocument/2006/math">
                    <m:sSub>
                      <m:sSubPr>
                        <m:ctrlPr>
                          <a:rPr lang="en-US" sz="1200" i="1">
                            <a:solidFill>
                              <a:schemeClr val="dk1"/>
                            </a:solidFill>
                            <a:latin typeface="Cambria Math" panose="02040503050406030204" pitchFamily="18" charset="0"/>
                            <a:cs typeface="Times" panose="02020603050405020304" pitchFamily="18" charset="0"/>
                          </a:rPr>
                        </m:ctrlPr>
                      </m:sSubPr>
                      <m:e>
                        <m:r>
                          <a:rPr lang="en-CA" sz="1200" i="1">
                            <a:solidFill>
                              <a:schemeClr val="dk1"/>
                            </a:solidFill>
                            <a:latin typeface="Cambria Math" panose="02040503050406030204" pitchFamily="18" charset="0"/>
                            <a:cs typeface="Times" panose="02020603050405020304" pitchFamily="18" charset="0"/>
                          </a:rPr>
                          <m:t>𝐶</m:t>
                        </m:r>
                      </m:e>
                      <m:sub>
                        <m:r>
                          <a:rPr lang="en-CA" sz="1200" i="1">
                            <a:solidFill>
                              <a:schemeClr val="dk1"/>
                            </a:solidFill>
                            <a:latin typeface="Cambria Math" panose="02040503050406030204" pitchFamily="18" charset="0"/>
                            <a:cs typeface="Times" panose="02020603050405020304" pitchFamily="18" charset="0"/>
                          </a:rPr>
                          <m:t>0</m:t>
                        </m:r>
                      </m:sub>
                    </m:sSub>
                  </m:oMath>
                </a14:m>
                <a:r>
                  <a:rPr lang="en-CA" sz="1200" dirty="0">
                    <a:solidFill>
                      <a:schemeClr val="dk1"/>
                    </a:solidFill>
                    <a:latin typeface="Helvetica Neue" panose="020B0604020202020204" charset="0"/>
                    <a:cs typeface="Times" panose="02020603050405020304" pitchFamily="18" charset="0"/>
                  </a:rPr>
                  <a:t>, note that </a:t>
                </a:r>
                <a14:m>
                  <m:oMath xmlns:m="http://schemas.openxmlformats.org/officeDocument/2006/math">
                    <m:sSub>
                      <m:sSubPr>
                        <m:ctrlPr>
                          <a:rPr lang="en-CA" sz="1200" i="1" smtClean="0">
                            <a:solidFill>
                              <a:schemeClr val="dk1"/>
                            </a:solidFill>
                            <a:latin typeface="Cambria Math" panose="02040503050406030204" pitchFamily="18" charset="0"/>
                            <a:cs typeface="Times" panose="02020603050405020304" pitchFamily="18" charset="0"/>
                          </a:rPr>
                        </m:ctrlPr>
                      </m:sSubPr>
                      <m:e>
                        <m:r>
                          <a:rPr lang="en-CA" sz="1200" i="1" smtClean="0">
                            <a:solidFill>
                              <a:schemeClr val="dk1"/>
                            </a:solidFill>
                            <a:latin typeface="Cambria Math" panose="02040503050406030204" pitchFamily="18" charset="0"/>
                            <a:ea typeface="Cambria Math" panose="02040503050406030204" pitchFamily="18" charset="0"/>
                            <a:cs typeface="Times" panose="02020603050405020304" pitchFamily="18" charset="0"/>
                          </a:rPr>
                          <m:t>𝜐</m:t>
                        </m:r>
                      </m:e>
                      <m:sub>
                        <m:r>
                          <a:rPr lang="en-CA" sz="1200" b="0" i="1" smtClean="0">
                            <a:solidFill>
                              <a:schemeClr val="dk1"/>
                            </a:solidFill>
                            <a:latin typeface="Cambria Math" panose="02040503050406030204" pitchFamily="18" charset="0"/>
                            <a:cs typeface="Times" panose="02020603050405020304" pitchFamily="18" charset="0"/>
                          </a:rPr>
                          <m:t>0</m:t>
                        </m:r>
                      </m:sub>
                    </m:sSub>
                    <m:r>
                      <a:rPr lang="en-CA" sz="1200" b="0" i="1" smtClean="0">
                        <a:solidFill>
                          <a:schemeClr val="dk1"/>
                        </a:solidFill>
                        <a:latin typeface="Cambria Math" panose="02040503050406030204" pitchFamily="18" charset="0"/>
                        <a:cs typeface="Times" panose="02020603050405020304" pitchFamily="18" charset="0"/>
                      </a:rPr>
                      <m:t>=</m:t>
                    </m:r>
                    <m:sSub>
                      <m:sSubPr>
                        <m:ctrlP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ctrlPr>
                      </m:sSubPr>
                      <m:e>
                        <m: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𝜐</m:t>
                        </m:r>
                      </m:e>
                      <m:sub>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𝑘</m:t>
                        </m:r>
                      </m:sub>
                    </m:sSub>
                  </m:oMath>
                </a14:m>
                <a:r>
                  <a:rPr lang="en-CA" sz="1200" dirty="0">
                    <a:solidFill>
                      <a:schemeClr val="dk1"/>
                    </a:solidFill>
                    <a:latin typeface="Helvetica Neue" panose="020B0604020202020204" charset="0"/>
                    <a:cs typeface="Times" panose="02020603050405020304" pitchFamily="18" charset="0"/>
                  </a:rPr>
                  <a:t> does not have to hold </a:t>
                </a:r>
              </a:p>
              <a:p>
                <a:pPr marL="171450" indent="-171450">
                  <a:buFont typeface="Arial" panose="020B0604020202020204" pitchFamily="34" charset="0"/>
                  <a:buChar char="•"/>
                </a:pPr>
                <a:endParaRPr lang="en-CA" sz="1200" dirty="0">
                  <a:solidFill>
                    <a:schemeClr val="dk1"/>
                  </a:solidFill>
                  <a:latin typeface="Helvetica Neue" panose="020B0604020202020204" charset="0"/>
                  <a:cs typeface="Times" panose="02020603050405020304" pitchFamily="18" charset="0"/>
                </a:endParaRPr>
              </a:p>
              <a:p>
                <a:pPr marL="171450" indent="-171450">
                  <a:buFont typeface="Arial" panose="020B0604020202020204" pitchFamily="34" charset="0"/>
                  <a:buChar char="•"/>
                </a:pPr>
                <a:r>
                  <a:rPr lang="en-US" sz="1200" dirty="0">
                    <a:solidFill>
                      <a:schemeClr val="dk1"/>
                    </a:solidFill>
                    <a:latin typeface="Helvetica Neue" panose="020B0604020202020204" charset="0"/>
                    <a:cs typeface="Times" panose="02020603050405020304" pitchFamily="18" charset="0"/>
                  </a:rPr>
                  <a:t>Final capital: </a:t>
                </a:r>
                <a14:m>
                  <m:oMath xmlns:m="http://schemas.openxmlformats.org/officeDocument/2006/math">
                    <m:sSub>
                      <m:sSubPr>
                        <m:ctrlPr>
                          <a:rPr lang="en-US" sz="1200" i="1">
                            <a:solidFill>
                              <a:schemeClr val="dk1"/>
                            </a:solidFill>
                            <a:latin typeface="Cambria Math" panose="02040503050406030204" pitchFamily="18" charset="0"/>
                            <a:cs typeface="Times" panose="02020603050405020304" pitchFamily="18" charset="0"/>
                          </a:rPr>
                        </m:ctrlPr>
                      </m:sSubPr>
                      <m:e>
                        <m:r>
                          <a:rPr lang="en-CA" sz="1200" i="1">
                            <a:solidFill>
                              <a:schemeClr val="dk1"/>
                            </a:solidFill>
                            <a:latin typeface="Cambria Math" panose="02040503050406030204" pitchFamily="18" charset="0"/>
                            <a:cs typeface="Times" panose="02020603050405020304" pitchFamily="18" charset="0"/>
                          </a:rPr>
                          <m:t>𝐶</m:t>
                        </m:r>
                      </m:e>
                      <m:sub>
                        <m:r>
                          <a:rPr lang="en-CA" sz="1200" i="1">
                            <a:solidFill>
                              <a:schemeClr val="dk1"/>
                            </a:solidFill>
                            <a:latin typeface="Cambria Math" panose="02040503050406030204" pitchFamily="18" charset="0"/>
                            <a:cs typeface="Times" panose="02020603050405020304" pitchFamily="18" charset="0"/>
                          </a:rPr>
                          <m:t>𝑘</m:t>
                        </m:r>
                      </m:sub>
                    </m:sSub>
                    <m:r>
                      <a:rPr lang="en-CA" sz="1200" i="1">
                        <a:solidFill>
                          <a:schemeClr val="dk1"/>
                        </a:solidFill>
                        <a:latin typeface="Cambria Math" panose="02040503050406030204" pitchFamily="18" charset="0"/>
                        <a:cs typeface="Times" panose="02020603050405020304" pitchFamily="18" charset="0"/>
                      </a:rPr>
                      <m:t>=</m:t>
                    </m:r>
                    <m:sSub>
                      <m:sSubPr>
                        <m:ctrlPr>
                          <a:rPr lang="en-US" sz="1200" i="1">
                            <a:solidFill>
                              <a:schemeClr val="dk1"/>
                            </a:solidFill>
                            <a:latin typeface="Cambria Math" panose="02040503050406030204" pitchFamily="18" charset="0"/>
                            <a:cs typeface="Times" panose="02020603050405020304" pitchFamily="18" charset="0"/>
                          </a:rPr>
                        </m:ctrlPr>
                      </m:sSubPr>
                      <m:e>
                        <m:r>
                          <a:rPr lang="en-CA" sz="1200" i="1">
                            <a:solidFill>
                              <a:schemeClr val="dk1"/>
                            </a:solidFill>
                            <a:latin typeface="Cambria Math" panose="02040503050406030204" pitchFamily="18" charset="0"/>
                            <a:cs typeface="Times" panose="02020603050405020304" pitchFamily="18" charset="0"/>
                          </a:rPr>
                          <m:t>𝐶</m:t>
                        </m:r>
                      </m:e>
                      <m:sub>
                        <m:r>
                          <a:rPr lang="en-CA" sz="1200" i="1">
                            <a:solidFill>
                              <a:schemeClr val="dk1"/>
                            </a:solidFill>
                            <a:latin typeface="Cambria Math" panose="02040503050406030204" pitchFamily="18" charset="0"/>
                            <a:cs typeface="Times" panose="02020603050405020304" pitchFamily="18" charset="0"/>
                          </a:rPr>
                          <m:t>0</m:t>
                        </m:r>
                      </m:sub>
                    </m:sSub>
                    <m: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t>∙</m:t>
                    </m:r>
                    <m:nary>
                      <m:naryPr>
                        <m:chr m:val="∏"/>
                        <m:supHide m:val="on"/>
                        <m:ctrlPr>
                          <a:rPr lang="en-US" sz="1200" i="1">
                            <a:solidFill>
                              <a:schemeClr val="dk1"/>
                            </a:solidFill>
                            <a:latin typeface="Cambria Math" panose="02040503050406030204" pitchFamily="18" charset="0"/>
                            <a:ea typeface="Cambria Math" panose="02040503050406030204" pitchFamily="18" charset="0"/>
                            <a:cs typeface="Times" panose="02020603050405020304" pitchFamily="18" charset="0"/>
                          </a:rPr>
                        </m:ctrlPr>
                      </m:naryPr>
                      <m:sub>
                        <m:r>
                          <m:rPr>
                            <m:brk m:alnAt="7"/>
                          </m:rP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𝑒</m:t>
                        </m:r>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𝜖</m:t>
                        </m:r>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𝑃</m:t>
                        </m:r>
                      </m:sub>
                      <m:sup/>
                      <m:e>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𝑟</m:t>
                        </m:r>
                        <m:d>
                          <m:dPr>
                            <m:ctrlP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ctrlPr>
                          </m:dPr>
                          <m:e>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𝑒</m:t>
                            </m:r>
                          </m:e>
                        </m:d>
                      </m:e>
                    </m:nary>
                  </m:oMath>
                </a14:m>
                <a:r>
                  <a:rPr lang="en-US" sz="1200" dirty="0">
                    <a:solidFill>
                      <a:schemeClr val="dk1"/>
                    </a:solidFill>
                    <a:latin typeface="Helvetica Neue" panose="020B0604020202020204" charset="0"/>
                    <a:cs typeface="Times" panose="02020603050405020304" pitchFamily="18" charset="0"/>
                  </a:rPr>
                  <a:t>, where </a:t>
                </a:r>
                <a14:m>
                  <m:oMath xmlns:m="http://schemas.openxmlformats.org/officeDocument/2006/math">
                    <m:r>
                      <a:rPr lang="en-CA" sz="1200" i="1">
                        <a:solidFill>
                          <a:schemeClr val="dk1"/>
                        </a:solidFill>
                        <a:latin typeface="Cambria Math" panose="02040503050406030204" pitchFamily="18" charset="0"/>
                        <a:cs typeface="Times" panose="02020603050405020304" pitchFamily="18" charset="0"/>
                      </a:rPr>
                      <m:t>𝑟</m:t>
                    </m:r>
                    <m:d>
                      <m:dPr>
                        <m:ctrlPr>
                          <a:rPr lang="en-CA" sz="1200" i="1">
                            <a:solidFill>
                              <a:schemeClr val="dk1"/>
                            </a:solidFill>
                            <a:latin typeface="Cambria Math" panose="02040503050406030204" pitchFamily="18" charset="0"/>
                            <a:cs typeface="Times" panose="02020603050405020304" pitchFamily="18" charset="0"/>
                          </a:rPr>
                        </m:ctrlPr>
                      </m:dPr>
                      <m:e>
                        <m:r>
                          <a:rPr lang="en-CA" sz="1200" i="1">
                            <a:solidFill>
                              <a:schemeClr val="dk1"/>
                            </a:solidFill>
                            <a:latin typeface="Cambria Math" panose="02040503050406030204" pitchFamily="18" charset="0"/>
                            <a:cs typeface="Times" panose="02020603050405020304" pitchFamily="18" charset="0"/>
                          </a:rPr>
                          <m:t>𝑒</m:t>
                        </m:r>
                      </m:e>
                    </m:d>
                  </m:oMath>
                </a14:m>
                <a:r>
                  <a:rPr lang="en-US" sz="1200" dirty="0">
                    <a:solidFill>
                      <a:schemeClr val="dk1"/>
                    </a:solidFill>
                    <a:latin typeface="Helvetica Neue" panose="020B0604020202020204" charset="0"/>
                    <a:cs typeface="Times" panose="02020603050405020304" pitchFamily="18" charset="0"/>
                  </a:rPr>
                  <a:t> denotes the effective rate on edge </a:t>
                </a:r>
                <a14:m>
                  <m:oMath xmlns:m="http://schemas.openxmlformats.org/officeDocument/2006/math">
                    <m:r>
                      <a:rPr lang="en-CA" sz="1200" i="1">
                        <a:solidFill>
                          <a:schemeClr val="dk1"/>
                        </a:solidFill>
                        <a:latin typeface="Cambria Math" panose="02040503050406030204" pitchFamily="18" charset="0"/>
                        <a:cs typeface="Times" panose="02020603050405020304" pitchFamily="18" charset="0"/>
                      </a:rPr>
                      <m:t>𝑒</m:t>
                    </m:r>
                  </m:oMath>
                </a14:m>
                <a:r>
                  <a:rPr lang="en-US" sz="1200" dirty="0">
                    <a:solidFill>
                      <a:schemeClr val="dk1"/>
                    </a:solidFill>
                    <a:latin typeface="Helvetica Neue" panose="020B0604020202020204" charset="0"/>
                    <a:cs typeface="Times" panose="02020603050405020304" pitchFamily="18" charset="0"/>
                  </a:rPr>
                  <a:t>. </a:t>
                </a:r>
              </a:p>
              <a:p>
                <a:pPr marL="171450" indent="-171450">
                  <a:buFont typeface="Arial" panose="020B0604020202020204" pitchFamily="34" charset="0"/>
                  <a:buChar char="•"/>
                </a:pPr>
                <a:endParaRPr lang="en-US" sz="1200" dirty="0">
                  <a:solidFill>
                    <a:schemeClr val="dk1"/>
                  </a:solidFill>
                  <a:latin typeface="Helvetica Neue" panose="020B0604020202020204" charset="0"/>
                  <a:cs typeface="Times" panose="02020603050405020304" pitchFamily="18" charset="0"/>
                </a:endParaRPr>
              </a:p>
              <a:p>
                <a:pPr marL="171450" indent="-171450">
                  <a:buFont typeface="Arial" panose="020B0604020202020204" pitchFamily="34" charset="0"/>
                  <a:buChar char="•"/>
                </a:pPr>
                <a:r>
                  <a:rPr lang="en-US" sz="1200" dirty="0">
                    <a:solidFill>
                      <a:schemeClr val="dk1"/>
                    </a:solidFill>
                    <a:latin typeface="Helvetica Neue" panose="020B0604020202020204" charset="0"/>
                    <a:cs typeface="Times" panose="02020603050405020304" pitchFamily="18" charset="0"/>
                  </a:rPr>
                  <a:t>In log space this becomes: </a:t>
                </a:r>
                <a14:m>
                  <m:oMath xmlns:m="http://schemas.openxmlformats.org/officeDocument/2006/math">
                    <m:nary>
                      <m:naryPr>
                        <m:chr m:val="∑"/>
                        <m:limLoc m:val="subSup"/>
                        <m:supHide m:val="on"/>
                        <m:ctrlPr>
                          <a:rPr lang="en-US" sz="1200" i="1">
                            <a:solidFill>
                              <a:schemeClr val="dk1"/>
                            </a:solidFill>
                            <a:latin typeface="Cambria Math" panose="02040503050406030204" pitchFamily="18" charset="0"/>
                            <a:cs typeface="Times" panose="02020603050405020304" pitchFamily="18" charset="0"/>
                          </a:rPr>
                        </m:ctrlPr>
                      </m:naryPr>
                      <m:sub>
                        <m:r>
                          <m:rPr>
                            <m:brk m:alnAt="9"/>
                          </m:rPr>
                          <a:rPr lang="en-CA" sz="1200" i="1">
                            <a:solidFill>
                              <a:schemeClr val="dk1"/>
                            </a:solidFill>
                            <a:latin typeface="Cambria Math" panose="02040503050406030204" pitchFamily="18" charset="0"/>
                            <a:cs typeface="Times" panose="02020603050405020304" pitchFamily="18" charset="0"/>
                          </a:rPr>
                          <m:t>𝑒</m:t>
                        </m:r>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𝜖</m:t>
                        </m:r>
                        <m:r>
                          <a:rPr lang="en-CA" sz="1200" i="1">
                            <a:solidFill>
                              <a:schemeClr val="dk1"/>
                            </a:solidFill>
                            <a:latin typeface="Cambria Math" panose="02040503050406030204" pitchFamily="18" charset="0"/>
                            <a:ea typeface="Cambria Math" panose="02040503050406030204" pitchFamily="18" charset="0"/>
                            <a:cs typeface="Times" panose="02020603050405020304" pitchFamily="18" charset="0"/>
                          </a:rPr>
                          <m:t>𝑃</m:t>
                        </m:r>
                      </m:sub>
                      <m:sup/>
                      <m:e>
                        <m:r>
                          <a:rPr lang="en-CA" sz="1200" i="1">
                            <a:solidFill>
                              <a:schemeClr val="dk1"/>
                            </a:solidFill>
                            <a:latin typeface="Cambria Math" panose="02040503050406030204" pitchFamily="18" charset="0"/>
                            <a:cs typeface="Times" panose="02020603050405020304" pitchFamily="18" charset="0"/>
                          </a:rPr>
                          <m:t>−</m:t>
                        </m:r>
                        <m:func>
                          <m:funcPr>
                            <m:ctrlPr>
                              <a:rPr lang="en-CA" sz="1200" i="1">
                                <a:solidFill>
                                  <a:schemeClr val="dk1"/>
                                </a:solidFill>
                                <a:latin typeface="Cambria Math" panose="02040503050406030204" pitchFamily="18" charset="0"/>
                                <a:cs typeface="Times" panose="02020603050405020304" pitchFamily="18" charset="0"/>
                              </a:rPr>
                            </m:ctrlPr>
                          </m:funcPr>
                          <m:fName>
                            <m:r>
                              <m:rPr>
                                <m:sty m:val="p"/>
                              </m:rPr>
                              <a:rPr lang="en-CA" sz="1200">
                                <a:solidFill>
                                  <a:schemeClr val="dk1"/>
                                </a:solidFill>
                                <a:latin typeface="Cambria Math" panose="02040503050406030204" pitchFamily="18" charset="0"/>
                                <a:cs typeface="Times" panose="02020603050405020304" pitchFamily="18" charset="0"/>
                              </a:rPr>
                              <m:t>log</m:t>
                            </m:r>
                          </m:fName>
                          <m:e>
                            <m:d>
                              <m:dPr>
                                <m:ctrlPr>
                                  <a:rPr lang="en-CA" sz="1200" i="1">
                                    <a:solidFill>
                                      <a:schemeClr val="dk1"/>
                                    </a:solidFill>
                                    <a:latin typeface="Cambria Math" panose="02040503050406030204" pitchFamily="18" charset="0"/>
                                    <a:cs typeface="Times" panose="02020603050405020304" pitchFamily="18" charset="0"/>
                                  </a:rPr>
                                </m:ctrlPr>
                              </m:dPr>
                              <m:e>
                                <m:r>
                                  <a:rPr lang="en-CA" sz="1200" i="1">
                                    <a:solidFill>
                                      <a:schemeClr val="dk1"/>
                                    </a:solidFill>
                                    <a:latin typeface="Cambria Math" panose="02040503050406030204" pitchFamily="18" charset="0"/>
                                    <a:cs typeface="Times" panose="02020603050405020304" pitchFamily="18" charset="0"/>
                                  </a:rPr>
                                  <m:t>𝑟</m:t>
                                </m:r>
                                <m:d>
                                  <m:dPr>
                                    <m:ctrlPr>
                                      <a:rPr lang="en-CA" sz="1200" i="1">
                                        <a:solidFill>
                                          <a:schemeClr val="dk1"/>
                                        </a:solidFill>
                                        <a:latin typeface="Cambria Math" panose="02040503050406030204" pitchFamily="18" charset="0"/>
                                        <a:cs typeface="Times" panose="02020603050405020304" pitchFamily="18" charset="0"/>
                                      </a:rPr>
                                    </m:ctrlPr>
                                  </m:dPr>
                                  <m:e>
                                    <m:r>
                                      <a:rPr lang="en-CA" sz="1200" i="1">
                                        <a:solidFill>
                                          <a:schemeClr val="dk1"/>
                                        </a:solidFill>
                                        <a:latin typeface="Cambria Math" panose="02040503050406030204" pitchFamily="18" charset="0"/>
                                        <a:cs typeface="Times" panose="02020603050405020304" pitchFamily="18" charset="0"/>
                                      </a:rPr>
                                      <m:t>𝑒</m:t>
                                    </m:r>
                                  </m:e>
                                </m:d>
                              </m:e>
                            </m:d>
                          </m:e>
                        </m:func>
                        <m:r>
                          <a:rPr lang="en-CA" sz="1200" i="1">
                            <a:solidFill>
                              <a:schemeClr val="dk1"/>
                            </a:solidFill>
                            <a:latin typeface="Cambria Math" panose="02040503050406030204" pitchFamily="18" charset="0"/>
                            <a:cs typeface="Times" panose="02020603050405020304" pitchFamily="18" charset="0"/>
                          </a:rPr>
                          <m:t>≤−</m:t>
                        </m:r>
                        <m:r>
                          <m:rPr>
                            <m:sty m:val="p"/>
                          </m:rPr>
                          <a:rPr lang="en-CA" sz="1200">
                            <a:solidFill>
                              <a:schemeClr val="dk1"/>
                            </a:solidFill>
                            <a:latin typeface="Cambria Math" panose="02040503050406030204" pitchFamily="18" charset="0"/>
                            <a:cs typeface="Times" panose="02020603050405020304" pitchFamily="18" charset="0"/>
                          </a:rPr>
                          <m:t>log</m:t>
                        </m:r>
                        <m:r>
                          <a:rPr lang="en-CA" sz="1200" i="1">
                            <a:solidFill>
                              <a:schemeClr val="dk1"/>
                            </a:solidFill>
                            <a:latin typeface="Cambria Math" panose="02040503050406030204" pitchFamily="18" charset="0"/>
                            <a:cs typeface="Times" panose="02020603050405020304" pitchFamily="18" charset="0"/>
                          </a:rPr>
                          <m:t>⁡(1+</m:t>
                        </m:r>
                        <m:f>
                          <m:fPr>
                            <m:ctrlPr>
                              <a:rPr lang="en-US" sz="1200" i="1">
                                <a:solidFill>
                                  <a:schemeClr val="dk1"/>
                                </a:solidFill>
                                <a:latin typeface="Cambria Math" panose="02040503050406030204" pitchFamily="18" charset="0"/>
                                <a:cs typeface="Times" panose="02020603050405020304" pitchFamily="18" charset="0"/>
                              </a:rPr>
                            </m:ctrlPr>
                          </m:fPr>
                          <m:num>
                            <m:sSub>
                              <m:sSubPr>
                                <m:ctrlPr>
                                  <a:rPr lang="en-CA" sz="1200" i="1">
                                    <a:solidFill>
                                      <a:schemeClr val="dk1"/>
                                    </a:solidFill>
                                    <a:latin typeface="Cambria Math" panose="02040503050406030204" pitchFamily="18" charset="0"/>
                                    <a:cs typeface="Times" panose="02020603050405020304" pitchFamily="18" charset="0"/>
                                  </a:rPr>
                                </m:ctrlPr>
                              </m:sSubPr>
                              <m:e>
                                <m:r>
                                  <a:rPr lang="en-CA" sz="1200" i="1">
                                    <a:solidFill>
                                      <a:schemeClr val="dk1"/>
                                    </a:solidFill>
                                    <a:latin typeface="Cambria Math" panose="02040503050406030204" pitchFamily="18" charset="0"/>
                                    <a:cs typeface="Times" panose="02020603050405020304" pitchFamily="18" charset="0"/>
                                  </a:rPr>
                                  <m:t>𝑚𝑖𝑛</m:t>
                                </m:r>
                              </m:e>
                              <m:sub>
                                <m:r>
                                  <a:rPr lang="en-CA" sz="1200" i="1">
                                    <a:solidFill>
                                      <a:schemeClr val="dk1"/>
                                    </a:solidFill>
                                    <a:latin typeface="Cambria Math" panose="02040503050406030204" pitchFamily="18" charset="0"/>
                                    <a:cs typeface="Times" panose="02020603050405020304" pitchFamily="18" charset="0"/>
                                  </a:rPr>
                                  <m:t>𝑝𝑟𝑜𝑓𝑖𝑡</m:t>
                                </m:r>
                              </m:sub>
                            </m:sSub>
                          </m:num>
                          <m:den>
                            <m:sSub>
                              <m:sSubPr>
                                <m:ctrlPr>
                                  <a:rPr lang="en-US" sz="1200" i="1">
                                    <a:solidFill>
                                      <a:schemeClr val="dk1"/>
                                    </a:solidFill>
                                    <a:latin typeface="Cambria Math" panose="02040503050406030204" pitchFamily="18" charset="0"/>
                                    <a:cs typeface="Times" panose="02020603050405020304" pitchFamily="18" charset="0"/>
                                  </a:rPr>
                                </m:ctrlPr>
                              </m:sSubPr>
                              <m:e>
                                <m:r>
                                  <a:rPr lang="en-CA" sz="1200" i="1">
                                    <a:solidFill>
                                      <a:schemeClr val="dk1"/>
                                    </a:solidFill>
                                    <a:latin typeface="Cambria Math" panose="02040503050406030204" pitchFamily="18" charset="0"/>
                                    <a:cs typeface="Times" panose="02020603050405020304" pitchFamily="18" charset="0"/>
                                  </a:rPr>
                                  <m:t>𝐶</m:t>
                                </m:r>
                              </m:e>
                              <m:sub>
                                <m:r>
                                  <a:rPr lang="en-CA" sz="1200" i="1">
                                    <a:solidFill>
                                      <a:schemeClr val="dk1"/>
                                    </a:solidFill>
                                    <a:latin typeface="Cambria Math" panose="02040503050406030204" pitchFamily="18" charset="0"/>
                                    <a:cs typeface="Times" panose="02020603050405020304" pitchFamily="18" charset="0"/>
                                  </a:rPr>
                                  <m:t>0</m:t>
                                </m:r>
                              </m:sub>
                            </m:sSub>
                          </m:den>
                        </m:f>
                        <m:r>
                          <a:rPr lang="en-CA" sz="1200" i="1">
                            <a:solidFill>
                              <a:schemeClr val="dk1"/>
                            </a:solidFill>
                            <a:latin typeface="Cambria Math" panose="02040503050406030204" pitchFamily="18" charset="0"/>
                            <a:cs typeface="Times" panose="02020603050405020304" pitchFamily="18" charset="0"/>
                          </a:rPr>
                          <m:t>)</m:t>
                        </m:r>
                      </m:e>
                    </m:nary>
                    <m:r>
                      <a:rPr lang="en-CA" sz="1200" i="1">
                        <a:solidFill>
                          <a:schemeClr val="dk1"/>
                        </a:solidFill>
                        <a:latin typeface="Cambria Math" panose="02040503050406030204" pitchFamily="18" charset="0"/>
                        <a:cs typeface="Times" panose="02020603050405020304" pitchFamily="18" charset="0"/>
                      </a:rPr>
                      <m:t>. </m:t>
                    </m:r>
                  </m:oMath>
                </a14:m>
                <a:endParaRPr lang="en-US" sz="1200" dirty="0">
                  <a:solidFill>
                    <a:schemeClr val="dk1"/>
                  </a:solidFill>
                  <a:latin typeface="Helvetica Neue" panose="020B0604020202020204" charset="0"/>
                  <a:cs typeface="Times" panose="02020603050405020304" pitchFamily="18" charset="0"/>
                </a:endParaRPr>
              </a:p>
            </p:txBody>
          </p:sp>
        </mc:Choice>
        <mc:Fallback xmlns="">
          <p:sp>
            <p:nvSpPr>
              <p:cNvPr id="2301" name="Google Shape;2301;p66">
                <a:extLst>
                  <a:ext uri="{FF2B5EF4-FFF2-40B4-BE49-F238E27FC236}">
                    <a16:creationId xmlns:a16="http://schemas.microsoft.com/office/drawing/2014/main" id="{F7F23794-0131-4C34-FF01-BC526C9BCD3E}"/>
                  </a:ext>
                </a:extLst>
              </p:cNvPr>
              <p:cNvSpPr>
                <a:spLocks noRot="1" noChangeAspect="1" noMove="1" noResize="1" noEditPoints="1" noAdjustHandles="1" noChangeArrowheads="1" noChangeShapeType="1" noTextEdit="1"/>
              </p:cNvSpPr>
              <p:nvPr/>
            </p:nvSpPr>
            <p:spPr>
              <a:xfrm>
                <a:off x="370477" y="1990713"/>
                <a:ext cx="2926022" cy="2493111"/>
              </a:xfrm>
              <a:prstGeom prst="rect">
                <a:avLst/>
              </a:prstGeom>
              <a:blipFill>
                <a:blip r:embed="rId6"/>
                <a:stretch>
                  <a:fillRect l="-833" b="-6112"/>
                </a:stretch>
              </a:blipFill>
              <a:ln>
                <a:noFill/>
              </a:ln>
            </p:spPr>
            <p:txBody>
              <a:bodyPr/>
              <a:lstStyle/>
              <a:p>
                <a:r>
                  <a:rPr lang="en-CA">
                    <a:noFill/>
                  </a:rPr>
                  <a:t> </a:t>
                </a:r>
              </a:p>
            </p:txBody>
          </p:sp>
        </mc:Fallback>
      </mc:AlternateContent>
      <p:sp>
        <p:nvSpPr>
          <p:cNvPr id="2302" name="Google Shape;2302;p66">
            <a:extLst>
              <a:ext uri="{FF2B5EF4-FFF2-40B4-BE49-F238E27FC236}">
                <a16:creationId xmlns:a16="http://schemas.microsoft.com/office/drawing/2014/main" id="{71D77ABE-17C4-C2B9-316F-FA192B5DC18F}"/>
              </a:ext>
            </a:extLst>
          </p:cNvPr>
          <p:cNvSpPr/>
          <p:nvPr/>
        </p:nvSpPr>
        <p:spPr>
          <a:xfrm>
            <a:off x="3296498" y="3076154"/>
            <a:ext cx="772171" cy="390487"/>
          </a:xfrm>
          <a:prstGeom prst="right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sp>
        <p:nvSpPr>
          <p:cNvPr id="7" name="Google Shape;160;p13">
            <a:extLst>
              <a:ext uri="{FF2B5EF4-FFF2-40B4-BE49-F238E27FC236}">
                <a16:creationId xmlns:a16="http://schemas.microsoft.com/office/drawing/2014/main" id="{1CB212FD-380A-CF83-6152-DAB82A441742}"/>
              </a:ext>
            </a:extLst>
          </p:cNvPr>
          <p:cNvSpPr/>
          <p:nvPr/>
        </p:nvSpPr>
        <p:spPr>
          <a:xfrm>
            <a:off x="-7609" y="873330"/>
            <a:ext cx="9144000" cy="346701"/>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algn="ctr">
              <a:buClr>
                <a:srgbClr val="000000"/>
              </a:buClr>
              <a:buSzPts val="1200"/>
            </a:pPr>
            <a:r>
              <a:rPr lang="en-CA" sz="1050" b="1" dirty="0">
                <a:solidFill>
                  <a:schemeClr val="accent1"/>
                </a:solidFill>
                <a:latin typeface="Helvetica Neue" panose="02000503000000020004"/>
                <a:ea typeface="Noto Sans"/>
                <a:cs typeface="Noto Sans"/>
                <a:sym typeface="Noto Sans"/>
              </a:rPr>
              <a:t>Problem formulation and modification to A* search</a:t>
            </a:r>
          </a:p>
        </p:txBody>
      </p:sp>
      <p:sp>
        <p:nvSpPr>
          <p:cNvPr id="9" name="Google Shape;2297;p66">
            <a:extLst>
              <a:ext uri="{FF2B5EF4-FFF2-40B4-BE49-F238E27FC236}">
                <a16:creationId xmlns:a16="http://schemas.microsoft.com/office/drawing/2014/main" id="{ABCB4AE4-C8C2-C646-823E-9BDF96C945D9}"/>
              </a:ext>
            </a:extLst>
          </p:cNvPr>
          <p:cNvSpPr/>
          <p:nvPr/>
        </p:nvSpPr>
        <p:spPr>
          <a:xfrm>
            <a:off x="4068669" y="1516315"/>
            <a:ext cx="1966341" cy="393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CA" b="1"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Standard A*</a:t>
            </a:r>
            <a:endParaRPr b="1" i="0" u="none" strike="noStrike" cap="none"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sp>
        <p:nvSpPr>
          <p:cNvPr id="10" name="Google Shape;2298;p66">
            <a:extLst>
              <a:ext uri="{FF2B5EF4-FFF2-40B4-BE49-F238E27FC236}">
                <a16:creationId xmlns:a16="http://schemas.microsoft.com/office/drawing/2014/main" id="{B33E569F-32C0-1F21-F468-6C3BEEC2EF36}"/>
              </a:ext>
            </a:extLst>
          </p:cNvPr>
          <p:cNvSpPr/>
          <p:nvPr/>
        </p:nvSpPr>
        <p:spPr>
          <a:xfrm>
            <a:off x="6807181" y="1516315"/>
            <a:ext cx="1966341" cy="393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CA" b="1"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rPr>
              <a:t>Execution-aware A*</a:t>
            </a:r>
            <a:endParaRPr b="1" i="0" u="none" strike="noStrike" cap="none"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mc:AlternateContent xmlns:mc="http://schemas.openxmlformats.org/markup-compatibility/2006" xmlns:a14="http://schemas.microsoft.com/office/drawing/2010/main">
        <mc:Choice Requires="a14">
          <p:sp>
            <p:nvSpPr>
              <p:cNvPr id="11" name="Google Shape;2300;p66">
                <a:extLst>
                  <a:ext uri="{FF2B5EF4-FFF2-40B4-BE49-F238E27FC236}">
                    <a16:creationId xmlns:a16="http://schemas.microsoft.com/office/drawing/2014/main" id="{8C25C46A-0CD1-F74E-63F6-AD3BE072C8B3}"/>
                  </a:ext>
                </a:extLst>
              </p:cNvPr>
              <p:cNvSpPr/>
              <p:nvPr/>
            </p:nvSpPr>
            <p:spPr>
              <a:xfrm>
                <a:off x="6807181" y="1987601"/>
                <a:ext cx="1966341" cy="2493110"/>
              </a:xfrm>
              <a:prstGeom prst="rect">
                <a:avLst/>
              </a:prstGeom>
              <a:solidFill>
                <a:srgbClr val="EEEEEE"/>
              </a:solidFill>
              <a:ln>
                <a:noFill/>
              </a:ln>
            </p:spPr>
            <p:txBody>
              <a:bodyPr spcFirstLastPara="1" wrap="square" lIns="91425" tIns="91425" rIns="91425" bIns="91425" anchor="ctr" anchorCtr="0">
                <a:noAutofit/>
              </a:bodyPr>
              <a:lstStyle/>
              <a:p>
                <a:pPr lvl="0" algn="ctr"/>
                <a14:m>
                  <m:oMathPara xmlns:m="http://schemas.openxmlformats.org/officeDocument/2006/math">
                    <m:oMathParaPr>
                      <m:jc m:val="centerGroup"/>
                    </m:oMathParaPr>
                    <m:oMath xmlns:m="http://schemas.openxmlformats.org/officeDocument/2006/math">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𝑓</m:t>
                      </m:r>
                      <m:d>
                        <m:dPr>
                          <m:ctrlPr>
                            <a:rPr lang="en-CA" sz="1200" i="1">
                              <a:latin typeface="Cambria Math" panose="02040503050406030204" pitchFamily="18" charset="0"/>
                              <a:ea typeface="Helvetica Neue" panose="02000503000000020004" pitchFamily="2" charset="0"/>
                              <a:cs typeface="Helvetica Neue" panose="02000503000000020004" pitchFamily="2" charset="0"/>
                              <a:sym typeface="Source Sans Pro"/>
                            </a:rPr>
                          </m:ctrlPr>
                        </m:dPr>
                        <m:e>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𝑛</m:t>
                          </m:r>
                        </m:e>
                      </m:d>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𝑔</m:t>
                      </m:r>
                      <m:d>
                        <m:dPr>
                          <m:ctrlPr>
                            <a:rPr lang="en-CA" sz="1200" i="1">
                              <a:latin typeface="Cambria Math" panose="02040503050406030204" pitchFamily="18" charset="0"/>
                              <a:ea typeface="Helvetica Neue" panose="02000503000000020004" pitchFamily="2" charset="0"/>
                              <a:cs typeface="Helvetica Neue" panose="02000503000000020004" pitchFamily="2" charset="0"/>
                              <a:sym typeface="Source Sans Pro"/>
                            </a:rPr>
                          </m:ctrlPr>
                        </m:dPr>
                        <m:e>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𝑛</m:t>
                          </m:r>
                        </m:e>
                      </m:d>
                      <m:r>
                        <a:rPr lang="en-CA" sz="1200" b="0" i="1">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𝒉</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𝒏</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oMath>
                  </m:oMathPara>
                </a14:m>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lvl="0" algn="ct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lvl="0" algn="ctr"/>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171450" indent="-171450">
                  <a:buFont typeface="Arial" panose="020B0604020202020204" pitchFamily="34" charset="0"/>
                  <a:buChar char="•"/>
                </a:pPr>
                <a14:m>
                  <m:oMath xmlns:m="http://schemas.openxmlformats.org/officeDocument/2006/math">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𝒉</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𝒏</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oMath>
                </a14:m>
                <a:r>
                  <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rPr>
                  <a:t> </a:t>
                </a:r>
                <a:r>
                  <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rPr>
                  <a:t>estimates the penalty for the risk of the trade from node n to node n+1 </a:t>
                </a: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171450" lvl="0" indent="-171450">
                  <a:buFont typeface="Arial" panose="020B0604020202020204" pitchFamily="34" charset="0"/>
                  <a:buChar char="•"/>
                </a:pPr>
                <a:r>
                  <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rPr>
                  <a:t>Execution-aware A* only estimates next edge penalty</a:t>
                </a:r>
              </a:p>
            </p:txBody>
          </p:sp>
        </mc:Choice>
        <mc:Fallback xmlns="">
          <p:sp>
            <p:nvSpPr>
              <p:cNvPr id="11" name="Google Shape;2300;p66">
                <a:extLst>
                  <a:ext uri="{FF2B5EF4-FFF2-40B4-BE49-F238E27FC236}">
                    <a16:creationId xmlns:a16="http://schemas.microsoft.com/office/drawing/2014/main" id="{8C25C46A-0CD1-F74E-63F6-AD3BE072C8B3}"/>
                  </a:ext>
                </a:extLst>
              </p:cNvPr>
              <p:cNvSpPr>
                <a:spLocks noRot="1" noChangeAspect="1" noMove="1" noResize="1" noEditPoints="1" noAdjustHandles="1" noChangeArrowheads="1" noChangeShapeType="1" noTextEdit="1"/>
              </p:cNvSpPr>
              <p:nvPr/>
            </p:nvSpPr>
            <p:spPr>
              <a:xfrm>
                <a:off x="6807181" y="1987601"/>
                <a:ext cx="1966341" cy="2493110"/>
              </a:xfrm>
              <a:prstGeom prst="rect">
                <a:avLst/>
              </a:prstGeom>
              <a:blipFill>
                <a:blip r:embed="rId7"/>
                <a:stretch>
                  <a:fillRect/>
                </a:stretch>
              </a:blipFill>
              <a:ln>
                <a:no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Google Shape;2301;p66">
                <a:extLst>
                  <a:ext uri="{FF2B5EF4-FFF2-40B4-BE49-F238E27FC236}">
                    <a16:creationId xmlns:a16="http://schemas.microsoft.com/office/drawing/2014/main" id="{4535B91D-4F0F-A5BF-6114-A37C98C92DE5}"/>
                  </a:ext>
                </a:extLst>
              </p:cNvPr>
              <p:cNvSpPr/>
              <p:nvPr/>
            </p:nvSpPr>
            <p:spPr>
              <a:xfrm>
                <a:off x="4068669" y="1987601"/>
                <a:ext cx="1966341" cy="2493110"/>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𝑓</m:t>
                      </m:r>
                      <m:d>
                        <m:dPr>
                          <m:ctrlPr>
                            <a:rPr lang="en-CA" sz="120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ctrlPr>
                        </m:dPr>
                        <m:e>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𝑛</m:t>
                          </m:r>
                        </m:e>
                      </m:d>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𝑔</m:t>
                      </m:r>
                      <m:d>
                        <m:dPr>
                          <m:ctrlPr>
                            <a:rPr lang="en-CA" sz="120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ctrlPr>
                        </m:dPr>
                        <m:e>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𝑛</m:t>
                          </m:r>
                        </m:e>
                      </m:d>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h</m:t>
                      </m:r>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𝑛</m:t>
                      </m:r>
                      <m:r>
                        <a:rPr lang="en-CA" sz="12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m:t>
                      </m:r>
                    </m:oMath>
                  </m:oMathPara>
                </a14:m>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171450" indent="-171450">
                  <a:buFont typeface="Arial" panose="020B0604020202020204" pitchFamily="34" charset="0"/>
                  <a:buChar char="•"/>
                </a:pPr>
                <a14:m>
                  <m:oMath xmlns:m="http://schemas.openxmlformats.org/officeDocument/2006/math">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𝒉</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𝒏</m:t>
                    </m:r>
                    <m:r>
                      <a:rPr lang="en-CA" sz="1200" b="1" i="1">
                        <a:latin typeface="Cambria Math" panose="02040503050406030204" pitchFamily="18" charset="0"/>
                        <a:ea typeface="Helvetica Neue" panose="02000503000000020004" pitchFamily="2" charset="0"/>
                        <a:cs typeface="Helvetica Neue" panose="02000503000000020004" pitchFamily="2" charset="0"/>
                        <a:sym typeface="Source Sans Pro"/>
                      </a:rPr>
                      <m:t>)</m:t>
                    </m:r>
                  </m:oMath>
                </a14:m>
                <a:r>
                  <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rPr>
                  <a:t> </a:t>
                </a:r>
                <a:r>
                  <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rPr>
                  <a:t>estimates distance to the final node. </a:t>
                </a: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171450" lvl="0" indent="-171450" rtl="0">
                  <a:spcBef>
                    <a:spcPts val="0"/>
                  </a:spcBef>
                  <a:spcAft>
                    <a:spcPts val="0"/>
                  </a:spcAft>
                  <a:buFont typeface="Arial" panose="020B0604020202020204" pitchFamily="34" charset="0"/>
                  <a:buChar char="•"/>
                </a:pPr>
                <a:r>
                  <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rPr>
                  <a:t>A* estimates final node location/state</a:t>
                </a:r>
              </a:p>
              <a:p>
                <a:pPr marL="171450" lvl="0" indent="-171450" rtl="0">
                  <a:spcBef>
                    <a:spcPts val="0"/>
                  </a:spcBef>
                  <a:spcAft>
                    <a:spcPts val="0"/>
                  </a:spcAft>
                  <a:buFont typeface="Arial" panose="020B0604020202020204" pitchFamily="34" charset="0"/>
                  <a:buChar char="•"/>
                </a:pPr>
                <a:endParaRPr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mc:Choice>
        <mc:Fallback xmlns="">
          <p:sp>
            <p:nvSpPr>
              <p:cNvPr id="12" name="Google Shape;2301;p66">
                <a:extLst>
                  <a:ext uri="{FF2B5EF4-FFF2-40B4-BE49-F238E27FC236}">
                    <a16:creationId xmlns:a16="http://schemas.microsoft.com/office/drawing/2014/main" id="{4535B91D-4F0F-A5BF-6114-A37C98C92DE5}"/>
                  </a:ext>
                </a:extLst>
              </p:cNvPr>
              <p:cNvSpPr>
                <a:spLocks noRot="1" noChangeAspect="1" noMove="1" noResize="1" noEditPoints="1" noAdjustHandles="1" noChangeArrowheads="1" noChangeShapeType="1" noTextEdit="1"/>
              </p:cNvSpPr>
              <p:nvPr/>
            </p:nvSpPr>
            <p:spPr>
              <a:xfrm>
                <a:off x="4068669" y="1987601"/>
                <a:ext cx="1966341" cy="2493110"/>
              </a:xfrm>
              <a:prstGeom prst="rect">
                <a:avLst/>
              </a:prstGeom>
              <a:blipFill>
                <a:blip r:embed="rId8"/>
                <a:stretch>
                  <a:fillRect/>
                </a:stretch>
              </a:blipFill>
              <a:ln>
                <a:noFill/>
              </a:ln>
            </p:spPr>
            <p:txBody>
              <a:bodyPr/>
              <a:lstStyle/>
              <a:p>
                <a:r>
                  <a:rPr lang="en-CA">
                    <a:noFill/>
                  </a:rPr>
                  <a:t> </a:t>
                </a:r>
              </a:p>
            </p:txBody>
          </p:sp>
        </mc:Fallback>
      </mc:AlternateContent>
      <p:sp>
        <p:nvSpPr>
          <p:cNvPr id="13" name="Google Shape;2302;p66">
            <a:extLst>
              <a:ext uri="{FF2B5EF4-FFF2-40B4-BE49-F238E27FC236}">
                <a16:creationId xmlns:a16="http://schemas.microsoft.com/office/drawing/2014/main" id="{773DE138-FA3A-E9BA-2B9D-0F5D1F50A2AD}"/>
              </a:ext>
            </a:extLst>
          </p:cNvPr>
          <p:cNvSpPr/>
          <p:nvPr/>
        </p:nvSpPr>
        <p:spPr>
          <a:xfrm>
            <a:off x="6035009" y="3069676"/>
            <a:ext cx="772171" cy="505798"/>
          </a:xfrm>
          <a:prstGeom prst="right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panose="02000503000000020004" pitchFamily="2" charset="0"/>
              <a:ea typeface="Helvetica Neue" panose="02000503000000020004" pitchFamily="2" charset="0"/>
              <a:cs typeface="Helvetica Neue" panose="02000503000000020004" pitchFamily="2" charset="0"/>
              <a:sym typeface="Source Sans Pro"/>
            </a:endParaRPr>
          </a:p>
        </p:txBody>
      </p:sp>
    </p:spTree>
    <p:extLst>
      <p:ext uri="{BB962C8B-B14F-4D97-AF65-F5344CB8AC3E}">
        <p14:creationId xmlns:p14="http://schemas.microsoft.com/office/powerpoint/2010/main" val="262103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95">
          <a:extLst>
            <a:ext uri="{FF2B5EF4-FFF2-40B4-BE49-F238E27FC236}">
              <a16:creationId xmlns:a16="http://schemas.microsoft.com/office/drawing/2014/main" id="{0E7F4245-E8F3-0FD5-CCA9-BF7E66BCDE6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3B64F4-7D37-2602-CC56-AF1CBA5FD42B}"/>
              </a:ext>
            </a:extLst>
          </p:cNvPr>
          <p:cNvGraphicFramePr>
            <a:graphicFrameLocks/>
          </p:cNvGraphicFramePr>
          <p:nvPr>
            <p:custDataLst>
              <p:tags r:id="rId1"/>
            </p:custDataLst>
            <p:extLst>
              <p:ext uri="{D42A27DB-BD31-4B8C-83A1-F6EECF244321}">
                <p14:modId xmlns:p14="http://schemas.microsoft.com/office/powerpoint/2010/main" val="27324516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2F3B64F4-7D37-2602-CC56-AF1CBA5FD42B}"/>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871DAC91-AB82-2576-F866-EBADF0A0FDFE}"/>
              </a:ext>
            </a:extLst>
          </p:cNvPr>
          <p:cNvSpPr>
            <a:spLocks noGrp="1"/>
          </p:cNvSpPr>
          <p:nvPr>
            <p:ph type="title"/>
          </p:nvPr>
        </p:nvSpPr>
        <p:spPr/>
        <p:txBody>
          <a:bodyPr vert="horz" rIns="91425"/>
          <a:lstStyle/>
          <a:p>
            <a:r>
              <a:rPr lang="en-CA" dirty="0"/>
              <a:t>Three execution-aware heuristics</a:t>
            </a:r>
          </a:p>
        </p:txBody>
      </p:sp>
      <p:sp>
        <p:nvSpPr>
          <p:cNvPr id="9" name="Text Placeholder 8">
            <a:extLst>
              <a:ext uri="{FF2B5EF4-FFF2-40B4-BE49-F238E27FC236}">
                <a16:creationId xmlns:a16="http://schemas.microsoft.com/office/drawing/2014/main" id="{3AC26B49-A35C-A904-A90D-BFA1EDBCF672}"/>
              </a:ext>
            </a:extLst>
          </p:cNvPr>
          <p:cNvSpPr>
            <a:spLocks noGrp="1"/>
          </p:cNvSpPr>
          <p:nvPr>
            <p:ph type="body" sz="quarter" idx="10"/>
          </p:nvPr>
        </p:nvSpPr>
        <p:spPr/>
        <p:txBody>
          <a:bodyPr/>
          <a:lstStyle/>
          <a:p>
            <a:endParaRPr lang="en-CA"/>
          </a:p>
        </p:txBody>
      </p:sp>
      <p:sp>
        <p:nvSpPr>
          <p:cNvPr id="10" name="Text Placeholder 9">
            <a:extLst>
              <a:ext uri="{FF2B5EF4-FFF2-40B4-BE49-F238E27FC236}">
                <a16:creationId xmlns:a16="http://schemas.microsoft.com/office/drawing/2014/main" id="{A997B20E-BEB4-7120-B4DE-311368A18BDB}"/>
              </a:ext>
            </a:extLst>
          </p:cNvPr>
          <p:cNvSpPr>
            <a:spLocks noGrp="1"/>
          </p:cNvSpPr>
          <p:nvPr>
            <p:ph type="body" sz="quarter" idx="11"/>
          </p:nvPr>
        </p:nvSpPr>
        <p:spPr/>
        <p:txBody>
          <a:bodyPr/>
          <a:lstStyle/>
          <a:p>
            <a:endParaRPr lang="en-CA"/>
          </a:p>
        </p:txBody>
      </p:sp>
      <p:sp>
        <p:nvSpPr>
          <p:cNvPr id="7" name="Google Shape;160;p13">
            <a:extLst>
              <a:ext uri="{FF2B5EF4-FFF2-40B4-BE49-F238E27FC236}">
                <a16:creationId xmlns:a16="http://schemas.microsoft.com/office/drawing/2014/main" id="{0A9FE80C-7A5B-BA8F-0AA5-26DC39BCD49F}"/>
              </a:ext>
            </a:extLst>
          </p:cNvPr>
          <p:cNvSpPr/>
          <p:nvPr/>
        </p:nvSpPr>
        <p:spPr>
          <a:xfrm>
            <a:off x="0" y="771975"/>
            <a:ext cx="9144000" cy="540777"/>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algn="ctr"/>
            <a:r>
              <a:rPr lang="en-CA" dirty="0">
                <a:solidFill>
                  <a:srgbClr val="1A1A2E"/>
                </a:solidFill>
              </a:rPr>
              <a:t>Each heuristic adds a domain-specific penalty to h(n), steering A* away </a:t>
            </a:r>
          </a:p>
          <a:p>
            <a:pPr algn="ctr"/>
            <a:r>
              <a:rPr lang="en-CA" dirty="0">
                <a:solidFill>
                  <a:srgbClr val="1A1A2E"/>
                </a:solidFill>
              </a:rPr>
              <a:t>from paths too risky to execute under live costs</a:t>
            </a:r>
            <a:r>
              <a:rPr lang="en-CA" sz="1050" dirty="0">
                <a:solidFill>
                  <a:srgbClr val="1A1A2E"/>
                </a:solidFill>
              </a:rPr>
              <a:t>.</a:t>
            </a:r>
          </a:p>
        </p:txBody>
      </p:sp>
      <p:grpSp>
        <p:nvGrpSpPr>
          <p:cNvPr id="11" name="Group 10">
            <a:extLst>
              <a:ext uri="{FF2B5EF4-FFF2-40B4-BE49-F238E27FC236}">
                <a16:creationId xmlns:a16="http://schemas.microsoft.com/office/drawing/2014/main" id="{5758F469-461D-BC9E-FF1B-F6D51608A9C2}"/>
              </a:ext>
            </a:extLst>
          </p:cNvPr>
          <p:cNvGrpSpPr/>
          <p:nvPr/>
        </p:nvGrpSpPr>
        <p:grpSpPr>
          <a:xfrm>
            <a:off x="496796" y="1529653"/>
            <a:ext cx="2350313" cy="3135112"/>
            <a:chOff x="496796" y="1529653"/>
            <a:chExt cx="2350313" cy="3135112"/>
          </a:xfrm>
        </p:grpSpPr>
        <p:sp>
          <p:nvSpPr>
            <p:cNvPr id="2" name="Google Shape;2297;p66">
              <a:extLst>
                <a:ext uri="{FF2B5EF4-FFF2-40B4-BE49-F238E27FC236}">
                  <a16:creationId xmlns:a16="http://schemas.microsoft.com/office/drawing/2014/main" id="{10D3DD03-E364-3473-BC6F-F8BF583346CA}"/>
                </a:ext>
              </a:extLst>
            </p:cNvPr>
            <p:cNvSpPr/>
            <p:nvPr/>
          </p:nvSpPr>
          <p:spPr>
            <a:xfrm>
              <a:off x="496796" y="1529653"/>
              <a:ext cx="2350313" cy="393600"/>
            </a:xfrm>
            <a:prstGeom prst="rect">
              <a:avLst/>
            </a:prstGeom>
            <a:solidFill>
              <a:schemeClr val="accent1"/>
            </a:solidFill>
            <a:ln>
              <a:noFill/>
            </a:ln>
          </p:spPr>
          <p:txBody>
            <a:bodyPr spcFirstLastPara="1" wrap="square" lIns="91425" tIns="91425" rIns="91425" bIns="91425" anchor="ctr" anchorCtr="0">
              <a:noAutofit/>
            </a:bodyPr>
            <a:lstStyle/>
            <a:p>
              <a:pPr algn="ctr"/>
              <a:r>
                <a:rPr lang="en-CA" b="1" dirty="0">
                  <a:solidFill>
                    <a:srgbClr val="FFFFFF"/>
                  </a:solidFill>
                </a:rPr>
                <a:t>h₁</a:t>
              </a:r>
            </a:p>
          </p:txBody>
        </p:sp>
        <mc:AlternateContent xmlns:mc="http://schemas.openxmlformats.org/markup-compatibility/2006" xmlns:a14="http://schemas.microsoft.com/office/drawing/2010/main">
          <mc:Choice Requires="a14">
            <p:sp>
              <p:nvSpPr>
                <p:cNvPr id="3" name="Google Shape;2301;p66">
                  <a:extLst>
                    <a:ext uri="{FF2B5EF4-FFF2-40B4-BE49-F238E27FC236}">
                      <a16:creationId xmlns:a16="http://schemas.microsoft.com/office/drawing/2014/main" id="{E5D0F32B-DA58-2209-36CE-D1FF4FD1388A}"/>
                    </a:ext>
                  </a:extLst>
                </p:cNvPr>
                <p:cNvSpPr/>
                <p:nvPr/>
              </p:nvSpPr>
              <p:spPr>
                <a:xfrm>
                  <a:off x="496796" y="2000939"/>
                  <a:ext cx="2350313" cy="2663826"/>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rPr>
                    <a:t>Liquidity</a:t>
                  </a:r>
                </a:p>
                <a:p>
                  <a:pPr marL="0" lvl="0" indent="0" algn="ctr" rtl="0">
                    <a:spcBef>
                      <a:spcPts val="0"/>
                    </a:spcBef>
                    <a:spcAft>
                      <a:spcPts val="0"/>
                    </a:spcAft>
                    <a:buNone/>
                  </a:pP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110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h</m:t>
                            </m:r>
                          </m:e>
                          <m:sub>
                            <m:r>
                              <a:rPr lang="en-CA" sz="1100" b="0" i="1" smtClean="0">
                                <a:latin typeface="Cambria Math" panose="02040503050406030204" pitchFamily="18" charset="0"/>
                                <a:sym typeface="Source Sans Pro"/>
                              </a:rPr>
                              <m:t>1</m:t>
                            </m:r>
                          </m:sub>
                        </m:sSub>
                        <m:d>
                          <m:dPr>
                            <m:ctrlPr>
                              <a:rPr lang="en-CA" sz="1100" b="0" i="1" smtClean="0">
                                <a:latin typeface="Cambria Math" panose="02040503050406030204" pitchFamily="18" charset="0"/>
                                <a:sym typeface="Source Sans Pro"/>
                              </a:rPr>
                            </m:ctrlPr>
                          </m:dPr>
                          <m:e>
                            <m:r>
                              <a:rPr lang="en-CA" sz="1100" b="0" i="1" smtClean="0">
                                <a:latin typeface="Cambria Math" panose="02040503050406030204" pitchFamily="18" charset="0"/>
                                <a:sym typeface="Source Sans Pro"/>
                              </a:rPr>
                              <m:t>𝑛</m:t>
                            </m:r>
                          </m:e>
                        </m:d>
                        <m:r>
                          <a:rPr lang="en-CA" sz="1100" b="0" i="1" smtClean="0">
                            <a:latin typeface="Cambria Math" panose="02040503050406030204" pitchFamily="18" charset="0"/>
                            <a:sym typeface="Source Sans Pro"/>
                          </a:rPr>
                          <m:t>=</m:t>
                        </m:r>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ea typeface="Cambria Math" panose="02040503050406030204" pitchFamily="18" charset="0"/>
                                <a:sym typeface="Source Sans Pro"/>
                              </a:rPr>
                              <m:t>𝜆</m:t>
                            </m:r>
                          </m:e>
                          <m:sub>
                            <m:r>
                              <a:rPr lang="en-CA" sz="1100" b="0" i="1" smtClean="0">
                                <a:latin typeface="Cambria Math" panose="02040503050406030204" pitchFamily="18" charset="0"/>
                                <a:sym typeface="Source Sans Pro"/>
                              </a:rPr>
                              <m:t>𝑙𝑖𝑞</m:t>
                            </m:r>
                          </m:sub>
                        </m:sSub>
                        <m:r>
                          <a:rPr lang="en-CA" sz="1100" b="0" i="1" smtClean="0">
                            <a:latin typeface="Cambria Math" panose="02040503050406030204" pitchFamily="18" charset="0"/>
                            <a:sym typeface="Source Sans Pro"/>
                          </a:rPr>
                          <m:t>(1−</m:t>
                        </m:r>
                        <m:r>
                          <a:rPr lang="en-CA" sz="1100" b="0" i="1" smtClean="0">
                            <a:latin typeface="Cambria Math" panose="02040503050406030204" pitchFamily="18" charset="0"/>
                            <a:sym typeface="Source Sans Pro"/>
                          </a:rPr>
                          <m:t>𝑐𝑙𝑎𝑚𝑝</m:t>
                        </m:r>
                        <m:f>
                          <m:fPr>
                            <m:ctrlPr>
                              <a:rPr lang="en-CA" sz="1100" b="0" i="1" smtClean="0">
                                <a:latin typeface="Cambria Math" panose="02040503050406030204" pitchFamily="18" charset="0"/>
                                <a:sym typeface="Source Sans Pro"/>
                              </a:rPr>
                            </m:ctrlPr>
                          </m:fPr>
                          <m:num>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𝑙𝑜𝑔</m:t>
                                </m:r>
                              </m:e>
                              <m:sub>
                                <m:r>
                                  <a:rPr lang="en-CA" sz="1100" b="0" i="1" smtClean="0">
                                    <a:latin typeface="Cambria Math" panose="02040503050406030204" pitchFamily="18" charset="0"/>
                                    <a:sym typeface="Source Sans Pro"/>
                                  </a:rPr>
                                  <m:t>10</m:t>
                                </m:r>
                              </m:sub>
                            </m:sSub>
                            <m:r>
                              <a:rPr lang="en-CA" sz="1100" b="0" i="1" smtClean="0">
                                <a:latin typeface="Cambria Math" panose="02040503050406030204" pitchFamily="18" charset="0"/>
                                <a:sym typeface="Source Sans Pro"/>
                              </a:rPr>
                              <m:t>𝑟</m:t>
                            </m:r>
                            <m:r>
                              <a:rPr lang="en-CA" sz="1100" b="0" i="1" smtClean="0">
                                <a:latin typeface="Cambria Math" panose="02040503050406030204" pitchFamily="18" charset="0"/>
                                <a:sym typeface="Source Sans Pro"/>
                              </a:rPr>
                              <m:t>+1</m:t>
                            </m:r>
                          </m:num>
                          <m:den>
                            <m:r>
                              <a:rPr lang="en-CA" sz="1100" b="0" i="1" smtClean="0">
                                <a:latin typeface="Cambria Math" panose="02040503050406030204" pitchFamily="18" charset="0"/>
                                <a:sym typeface="Source Sans Pro"/>
                              </a:rPr>
                              <m:t>2</m:t>
                            </m:r>
                          </m:den>
                        </m:f>
                        <m:r>
                          <a:rPr lang="en-CA" sz="1100" b="0" i="1" smtClean="0">
                            <a:latin typeface="Cambria Math" panose="02040503050406030204" pitchFamily="18" charset="0"/>
                            <a:sym typeface="Source Sans Pro"/>
                          </a:rPr>
                          <m:t>)</m:t>
                        </m:r>
                      </m:oMath>
                    </m:oMathPara>
                  </a14:m>
                  <a:endParaRPr lang="en-CA" sz="11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1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CA" sz="11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𝑟</m:t>
                        </m:r>
                        <m:r>
                          <a:rPr lang="en-CA" sz="1100" b="0" i="1" smtClean="0">
                            <a:latin typeface="Cambria Math" panose="02040503050406030204" pitchFamily="18" charset="0"/>
                            <a:ea typeface="Helvetica Neue" panose="02000503000000020004" pitchFamily="2" charset="0"/>
                            <a:cs typeface="Helvetica Neue" panose="02000503000000020004" pitchFamily="2" charset="0"/>
                            <a:sym typeface="Source Sans Pro"/>
                          </a:rPr>
                          <m:t>=</m:t>
                        </m:r>
                        <m:f>
                          <m:fPr>
                            <m:ctrlPr>
                              <a:rPr lang="en-CA" sz="1100" b="0" i="1" smtClean="0">
                                <a:latin typeface="Cambria Math" panose="02040503050406030204" pitchFamily="18" charset="0"/>
                                <a:sym typeface="Source Sans Pro"/>
                              </a:rPr>
                            </m:ctrlPr>
                          </m:fPr>
                          <m:num>
                            <m:r>
                              <a:rPr lang="en-CA" sz="1100" b="0" i="1" smtClean="0">
                                <a:latin typeface="Cambria Math" panose="02040503050406030204" pitchFamily="18" charset="0"/>
                                <a:sym typeface="Source Sans Pro"/>
                              </a:rPr>
                              <m:t>(</m:t>
                            </m:r>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𝑉</m:t>
                                </m:r>
                              </m:e>
                              <m:sub>
                                <m:r>
                                  <a:rPr lang="en-CA" sz="1100" b="0" i="1" smtClean="0">
                                    <a:latin typeface="Cambria Math" panose="02040503050406030204" pitchFamily="18" charset="0"/>
                                    <a:sym typeface="Source Sans Pro"/>
                                  </a:rPr>
                                  <m:t>24</m:t>
                                </m:r>
                                <m:r>
                                  <a:rPr lang="en-CA" sz="1100" b="0" i="1" smtClean="0">
                                    <a:latin typeface="Cambria Math" panose="02040503050406030204" pitchFamily="18" charset="0"/>
                                    <a:sym typeface="Source Sans Pro"/>
                                  </a:rPr>
                                  <m:t>h</m:t>
                                </m:r>
                              </m:sub>
                            </m:sSub>
                            <m:r>
                              <a:rPr lang="en-CA" sz="1100" b="0" i="1" smtClean="0">
                                <a:latin typeface="Cambria Math" panose="02040503050406030204" pitchFamily="18" charset="0"/>
                                <a:sym typeface="Source Sans Pro"/>
                              </a:rPr>
                              <m:t>/86,400)</m:t>
                            </m:r>
                            <m:r>
                              <a:rPr lang="en-CA" sz="1100" b="0" i="1" smtClean="0">
                                <a:latin typeface="Cambria Math" panose="02040503050406030204" pitchFamily="18" charset="0"/>
                                <a:ea typeface="Cambria Math" panose="02040503050406030204" pitchFamily="18" charset="0"/>
                                <a:sym typeface="Source Sans Pro"/>
                              </a:rPr>
                              <m:t>∙</m:t>
                            </m:r>
                            <m:sSub>
                              <m:sSubPr>
                                <m:ctrlPr>
                                  <a:rPr lang="en-CA" sz="1100" b="0" i="1" smtClean="0">
                                    <a:latin typeface="Cambria Math" panose="02040503050406030204" pitchFamily="18" charset="0"/>
                                    <a:ea typeface="Cambria Math" panose="02040503050406030204" pitchFamily="18" charset="0"/>
                                    <a:sym typeface="Source Sans Pro"/>
                                  </a:rPr>
                                </m:ctrlPr>
                              </m:sSubPr>
                              <m:e>
                                <m:r>
                                  <a:rPr lang="en-CA" sz="1100" b="0" i="1" smtClean="0">
                                    <a:latin typeface="Cambria Math" panose="02040503050406030204" pitchFamily="18" charset="0"/>
                                    <a:ea typeface="Cambria Math" panose="02040503050406030204" pitchFamily="18" charset="0"/>
                                    <a:sym typeface="Source Sans Pro"/>
                                  </a:rPr>
                                  <m:t>𝑇</m:t>
                                </m:r>
                              </m:e>
                              <m:sub>
                                <m:r>
                                  <a:rPr lang="en-CA" sz="1100" b="0" i="1" smtClean="0">
                                    <a:latin typeface="Cambria Math" panose="02040503050406030204" pitchFamily="18" charset="0"/>
                                    <a:ea typeface="Cambria Math" panose="02040503050406030204" pitchFamily="18" charset="0"/>
                                    <a:sym typeface="Source Sans Pro"/>
                                  </a:rPr>
                                  <m:t>𝑟𝑒𝑚</m:t>
                                </m:r>
                              </m:sub>
                            </m:sSub>
                          </m:num>
                          <m:den>
                            <m:r>
                              <a:rPr lang="en-CA" sz="1100" b="0" i="1" smtClean="0">
                                <a:latin typeface="Cambria Math" panose="02040503050406030204" pitchFamily="18" charset="0"/>
                                <a:sym typeface="Source Sans Pro"/>
                              </a:rPr>
                              <m:t>𝑄</m:t>
                            </m:r>
                          </m:den>
                        </m:f>
                      </m:oMath>
                    </m:oMathPara>
                  </a14:m>
                  <a:endParaRPr lang="en-CA" sz="11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algn="ctr"/>
                  <a:r>
                    <a:rPr lang="en-CA" sz="1200" dirty="0">
                      <a:solidFill>
                        <a:schemeClr val="tx1"/>
                      </a:solidFill>
                    </a:rPr>
                    <a:t>24h-volume scaled to
order size and time</a:t>
                  </a:r>
                </a:p>
                <a:p>
                  <a:pPr marL="0" lvl="0" indent="0" algn="ctr" rtl="0">
                    <a:spcBef>
                      <a:spcPts val="0"/>
                    </a:spcBef>
                    <a:spcAft>
                      <a:spcPts val="0"/>
                    </a:spcAft>
                    <a:buNone/>
                  </a:pPr>
                  <a:endParaRPr lang="en-CA"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algn="ctr"/>
                  <a:r>
                    <a:rPr lang="en-CA" sz="1200" i="1" dirty="0">
                      <a:solidFill>
                        <a:schemeClr val="tx1"/>
                      </a:solidFill>
                    </a:rPr>
                    <a:t>"Can the book
absorb our size?"</a:t>
                  </a:r>
                </a:p>
              </p:txBody>
            </p:sp>
          </mc:Choice>
          <mc:Fallback xmlns="">
            <p:sp>
              <p:nvSpPr>
                <p:cNvPr id="3" name="Google Shape;2301;p66">
                  <a:extLst>
                    <a:ext uri="{FF2B5EF4-FFF2-40B4-BE49-F238E27FC236}">
                      <a16:creationId xmlns:a16="http://schemas.microsoft.com/office/drawing/2014/main" id="{E5D0F32B-DA58-2209-36CE-D1FF4FD1388A}"/>
                    </a:ext>
                  </a:extLst>
                </p:cNvPr>
                <p:cNvSpPr>
                  <a:spLocks noRot="1" noChangeAspect="1" noMove="1" noResize="1" noEditPoints="1" noAdjustHandles="1" noChangeArrowheads="1" noChangeShapeType="1" noTextEdit="1"/>
                </p:cNvSpPr>
                <p:nvPr/>
              </p:nvSpPr>
              <p:spPr>
                <a:xfrm>
                  <a:off x="496796" y="2000939"/>
                  <a:ext cx="2350313" cy="2663826"/>
                </a:xfrm>
                <a:prstGeom prst="rect">
                  <a:avLst/>
                </a:prstGeom>
                <a:blipFill>
                  <a:blip r:embed="rId6"/>
                  <a:stretch>
                    <a:fillRect/>
                  </a:stretch>
                </a:blipFill>
                <a:ln>
                  <a:noFill/>
                </a:ln>
              </p:spPr>
              <p:txBody>
                <a:bodyPr/>
                <a:lstStyle/>
                <a:p>
                  <a:r>
                    <a:rPr lang="en-CA">
                      <a:noFill/>
                    </a:rPr>
                    <a:t> </a:t>
                  </a:r>
                </a:p>
              </p:txBody>
            </p:sp>
          </mc:Fallback>
        </mc:AlternateContent>
      </p:grpSp>
      <p:grpSp>
        <p:nvGrpSpPr>
          <p:cNvPr id="13" name="Group 12">
            <a:extLst>
              <a:ext uri="{FF2B5EF4-FFF2-40B4-BE49-F238E27FC236}">
                <a16:creationId xmlns:a16="http://schemas.microsoft.com/office/drawing/2014/main" id="{BF329F98-1379-3DA5-E79A-F50DBDACAF52}"/>
              </a:ext>
            </a:extLst>
          </p:cNvPr>
          <p:cNvGrpSpPr/>
          <p:nvPr/>
        </p:nvGrpSpPr>
        <p:grpSpPr>
          <a:xfrm>
            <a:off x="6296893" y="1529653"/>
            <a:ext cx="2350313" cy="3135112"/>
            <a:chOff x="6296893" y="1529653"/>
            <a:chExt cx="2350313" cy="3135112"/>
          </a:xfrm>
        </p:grpSpPr>
        <p:sp>
          <p:nvSpPr>
            <p:cNvPr id="6" name="Google Shape;2297;p66">
              <a:extLst>
                <a:ext uri="{FF2B5EF4-FFF2-40B4-BE49-F238E27FC236}">
                  <a16:creationId xmlns:a16="http://schemas.microsoft.com/office/drawing/2014/main" id="{1E914332-3140-951B-E7B8-59D7A0633C6A}"/>
                </a:ext>
              </a:extLst>
            </p:cNvPr>
            <p:cNvSpPr/>
            <p:nvPr/>
          </p:nvSpPr>
          <p:spPr>
            <a:xfrm>
              <a:off x="6296893" y="1529653"/>
              <a:ext cx="2350313" cy="393600"/>
            </a:xfrm>
            <a:prstGeom prst="rect">
              <a:avLst/>
            </a:prstGeom>
            <a:solidFill>
              <a:schemeClr val="accent1"/>
            </a:solidFill>
            <a:ln>
              <a:noFill/>
            </a:ln>
          </p:spPr>
          <p:txBody>
            <a:bodyPr spcFirstLastPara="1" wrap="square" lIns="91425" tIns="91425" rIns="91425" bIns="91425" anchor="ctr" anchorCtr="0">
              <a:noAutofit/>
            </a:bodyPr>
            <a:lstStyle/>
            <a:p>
              <a:pPr algn="ctr"/>
              <a:r>
                <a:rPr lang="en-CA" b="1" dirty="0">
                  <a:solidFill>
                    <a:srgbClr val="FFFFFF"/>
                  </a:solidFill>
                </a:rPr>
                <a:t>h₃</a:t>
              </a:r>
            </a:p>
          </p:txBody>
        </p:sp>
        <mc:AlternateContent xmlns:mc="http://schemas.openxmlformats.org/markup-compatibility/2006" xmlns:a14="http://schemas.microsoft.com/office/drawing/2010/main">
          <mc:Choice Requires="a14">
            <p:sp>
              <p:nvSpPr>
                <p:cNvPr id="14" name="Google Shape;2301;p66">
                  <a:extLst>
                    <a:ext uri="{FF2B5EF4-FFF2-40B4-BE49-F238E27FC236}">
                      <a16:creationId xmlns:a16="http://schemas.microsoft.com/office/drawing/2014/main" id="{9F552FA0-6211-9105-2A8E-4FD992588DB0}"/>
                    </a:ext>
                  </a:extLst>
                </p:cNvPr>
                <p:cNvSpPr/>
                <p:nvPr/>
              </p:nvSpPr>
              <p:spPr>
                <a:xfrm>
                  <a:off x="6296893" y="2000939"/>
                  <a:ext cx="2350313" cy="2663826"/>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algn="ctr"/>
                  <a:r>
                    <a:rPr lang="en-CA" sz="1200" b="1" dirty="0">
                      <a:solidFill>
                        <a:schemeClr val="tx1"/>
                      </a:solidFill>
                    </a:rPr>
                    <a:t>Chain + Venue</a:t>
                  </a:r>
                </a:p>
                <a:p>
                  <a:pPr marL="0" lvl="0" indent="0" algn="ctr" rtl="0">
                    <a:spcBef>
                      <a:spcPts val="0"/>
                    </a:spcBef>
                    <a:spcAft>
                      <a:spcPts val="0"/>
                    </a:spcAft>
                    <a:buNone/>
                  </a:pPr>
                  <a:endParaRPr lang="en-CA" sz="12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1100" i="1" smtClean="0">
                                <a:solidFill>
                                  <a:schemeClr val="tx1"/>
                                </a:solidFill>
                                <a:latin typeface="Cambria Math" panose="02040503050406030204" pitchFamily="18" charset="0"/>
                                <a:sym typeface="Source Sans Pro"/>
                              </a:rPr>
                            </m:ctrlPr>
                          </m:sSubPr>
                          <m:e>
                            <m:r>
                              <a:rPr lang="en-CA" sz="1100" b="0" i="1" smtClean="0">
                                <a:solidFill>
                                  <a:schemeClr val="tx1"/>
                                </a:solidFill>
                                <a:latin typeface="Cambria Math" panose="02040503050406030204" pitchFamily="18" charset="0"/>
                                <a:sym typeface="Source Sans Pro"/>
                              </a:rPr>
                              <m:t>h</m:t>
                            </m:r>
                          </m:e>
                          <m:sub>
                            <m:r>
                              <a:rPr lang="en-CA" sz="1100" b="0" i="1" smtClean="0">
                                <a:solidFill>
                                  <a:schemeClr val="tx1"/>
                                </a:solidFill>
                                <a:latin typeface="Cambria Math" panose="02040503050406030204" pitchFamily="18" charset="0"/>
                                <a:sym typeface="Source Sans Pro"/>
                              </a:rPr>
                              <m:t>3</m:t>
                            </m:r>
                          </m:sub>
                        </m:sSub>
                        <m:d>
                          <m:dPr>
                            <m:ctrlPr>
                              <a:rPr lang="en-CA" sz="1100" b="0" i="1" smtClean="0">
                                <a:solidFill>
                                  <a:schemeClr val="tx1"/>
                                </a:solidFill>
                                <a:latin typeface="Cambria Math" panose="02040503050406030204" pitchFamily="18" charset="0"/>
                                <a:sym typeface="Source Sans Pro"/>
                              </a:rPr>
                            </m:ctrlPr>
                          </m:dPr>
                          <m:e>
                            <m:r>
                              <a:rPr lang="en-CA" sz="1100" b="0" i="1" smtClean="0">
                                <a:solidFill>
                                  <a:schemeClr val="tx1"/>
                                </a:solidFill>
                                <a:latin typeface="Cambria Math" panose="02040503050406030204" pitchFamily="18" charset="0"/>
                                <a:sym typeface="Source Sans Pro"/>
                              </a:rPr>
                              <m:t>𝑛</m:t>
                            </m:r>
                          </m:e>
                        </m:d>
                        <m:r>
                          <a:rPr lang="en-CA" sz="1100" b="0" i="1" smtClean="0">
                            <a:solidFill>
                              <a:schemeClr val="tx1"/>
                            </a:solidFill>
                            <a:latin typeface="Cambria Math" panose="02040503050406030204" pitchFamily="18" charset="0"/>
                            <a:sym typeface="Source Sans Pro"/>
                          </a:rPr>
                          <m:t>= </m:t>
                        </m:r>
                        <m:sSub>
                          <m:sSubPr>
                            <m:ctrlPr>
                              <a:rPr lang="en-CA" sz="1100" b="0" i="1" smtClean="0">
                                <a:solidFill>
                                  <a:schemeClr val="tx1"/>
                                </a:solidFill>
                                <a:latin typeface="Cambria Math" panose="02040503050406030204" pitchFamily="18" charset="0"/>
                                <a:sym typeface="Source Sans Pro"/>
                              </a:rPr>
                            </m:ctrlPr>
                          </m:sSubPr>
                          <m:e>
                            <m:r>
                              <a:rPr lang="en-CA" sz="1100" b="0" i="1" smtClean="0">
                                <a:solidFill>
                                  <a:schemeClr val="tx1"/>
                                </a:solidFill>
                                <a:latin typeface="Cambria Math" panose="02040503050406030204" pitchFamily="18" charset="0"/>
                                <a:ea typeface="Cambria Math" panose="02040503050406030204" pitchFamily="18" charset="0"/>
                                <a:sym typeface="Source Sans Pro"/>
                              </a:rPr>
                              <m:t>𝜆</m:t>
                            </m:r>
                          </m:e>
                          <m:sub>
                            <m:r>
                              <a:rPr lang="en-CA" sz="1100" b="0" i="1" smtClean="0">
                                <a:solidFill>
                                  <a:schemeClr val="tx1"/>
                                </a:solidFill>
                                <a:latin typeface="Cambria Math" panose="02040503050406030204" pitchFamily="18" charset="0"/>
                                <a:sym typeface="Source Sans Pro"/>
                              </a:rPr>
                              <m:t>𝑐h𝑎𝑖𝑛</m:t>
                            </m:r>
                          </m:sub>
                        </m:sSub>
                        <m:r>
                          <a:rPr lang="en-CA" sz="1100" b="0" i="1" smtClean="0">
                            <a:solidFill>
                              <a:schemeClr val="tx1"/>
                            </a:solidFill>
                            <a:latin typeface="Cambria Math" panose="02040503050406030204" pitchFamily="18" charset="0"/>
                            <a:ea typeface="Cambria Math" panose="02040503050406030204" pitchFamily="18" charset="0"/>
                            <a:sym typeface="Source Sans Pro"/>
                          </a:rPr>
                          <m:t>∙</m:t>
                        </m:r>
                        <m:f>
                          <m:fPr>
                            <m:ctrlPr>
                              <a:rPr lang="en-CA" sz="1100" b="0" i="1" smtClean="0">
                                <a:solidFill>
                                  <a:schemeClr val="tx1"/>
                                </a:solidFill>
                                <a:latin typeface="Cambria Math" panose="02040503050406030204" pitchFamily="18" charset="0"/>
                                <a:ea typeface="Cambria Math" panose="02040503050406030204" pitchFamily="18" charset="0"/>
                                <a:sym typeface="Source Sans Pro"/>
                              </a:rPr>
                            </m:ctrlPr>
                          </m:fPr>
                          <m:num>
                            <m:sSub>
                              <m:sSubPr>
                                <m:ctrlPr>
                                  <a:rPr lang="en-CA" sz="1100" b="0" i="1" smtClean="0">
                                    <a:solidFill>
                                      <a:schemeClr val="tx1"/>
                                    </a:solidFill>
                                    <a:latin typeface="Cambria Math" panose="02040503050406030204" pitchFamily="18" charset="0"/>
                                    <a:ea typeface="Cambria Math" panose="02040503050406030204" pitchFamily="18" charset="0"/>
                                    <a:sym typeface="Source Sans Pro"/>
                                  </a:rPr>
                                </m:ctrlPr>
                              </m:sSubPr>
                              <m:e>
                                <m:r>
                                  <a:rPr lang="en-CA" sz="1100" b="0" i="1" smtClean="0">
                                    <a:solidFill>
                                      <a:schemeClr val="tx1"/>
                                    </a:solidFill>
                                    <a:latin typeface="Cambria Math" panose="02040503050406030204" pitchFamily="18" charset="0"/>
                                    <a:ea typeface="Cambria Math" panose="02040503050406030204" pitchFamily="18" charset="0"/>
                                    <a:sym typeface="Source Sans Pro"/>
                                  </a:rPr>
                                  <m:t>𝑡</m:t>
                                </m:r>
                              </m:e>
                              <m:sub>
                                <m:r>
                                  <a:rPr lang="en-CA" sz="1100" b="0" i="1" smtClean="0">
                                    <a:solidFill>
                                      <a:schemeClr val="tx1"/>
                                    </a:solidFill>
                                    <a:latin typeface="Cambria Math" panose="02040503050406030204" pitchFamily="18" charset="0"/>
                                    <a:ea typeface="Cambria Math" panose="02040503050406030204" pitchFamily="18" charset="0"/>
                                    <a:sym typeface="Source Sans Pro"/>
                                  </a:rPr>
                                  <m:t>𝑚𝑖𝑛</m:t>
                                </m:r>
                              </m:sub>
                            </m:sSub>
                          </m:num>
                          <m:den>
                            <m:sSub>
                              <m:sSubPr>
                                <m:ctrlPr>
                                  <a:rPr lang="en-CA" sz="1100" b="0" i="1" smtClean="0">
                                    <a:solidFill>
                                      <a:schemeClr val="tx1"/>
                                    </a:solidFill>
                                    <a:latin typeface="Cambria Math" panose="02040503050406030204" pitchFamily="18" charset="0"/>
                                    <a:ea typeface="Cambria Math" panose="02040503050406030204" pitchFamily="18" charset="0"/>
                                    <a:sym typeface="Source Sans Pro"/>
                                  </a:rPr>
                                </m:ctrlPr>
                              </m:sSubPr>
                              <m:e>
                                <m:r>
                                  <a:rPr lang="en-CA" sz="1100" b="0" i="1" smtClean="0">
                                    <a:solidFill>
                                      <a:schemeClr val="tx1"/>
                                    </a:solidFill>
                                    <a:latin typeface="Cambria Math" panose="02040503050406030204" pitchFamily="18" charset="0"/>
                                    <a:ea typeface="Cambria Math" panose="02040503050406030204" pitchFamily="18" charset="0"/>
                                    <a:sym typeface="Source Sans Pro"/>
                                  </a:rPr>
                                  <m:t>𝑇</m:t>
                                </m:r>
                              </m:e>
                              <m:sub>
                                <m:r>
                                  <a:rPr lang="en-CA" sz="1100" b="0" i="1" smtClean="0">
                                    <a:solidFill>
                                      <a:schemeClr val="tx1"/>
                                    </a:solidFill>
                                    <a:latin typeface="Cambria Math" panose="02040503050406030204" pitchFamily="18" charset="0"/>
                                    <a:ea typeface="Cambria Math" panose="02040503050406030204" pitchFamily="18" charset="0"/>
                                    <a:sym typeface="Source Sans Pro"/>
                                  </a:rPr>
                                  <m:t>𝑟𝑒𝑚</m:t>
                                </m:r>
                              </m:sub>
                            </m:sSub>
                          </m:den>
                        </m:f>
                        <m:r>
                          <a:rPr lang="en-CA" sz="1100" b="0" i="1" smtClean="0">
                            <a:solidFill>
                              <a:schemeClr val="tx1"/>
                            </a:solidFill>
                            <a:latin typeface="Cambria Math" panose="02040503050406030204" pitchFamily="18" charset="0"/>
                            <a:ea typeface="Cambria Math" panose="02040503050406030204" pitchFamily="18" charset="0"/>
                            <a:sym typeface="Source Sans Pro"/>
                          </a:rPr>
                          <m:t>+ </m:t>
                        </m:r>
                      </m:oMath>
                    </m:oMathPara>
                  </a14:m>
                  <a:endParaRPr lang="en-CA" sz="1100" b="0" dirty="0">
                    <a:solidFill>
                      <a:schemeClr val="tx1"/>
                    </a:solidFill>
                    <a:latin typeface="Helvetica Neue" panose="02000503000000020004" pitchFamily="2" charset="0"/>
                    <a:ea typeface="Cambria Math" panose="02040503050406030204" pitchFamily="18"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1100" i="1" smtClean="0">
                                <a:solidFill>
                                  <a:schemeClr val="tx1"/>
                                </a:solidFill>
                                <a:latin typeface="Cambria Math" panose="02040503050406030204" pitchFamily="18" charset="0"/>
                                <a:sym typeface="Source Sans Pro"/>
                              </a:rPr>
                            </m:ctrlPr>
                          </m:sSubPr>
                          <m:e>
                            <m:r>
                              <a:rPr lang="en-CA" sz="1100" i="1" smtClean="0">
                                <a:solidFill>
                                  <a:schemeClr val="tx1"/>
                                </a:solidFill>
                                <a:latin typeface="Cambria Math" panose="02040503050406030204" pitchFamily="18" charset="0"/>
                                <a:ea typeface="Cambria Math" panose="02040503050406030204" pitchFamily="18" charset="0"/>
                                <a:sym typeface="Source Sans Pro"/>
                              </a:rPr>
                              <m:t>𝜆</m:t>
                            </m:r>
                          </m:e>
                          <m:sub>
                            <m:r>
                              <a:rPr lang="en-CA" sz="1100" b="0" i="1" smtClean="0">
                                <a:solidFill>
                                  <a:schemeClr val="tx1"/>
                                </a:solidFill>
                                <a:latin typeface="Cambria Math" panose="02040503050406030204" pitchFamily="18" charset="0"/>
                                <a:sym typeface="Source Sans Pro"/>
                              </a:rPr>
                              <m:t>𝑒𝑥𝑐h</m:t>
                            </m:r>
                          </m:sub>
                        </m:sSub>
                        <m:r>
                          <a:rPr lang="en-CA" sz="1100" b="0" i="1" smtClean="0">
                            <a:solidFill>
                              <a:schemeClr val="tx1"/>
                            </a:solidFill>
                            <a:latin typeface="Cambria Math" panose="02040503050406030204" pitchFamily="18" charset="0"/>
                            <a:sym typeface="Source Sans Pro"/>
                          </a:rPr>
                          <m:t>(1−</m:t>
                        </m:r>
                        <m:r>
                          <a:rPr lang="en-CA" sz="1100" b="0" i="1" smtClean="0">
                            <a:solidFill>
                              <a:schemeClr val="tx1"/>
                            </a:solidFill>
                            <a:latin typeface="Cambria Math" panose="02040503050406030204" pitchFamily="18" charset="0"/>
                            <a:sym typeface="Source Sans Pro"/>
                          </a:rPr>
                          <m:t>𝑠</m:t>
                        </m:r>
                        <m:d>
                          <m:dPr>
                            <m:ctrlPr>
                              <a:rPr lang="en-CA" sz="1100" b="0" i="1" smtClean="0">
                                <a:solidFill>
                                  <a:schemeClr val="tx1"/>
                                </a:solidFill>
                                <a:latin typeface="Cambria Math" panose="02040503050406030204" pitchFamily="18" charset="0"/>
                                <a:sym typeface="Source Sans Pro"/>
                              </a:rPr>
                            </m:ctrlPr>
                          </m:dPr>
                          <m:e>
                            <m:r>
                              <a:rPr lang="en-CA" sz="1100" b="0" i="1" smtClean="0">
                                <a:solidFill>
                                  <a:schemeClr val="tx1"/>
                                </a:solidFill>
                                <a:latin typeface="Cambria Math" panose="02040503050406030204" pitchFamily="18" charset="0"/>
                                <a:sym typeface="Source Sans Pro"/>
                              </a:rPr>
                              <m:t>𝑛</m:t>
                            </m:r>
                          </m:e>
                        </m:d>
                        <m:r>
                          <a:rPr lang="en-CA" sz="1100" b="0" i="1" smtClean="0">
                            <a:solidFill>
                              <a:schemeClr val="tx1"/>
                            </a:solidFill>
                            <a:latin typeface="Cambria Math" panose="02040503050406030204" pitchFamily="18" charset="0"/>
                            <a:sym typeface="Source Sans Pro"/>
                          </a:rPr>
                          <m:t>)</m:t>
                        </m:r>
                      </m:oMath>
                    </m:oMathPara>
                  </a14:m>
                  <a:endParaRPr lang="en-CA" sz="11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algn="ctr"/>
                  <a:r>
                    <a:rPr lang="en-CA" sz="1200" dirty="0">
                      <a:solidFill>
                        <a:schemeClr val="tx1"/>
                      </a:solidFill>
                    </a:rPr>
                    <a:t>On-chain settlement
+ venue reliability</a:t>
                  </a:r>
                </a:p>
                <a:p>
                  <a:pPr algn="ctr"/>
                  <a:endParaRPr lang="en-CA" sz="1200" i="1" dirty="0">
                    <a:solidFill>
                      <a:schemeClr val="tx1"/>
                    </a:solidFill>
                  </a:endParaRPr>
                </a:p>
                <a:p>
                  <a:pPr algn="ctr"/>
                  <a:r>
                    <a:rPr lang="en-CA" sz="1200" i="1" dirty="0">
                      <a:solidFill>
                        <a:schemeClr val="tx1"/>
                      </a:solidFill>
                    </a:rPr>
                    <a:t>"Will it settle
in time?"</a:t>
                  </a:r>
                </a:p>
              </p:txBody>
            </p:sp>
          </mc:Choice>
          <mc:Fallback xmlns="">
            <p:sp>
              <p:nvSpPr>
                <p:cNvPr id="14" name="Google Shape;2301;p66">
                  <a:extLst>
                    <a:ext uri="{FF2B5EF4-FFF2-40B4-BE49-F238E27FC236}">
                      <a16:creationId xmlns:a16="http://schemas.microsoft.com/office/drawing/2014/main" id="{9F552FA0-6211-9105-2A8E-4FD992588DB0}"/>
                    </a:ext>
                  </a:extLst>
                </p:cNvPr>
                <p:cNvSpPr>
                  <a:spLocks noRot="1" noChangeAspect="1" noMove="1" noResize="1" noEditPoints="1" noAdjustHandles="1" noChangeArrowheads="1" noChangeShapeType="1" noTextEdit="1"/>
                </p:cNvSpPr>
                <p:nvPr/>
              </p:nvSpPr>
              <p:spPr>
                <a:xfrm>
                  <a:off x="6296893" y="2000939"/>
                  <a:ext cx="2350313" cy="2663826"/>
                </a:xfrm>
                <a:prstGeom prst="rect">
                  <a:avLst/>
                </a:prstGeom>
                <a:blipFill>
                  <a:blip r:embed="rId7"/>
                  <a:stretch>
                    <a:fillRect/>
                  </a:stretch>
                </a:blipFill>
                <a:ln>
                  <a:noFill/>
                </a:ln>
              </p:spPr>
              <p:txBody>
                <a:bodyPr/>
                <a:lstStyle/>
                <a:p>
                  <a:r>
                    <a:rPr lang="en-CA">
                      <a:noFill/>
                    </a:rPr>
                    <a:t> </a:t>
                  </a:r>
                </a:p>
              </p:txBody>
            </p:sp>
          </mc:Fallback>
        </mc:AlternateContent>
      </p:grpSp>
      <p:grpSp>
        <p:nvGrpSpPr>
          <p:cNvPr id="12" name="Group 11">
            <a:extLst>
              <a:ext uri="{FF2B5EF4-FFF2-40B4-BE49-F238E27FC236}">
                <a16:creationId xmlns:a16="http://schemas.microsoft.com/office/drawing/2014/main" id="{597DDCA9-8842-E016-7E1C-6EA413691E5A}"/>
              </a:ext>
            </a:extLst>
          </p:cNvPr>
          <p:cNvGrpSpPr/>
          <p:nvPr/>
        </p:nvGrpSpPr>
        <p:grpSpPr>
          <a:xfrm>
            <a:off x="3396843" y="1529653"/>
            <a:ext cx="2350313" cy="3135112"/>
            <a:chOff x="3396843" y="1529653"/>
            <a:chExt cx="2350313" cy="3135112"/>
          </a:xfrm>
        </p:grpSpPr>
        <p:sp>
          <p:nvSpPr>
            <p:cNvPr id="20" name="Google Shape;2297;p66">
              <a:extLst>
                <a:ext uri="{FF2B5EF4-FFF2-40B4-BE49-F238E27FC236}">
                  <a16:creationId xmlns:a16="http://schemas.microsoft.com/office/drawing/2014/main" id="{484A1CBD-EBB6-D1EC-04EE-268DA71D30BE}"/>
                </a:ext>
              </a:extLst>
            </p:cNvPr>
            <p:cNvSpPr/>
            <p:nvPr/>
          </p:nvSpPr>
          <p:spPr>
            <a:xfrm>
              <a:off x="3396843" y="1529653"/>
              <a:ext cx="2350313" cy="393600"/>
            </a:xfrm>
            <a:prstGeom prst="rect">
              <a:avLst/>
            </a:prstGeom>
            <a:solidFill>
              <a:schemeClr val="accent1"/>
            </a:solidFill>
            <a:ln>
              <a:noFill/>
            </a:ln>
          </p:spPr>
          <p:txBody>
            <a:bodyPr spcFirstLastPara="1" wrap="square" lIns="91425" tIns="91425" rIns="91425" bIns="91425" anchor="ctr" anchorCtr="0">
              <a:noAutofit/>
            </a:bodyPr>
            <a:lstStyle/>
            <a:p>
              <a:pPr algn="ctr"/>
              <a:r>
                <a:rPr lang="en-CA" b="1" dirty="0">
                  <a:solidFill>
                    <a:srgbClr val="FFFFFF"/>
                  </a:solidFill>
                </a:rPr>
                <a:t>h₂ ★</a:t>
              </a:r>
            </a:p>
          </p:txBody>
        </p:sp>
        <mc:AlternateContent xmlns:mc="http://schemas.openxmlformats.org/markup-compatibility/2006" xmlns:a14="http://schemas.microsoft.com/office/drawing/2010/main">
          <mc:Choice Requires="a14">
            <p:sp>
              <p:nvSpPr>
                <p:cNvPr id="21" name="Google Shape;2301;p66">
                  <a:extLst>
                    <a:ext uri="{FF2B5EF4-FFF2-40B4-BE49-F238E27FC236}">
                      <a16:creationId xmlns:a16="http://schemas.microsoft.com/office/drawing/2014/main" id="{1E2AB191-2613-CAA2-D74F-7FF06C077597}"/>
                    </a:ext>
                  </a:extLst>
                </p:cNvPr>
                <p:cNvSpPr/>
                <p:nvPr/>
              </p:nvSpPr>
              <p:spPr>
                <a:xfrm>
                  <a:off x="3396843" y="2000939"/>
                  <a:ext cx="2350313" cy="2663826"/>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rPr>
                    <a:t>Slippage</a:t>
                  </a:r>
                </a:p>
                <a:p>
                  <a:pPr marL="0" lvl="0" indent="0" algn="ctr" rtl="0">
                    <a:spcBef>
                      <a:spcPts val="0"/>
                    </a:spcBef>
                    <a:spcAft>
                      <a:spcPts val="0"/>
                    </a:spcAft>
                    <a:buNone/>
                  </a:pPr>
                  <a:endParaRPr lang="en-CA" sz="1200" b="1"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110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h</m:t>
                            </m:r>
                          </m:e>
                          <m:sub>
                            <m:r>
                              <a:rPr lang="en-CA" sz="1100" b="0" i="1" smtClean="0">
                                <a:latin typeface="Cambria Math" panose="02040503050406030204" pitchFamily="18" charset="0"/>
                                <a:sym typeface="Source Sans Pro"/>
                              </a:rPr>
                              <m:t>2</m:t>
                            </m:r>
                          </m:sub>
                        </m:sSub>
                        <m:d>
                          <m:dPr>
                            <m:ctrlPr>
                              <a:rPr lang="en-CA" sz="1100" b="0" i="1" smtClean="0">
                                <a:latin typeface="Cambria Math" panose="02040503050406030204" pitchFamily="18" charset="0"/>
                                <a:sym typeface="Source Sans Pro"/>
                              </a:rPr>
                            </m:ctrlPr>
                          </m:dPr>
                          <m:e>
                            <m:r>
                              <a:rPr lang="en-CA" sz="1100" b="0" i="1" smtClean="0">
                                <a:latin typeface="Cambria Math" panose="02040503050406030204" pitchFamily="18" charset="0"/>
                                <a:sym typeface="Source Sans Pro"/>
                              </a:rPr>
                              <m:t>𝑛</m:t>
                            </m:r>
                          </m:e>
                        </m:d>
                        <m:r>
                          <a:rPr lang="en-CA" sz="1100" b="0" i="1" smtClean="0">
                            <a:latin typeface="Cambria Math" panose="02040503050406030204" pitchFamily="18" charset="0"/>
                            <a:sym typeface="Source Sans Pro"/>
                          </a:rPr>
                          <m:t>=</m:t>
                        </m:r>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ea typeface="Cambria Math" panose="02040503050406030204" pitchFamily="18" charset="0"/>
                                <a:sym typeface="Source Sans Pro"/>
                              </a:rPr>
                              <m:t>𝜆</m:t>
                            </m:r>
                          </m:e>
                          <m:sub>
                            <m:r>
                              <a:rPr lang="en-CA" sz="1100" b="0" i="1" smtClean="0">
                                <a:latin typeface="Cambria Math" panose="02040503050406030204" pitchFamily="18" charset="0"/>
                                <a:sym typeface="Source Sans Pro"/>
                              </a:rPr>
                              <m:t>𝑠𝑙𝑖𝑝</m:t>
                            </m:r>
                          </m:sub>
                        </m:sSub>
                        <m:func>
                          <m:funcPr>
                            <m:ctrlPr>
                              <a:rPr lang="en-CA" sz="1100" b="0" i="1" smtClean="0">
                                <a:latin typeface="Cambria Math" panose="02040503050406030204" pitchFamily="18" charset="0"/>
                                <a:sym typeface="Source Sans Pro"/>
                              </a:rPr>
                            </m:ctrlPr>
                          </m:funcPr>
                          <m:fName>
                            <m:r>
                              <m:rPr>
                                <m:sty m:val="p"/>
                              </m:rPr>
                              <a:rPr lang="en-CA" sz="1100" b="0" i="0" smtClean="0">
                                <a:latin typeface="Cambria Math" panose="02040503050406030204" pitchFamily="18" charset="0"/>
                                <a:sym typeface="Source Sans Pro"/>
                              </a:rPr>
                              <m:t>max</m:t>
                            </m:r>
                          </m:fName>
                          <m:e>
                            <m:d>
                              <m:dPr>
                                <m:ctrlPr>
                                  <a:rPr lang="en-CA" sz="1100" b="0" i="1" smtClean="0">
                                    <a:latin typeface="Cambria Math" panose="02040503050406030204" pitchFamily="18" charset="0"/>
                                    <a:sym typeface="Source Sans Pro"/>
                                  </a:rPr>
                                </m:ctrlPr>
                              </m:dPr>
                              <m:e>
                                <m:r>
                                  <a:rPr lang="en-CA" sz="1100" b="0" i="1" smtClean="0">
                                    <a:latin typeface="Cambria Math" panose="02040503050406030204" pitchFamily="18" charset="0"/>
                                    <a:sym typeface="Source Sans Pro"/>
                                  </a:rPr>
                                  <m:t>0, </m:t>
                                </m:r>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𝑠</m:t>
                                    </m:r>
                                  </m:e>
                                  <m:sub>
                                    <m:r>
                                      <a:rPr lang="en-CA" sz="1100" b="0" i="1" smtClean="0">
                                        <a:latin typeface="Cambria Math" panose="02040503050406030204" pitchFamily="18" charset="0"/>
                                        <a:sym typeface="Source Sans Pro"/>
                                      </a:rPr>
                                      <m:t>𝑏𝑝𝑠</m:t>
                                    </m:r>
                                  </m:sub>
                                </m:sSub>
                                <m:r>
                                  <a:rPr lang="en-CA" sz="1100" b="0" i="1" smtClean="0">
                                    <a:latin typeface="Cambria Math" panose="02040503050406030204" pitchFamily="18" charset="0"/>
                                    <a:sym typeface="Source Sans Pro"/>
                                  </a:rPr>
                                  <m:t>−</m:t>
                                </m:r>
                                <m:r>
                                  <a:rPr lang="en-CA" sz="1100" b="0" i="1" smtClean="0">
                                    <a:latin typeface="Cambria Math" panose="02040503050406030204" pitchFamily="18" charset="0"/>
                                    <a:ea typeface="Cambria Math" panose="02040503050406030204" pitchFamily="18" charset="0"/>
                                    <a:sym typeface="Source Sans Pro"/>
                                  </a:rPr>
                                  <m:t>𝜃</m:t>
                                </m:r>
                              </m:e>
                            </m:d>
                          </m:e>
                        </m:func>
                      </m:oMath>
                    </m:oMathPara>
                  </a14:m>
                  <a:endParaRPr lang="en-CA" sz="1100" b="0" dirty="0">
                    <a:latin typeface="Helvetica Neue" panose="02000503000000020004" pitchFamily="2" charset="0"/>
                    <a:ea typeface="Cambria Math" panose="02040503050406030204" pitchFamily="18" charset="0"/>
                    <a:sym typeface="Source Sans Pro"/>
                  </a:endParaRPr>
                </a:p>
                <a:p>
                  <a:pPr marL="0" lvl="0" indent="0" algn="ctr" rtl="0">
                    <a:spcBef>
                      <a:spcPts val="0"/>
                    </a:spcBef>
                    <a:spcAft>
                      <a:spcPts val="0"/>
                    </a:spcAft>
                    <a:buNone/>
                  </a:pPr>
                  <a:endParaRPr lang="en-CA" sz="11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110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𝑠</m:t>
                            </m:r>
                          </m:e>
                          <m:sub>
                            <m:r>
                              <a:rPr lang="en-CA" sz="1100" b="0" i="1" smtClean="0">
                                <a:latin typeface="Cambria Math" panose="02040503050406030204" pitchFamily="18" charset="0"/>
                                <a:sym typeface="Source Sans Pro"/>
                              </a:rPr>
                              <m:t>𝑏𝑝𝑠</m:t>
                            </m:r>
                          </m:sub>
                        </m:sSub>
                        <m:r>
                          <a:rPr lang="en-CA" sz="1100" b="0" i="1" smtClean="0">
                            <a:latin typeface="Cambria Math" panose="02040503050406030204" pitchFamily="18" charset="0"/>
                            <a:sym typeface="Source Sans Pro"/>
                          </a:rPr>
                          <m:t>=</m:t>
                        </m:r>
                        <m:f>
                          <m:fPr>
                            <m:ctrlPr>
                              <a:rPr lang="en-CA" sz="1100" b="0" i="1" smtClean="0">
                                <a:latin typeface="Cambria Math" panose="02040503050406030204" pitchFamily="18" charset="0"/>
                                <a:sym typeface="Source Sans Pro"/>
                              </a:rPr>
                            </m:ctrlPr>
                          </m:fPr>
                          <m:num>
                            <m:r>
                              <a:rPr lang="en-CA" sz="1100" b="0" i="1" smtClean="0">
                                <a:latin typeface="Cambria Math" panose="02040503050406030204" pitchFamily="18" charset="0"/>
                                <a:sym typeface="Source Sans Pro"/>
                              </a:rPr>
                              <m:t>𝑉𝑊𝐴𝑃</m:t>
                            </m:r>
                            <m:d>
                              <m:dPr>
                                <m:ctrlPr>
                                  <a:rPr lang="en-CA" sz="1100" b="0" i="1" smtClean="0">
                                    <a:latin typeface="Cambria Math" panose="02040503050406030204" pitchFamily="18" charset="0"/>
                                    <a:sym typeface="Source Sans Pro"/>
                                  </a:rPr>
                                </m:ctrlPr>
                              </m:dPr>
                              <m:e>
                                <m:r>
                                  <a:rPr lang="en-CA" sz="1100" b="0" i="1" smtClean="0">
                                    <a:latin typeface="Cambria Math" panose="02040503050406030204" pitchFamily="18" charset="0"/>
                                    <a:sym typeface="Source Sans Pro"/>
                                  </a:rPr>
                                  <m:t>𝑄</m:t>
                                </m:r>
                              </m:e>
                            </m:d>
                            <m:r>
                              <a:rPr lang="en-CA" sz="1100" b="0" i="1" smtClean="0">
                                <a:latin typeface="Cambria Math" panose="02040503050406030204" pitchFamily="18" charset="0"/>
                                <a:sym typeface="Source Sans Pro"/>
                              </a:rPr>
                              <m:t>−</m:t>
                            </m:r>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𝑃</m:t>
                                </m:r>
                              </m:e>
                              <m:sub>
                                <m:r>
                                  <a:rPr lang="en-CA" sz="1100" b="0" i="1" smtClean="0">
                                    <a:latin typeface="Cambria Math" panose="02040503050406030204" pitchFamily="18" charset="0"/>
                                    <a:sym typeface="Source Sans Pro"/>
                                  </a:rPr>
                                  <m:t>𝑚𝑖𝑑</m:t>
                                </m:r>
                              </m:sub>
                            </m:sSub>
                          </m:num>
                          <m:den>
                            <m:sSub>
                              <m:sSubPr>
                                <m:ctrlPr>
                                  <a:rPr lang="en-CA" sz="1100" b="0" i="1" smtClean="0">
                                    <a:latin typeface="Cambria Math" panose="02040503050406030204" pitchFamily="18" charset="0"/>
                                    <a:sym typeface="Source Sans Pro"/>
                                  </a:rPr>
                                </m:ctrlPr>
                              </m:sSubPr>
                              <m:e>
                                <m:r>
                                  <a:rPr lang="en-CA" sz="1100" b="0" i="1" smtClean="0">
                                    <a:latin typeface="Cambria Math" panose="02040503050406030204" pitchFamily="18" charset="0"/>
                                    <a:sym typeface="Source Sans Pro"/>
                                  </a:rPr>
                                  <m:t>𝑃</m:t>
                                </m:r>
                              </m:e>
                              <m:sub>
                                <m:r>
                                  <a:rPr lang="en-CA" sz="1100" b="0" i="1" smtClean="0">
                                    <a:latin typeface="Cambria Math" panose="02040503050406030204" pitchFamily="18" charset="0"/>
                                    <a:sym typeface="Source Sans Pro"/>
                                  </a:rPr>
                                  <m:t>𝑚𝑖𝑑</m:t>
                                </m:r>
                              </m:sub>
                            </m:sSub>
                          </m:den>
                        </m:f>
                        <m:r>
                          <a:rPr lang="en-CA" sz="1100" b="0" i="1" smtClean="0">
                            <a:latin typeface="Cambria Math" panose="02040503050406030204" pitchFamily="18" charset="0"/>
                            <a:ea typeface="Cambria Math" panose="02040503050406030204" pitchFamily="18" charset="0"/>
                            <a:sym typeface="Source Sans Pro"/>
                          </a:rPr>
                          <m:t>∙</m:t>
                        </m:r>
                        <m:sSup>
                          <m:sSupPr>
                            <m:ctrlPr>
                              <a:rPr lang="en-CA" sz="1100" b="0" i="1" smtClean="0">
                                <a:latin typeface="Cambria Math" panose="02040503050406030204" pitchFamily="18" charset="0"/>
                                <a:ea typeface="Cambria Math" panose="02040503050406030204" pitchFamily="18" charset="0"/>
                                <a:sym typeface="Source Sans Pro"/>
                              </a:rPr>
                            </m:ctrlPr>
                          </m:sSupPr>
                          <m:e>
                            <m:r>
                              <a:rPr lang="en-CA" sz="1100" b="0" i="1" smtClean="0">
                                <a:latin typeface="Cambria Math" panose="02040503050406030204" pitchFamily="18" charset="0"/>
                                <a:ea typeface="Cambria Math" panose="02040503050406030204" pitchFamily="18" charset="0"/>
                                <a:sym typeface="Source Sans Pro"/>
                              </a:rPr>
                              <m:t>10</m:t>
                            </m:r>
                          </m:e>
                          <m:sup>
                            <m:r>
                              <a:rPr lang="en-CA" sz="1100" b="0" i="1" smtClean="0">
                                <a:latin typeface="Cambria Math" panose="02040503050406030204" pitchFamily="18" charset="0"/>
                                <a:ea typeface="Cambria Math" panose="02040503050406030204" pitchFamily="18" charset="0"/>
                                <a:sym typeface="Source Sans Pro"/>
                              </a:rPr>
                              <m:t>4</m:t>
                            </m:r>
                          </m:sup>
                        </m:sSup>
                      </m:oMath>
                    </m:oMathPara>
                  </a14:m>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marL="0" lvl="0" indent="0" algn="ctr" rtl="0">
                    <a:spcBef>
                      <a:spcPts val="0"/>
                    </a:spcBef>
                    <a:spcAft>
                      <a:spcPts val="0"/>
                    </a:spcAft>
                    <a:buNone/>
                  </a:pPr>
                  <a:endParaRPr lang="en-CA" sz="1200" dirty="0">
                    <a:latin typeface="Helvetica Neue" panose="02000503000000020004" pitchFamily="2" charset="0"/>
                    <a:ea typeface="Helvetica Neue" panose="02000503000000020004" pitchFamily="2" charset="0"/>
                    <a:cs typeface="Helvetica Neue" panose="02000503000000020004" pitchFamily="2" charset="0"/>
                    <a:sym typeface="Source Sans Pro"/>
                  </a:endParaRPr>
                </a:p>
                <a:p>
                  <a:pPr algn="ctr"/>
                  <a:r>
                    <a:rPr lang="en-CA" sz="1200" dirty="0">
                      <a:solidFill>
                        <a:schemeClr val="tx1"/>
                      </a:solidFill>
                    </a:rPr>
                    <a:t>Volume-weighted average price (VWAP) divergence from
mid-quote, live L2</a:t>
                  </a:r>
                </a:p>
                <a:p>
                  <a:pPr algn="ctr"/>
                  <a:endParaRPr lang="en-CA" sz="1200" i="1" dirty="0">
                    <a:solidFill>
                      <a:schemeClr val="tx1"/>
                    </a:solidFill>
                  </a:endParaRPr>
                </a:p>
                <a:p>
                  <a:pPr algn="ctr"/>
                  <a:r>
                    <a:rPr lang="en-CA" sz="1200" i="1" dirty="0">
                      <a:solidFill>
                        <a:schemeClr val="tx1"/>
                      </a:solidFill>
                    </a:rPr>
                    <a:t>"Will my order
move the price?"</a:t>
                  </a:r>
                </a:p>
              </p:txBody>
            </p:sp>
          </mc:Choice>
          <mc:Fallback xmlns="">
            <p:sp>
              <p:nvSpPr>
                <p:cNvPr id="21" name="Google Shape;2301;p66">
                  <a:extLst>
                    <a:ext uri="{FF2B5EF4-FFF2-40B4-BE49-F238E27FC236}">
                      <a16:creationId xmlns:a16="http://schemas.microsoft.com/office/drawing/2014/main" id="{1E2AB191-2613-CAA2-D74F-7FF06C077597}"/>
                    </a:ext>
                  </a:extLst>
                </p:cNvPr>
                <p:cNvSpPr>
                  <a:spLocks noRot="1" noChangeAspect="1" noMove="1" noResize="1" noEditPoints="1" noAdjustHandles="1" noChangeArrowheads="1" noChangeShapeType="1" noTextEdit="1"/>
                </p:cNvSpPr>
                <p:nvPr/>
              </p:nvSpPr>
              <p:spPr>
                <a:xfrm>
                  <a:off x="3396843" y="2000939"/>
                  <a:ext cx="2350313" cy="2663826"/>
                </a:xfrm>
                <a:prstGeom prst="rect">
                  <a:avLst/>
                </a:prstGeom>
                <a:blipFill>
                  <a:blip r:embed="rId8"/>
                  <a:stretch>
                    <a:fillRect r="-1036"/>
                  </a:stretch>
                </a:blipFill>
                <a:ln>
                  <a:noFill/>
                </a:ln>
              </p:spPr>
              <p:txBody>
                <a:bodyPr/>
                <a:lstStyle/>
                <a:p>
                  <a:r>
                    <a:rPr lang="en-CA">
                      <a:noFill/>
                    </a:rPr>
                    <a:t> </a:t>
                  </a:r>
                </a:p>
              </p:txBody>
            </p:sp>
          </mc:Fallback>
        </mc:AlternateContent>
      </p:grpSp>
    </p:spTree>
    <p:extLst>
      <p:ext uri="{BB962C8B-B14F-4D97-AF65-F5344CB8AC3E}">
        <p14:creationId xmlns:p14="http://schemas.microsoft.com/office/powerpoint/2010/main" val="28526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36D4724-F1FA-CBBB-7F27-A64CD019833A}"/>
              </a:ext>
            </a:extLst>
          </p:cNvPr>
          <p:cNvGraphicFramePr>
            <a:graphicFrameLocks/>
          </p:cNvGraphicFramePr>
          <p:nvPr>
            <p:custDataLst>
              <p:tags r:id="rId1"/>
            </p:custDataLst>
            <p:extLst>
              <p:ext uri="{D42A27DB-BD31-4B8C-83A1-F6EECF244321}">
                <p14:modId xmlns:p14="http://schemas.microsoft.com/office/powerpoint/2010/main" val="22078754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1" imgH="500" progId="TCLayout.ActiveDocument.1">
                  <p:embed/>
                </p:oleObj>
              </mc:Choice>
              <mc:Fallback>
                <p:oleObj name="think-cell Slide" r:id="rId4" imgW="501" imgH="50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93D73AB-5942-F30A-9DE5-A8760A4F0AA1}"/>
              </a:ext>
            </a:extLst>
          </p:cNvPr>
          <p:cNvSpPr>
            <a:spLocks noGrp="1"/>
          </p:cNvSpPr>
          <p:nvPr>
            <p:ph type="title"/>
          </p:nvPr>
        </p:nvSpPr>
        <p:spPr/>
        <p:txBody>
          <a:bodyPr vert="horz" rIns="91425"/>
          <a:lstStyle/>
          <a:p>
            <a:r>
              <a:rPr lang="en-CA" dirty="0">
                <a:latin typeface="Arial"/>
              </a:rPr>
              <a:t>Results: h₂ (Slippage) expands 29% fewer nodes than </a:t>
            </a:r>
            <a:br>
              <a:rPr lang="en-CA" dirty="0">
                <a:latin typeface="Arial"/>
              </a:rPr>
            </a:br>
            <a:r>
              <a:rPr lang="en-CA" dirty="0">
                <a:latin typeface="Arial"/>
              </a:rPr>
              <a:t>Dijkstra while maintaining profitability</a:t>
            </a:r>
            <a:endParaRPr lang="en-US" dirty="0"/>
          </a:p>
        </p:txBody>
      </p:sp>
      <p:sp>
        <p:nvSpPr>
          <p:cNvPr id="11" name="Text Placeholder 10">
            <a:extLst>
              <a:ext uri="{FF2B5EF4-FFF2-40B4-BE49-F238E27FC236}">
                <a16:creationId xmlns:a16="http://schemas.microsoft.com/office/drawing/2014/main" id="{95E8C63F-CA0E-12E3-3238-484AB654D704}"/>
              </a:ext>
            </a:extLst>
          </p:cNvPr>
          <p:cNvSpPr>
            <a:spLocks noGrp="1"/>
          </p:cNvSpPr>
          <p:nvPr>
            <p:ph type="body" sz="quarter" idx="10"/>
          </p:nvPr>
        </p:nvSpPr>
        <p:spPr/>
        <p:txBody>
          <a:bodyPr/>
          <a:lstStyle/>
          <a:p>
            <a:endParaRPr lang="en-CA"/>
          </a:p>
        </p:txBody>
      </p:sp>
      <p:sp>
        <p:nvSpPr>
          <p:cNvPr id="12" name="Text Placeholder 11">
            <a:extLst>
              <a:ext uri="{FF2B5EF4-FFF2-40B4-BE49-F238E27FC236}">
                <a16:creationId xmlns:a16="http://schemas.microsoft.com/office/drawing/2014/main" id="{AA4E599E-C36A-20E9-D6EE-229D05E00CCF}"/>
              </a:ext>
            </a:extLst>
          </p:cNvPr>
          <p:cNvSpPr>
            <a:spLocks noGrp="1"/>
          </p:cNvSpPr>
          <p:nvPr>
            <p:ph type="body" sz="quarter" idx="11"/>
          </p:nvPr>
        </p:nvSpPr>
        <p:spPr/>
        <p:txBody>
          <a:bodyPr/>
          <a:lstStyle/>
          <a:p>
            <a:endParaRPr lang="en-CA"/>
          </a:p>
        </p:txBody>
      </p:sp>
      <p:pic>
        <p:nvPicPr>
          <p:cNvPr id="4" name="Picture 3" descr="fig01_node_expansion_bar.png">
            <a:extLst>
              <a:ext uri="{FF2B5EF4-FFF2-40B4-BE49-F238E27FC236}">
                <a16:creationId xmlns:a16="http://schemas.microsoft.com/office/drawing/2014/main" id="{6C4130E7-914A-4F48-8962-BCDBBE02CB74}"/>
              </a:ext>
            </a:extLst>
          </p:cNvPr>
          <p:cNvPicPr>
            <a:picLocks noChangeAspect="1"/>
          </p:cNvPicPr>
          <p:nvPr/>
        </p:nvPicPr>
        <p:blipFill>
          <a:blip r:embed="rId6"/>
          <a:stretch>
            <a:fillRect/>
          </a:stretch>
        </p:blipFill>
        <p:spPr>
          <a:xfrm>
            <a:off x="407332" y="1052650"/>
            <a:ext cx="4920279" cy="3527090"/>
          </a:xfrm>
          <a:prstGeom prst="rect">
            <a:avLst/>
          </a:prstGeom>
        </p:spPr>
      </p:pic>
      <p:sp>
        <p:nvSpPr>
          <p:cNvPr id="7" name="Google Shape;158;p13">
            <a:extLst>
              <a:ext uri="{FF2B5EF4-FFF2-40B4-BE49-F238E27FC236}">
                <a16:creationId xmlns:a16="http://schemas.microsoft.com/office/drawing/2014/main" id="{B0369EDC-3530-E88F-4815-94A0B419C63B}"/>
              </a:ext>
            </a:extLst>
          </p:cNvPr>
          <p:cNvSpPr/>
          <p:nvPr/>
        </p:nvSpPr>
        <p:spPr>
          <a:xfrm>
            <a:off x="5613149" y="2906162"/>
            <a:ext cx="3204926" cy="1602464"/>
          </a:xfrm>
          <a:prstGeom prst="rect">
            <a:avLst/>
          </a:prstGeom>
          <a:solidFill>
            <a:schemeClr val="bg1">
              <a:lumMod val="95000"/>
            </a:schemeClr>
          </a:solidFill>
          <a:ln w="19050">
            <a:noFill/>
          </a:ln>
        </p:spPr>
        <p:txBody>
          <a:bodyPr spcFirstLastPara="1" wrap="square" lIns="91425" tIns="91425" rIns="91425" bIns="91425" anchor="ctr" anchorCtr="0">
            <a:noAutofit/>
          </a:bodyPr>
          <a:lstStyle/>
          <a:p>
            <a:pPr>
              <a:buClr>
                <a:srgbClr val="000000"/>
              </a:buClr>
              <a:buSzPts val="1200"/>
            </a:pP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When testing all 3 heuristics and the Dijkstra baseline across 30 starts: </a:t>
            </a:r>
          </a:p>
          <a:p>
            <a:pPr>
              <a:buClr>
                <a:srgbClr val="000000"/>
              </a:buClr>
              <a:buSzPts val="1200"/>
            </a:pPr>
            <a:endPar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endParaRPr>
          </a:p>
          <a:p>
            <a:pPr marL="171450" indent="-171450">
              <a:buClr>
                <a:srgbClr val="000000"/>
              </a:buClr>
              <a:buSzPts val="1200"/>
              <a:buFont typeface="Arial" panose="020B0604020202020204" pitchFamily="34" charset="0"/>
              <a:buChar char="•"/>
            </a:pP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All options found the same number of profitable paths in this test</a:t>
            </a:r>
          </a:p>
          <a:p>
            <a:pPr marL="171450" indent="-171450">
              <a:buSzPts val="1200"/>
              <a:buFont typeface="Arial" panose="020B0604020202020204" pitchFamily="34" charset="0"/>
              <a:buChar char="•"/>
            </a:pP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Average profit for Dijkstra and </a:t>
            </a:r>
            <a:r>
              <a:rPr lang="en-CA" sz="1050" dirty="0"/>
              <a:t>h₂</a:t>
            </a: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 was approximately equal</a:t>
            </a:r>
          </a:p>
          <a:p>
            <a:pPr marL="171450" indent="-171450">
              <a:buSzPts val="1200"/>
              <a:buFont typeface="Arial" panose="020B0604020202020204" pitchFamily="34" charset="0"/>
              <a:buChar char="•"/>
            </a:pPr>
            <a:r>
              <a:rPr lang="en-CA" sz="1050" dirty="0"/>
              <a:t>h₂</a:t>
            </a: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 expanded 29% less nodes than Dijkstra in search of a profitable path </a:t>
            </a:r>
          </a:p>
        </p:txBody>
      </p:sp>
      <p:grpSp>
        <p:nvGrpSpPr>
          <p:cNvPr id="10" name="Group 9">
            <a:extLst>
              <a:ext uri="{FF2B5EF4-FFF2-40B4-BE49-F238E27FC236}">
                <a16:creationId xmlns:a16="http://schemas.microsoft.com/office/drawing/2014/main" id="{9D6BB0C0-0F15-DCF4-C787-A2F49F88EABB}"/>
              </a:ext>
            </a:extLst>
          </p:cNvPr>
          <p:cNvGrpSpPr/>
          <p:nvPr/>
        </p:nvGrpSpPr>
        <p:grpSpPr>
          <a:xfrm>
            <a:off x="5472505" y="1329298"/>
            <a:ext cx="3486213" cy="1400418"/>
            <a:chOff x="5472505" y="1302137"/>
            <a:chExt cx="3486213" cy="1400418"/>
          </a:xfrm>
        </p:grpSpPr>
        <p:pic>
          <p:nvPicPr>
            <p:cNvPr id="6" name="Picture 5">
              <a:extLst>
                <a:ext uri="{FF2B5EF4-FFF2-40B4-BE49-F238E27FC236}">
                  <a16:creationId xmlns:a16="http://schemas.microsoft.com/office/drawing/2014/main" id="{2D4C9F20-6A57-DF67-2E7F-55BF0FB1FFB3}"/>
                </a:ext>
              </a:extLst>
            </p:cNvPr>
            <p:cNvPicPr>
              <a:picLocks noChangeAspect="1"/>
            </p:cNvPicPr>
            <p:nvPr/>
          </p:nvPicPr>
          <p:blipFill>
            <a:blip r:embed="rId7"/>
            <a:stretch>
              <a:fillRect/>
            </a:stretch>
          </p:blipFill>
          <p:spPr>
            <a:xfrm>
              <a:off x="5472505" y="1302137"/>
              <a:ext cx="3486213" cy="1165449"/>
            </a:xfrm>
            <a:prstGeom prst="rect">
              <a:avLst/>
            </a:prstGeom>
          </p:spPr>
        </p:pic>
        <p:sp>
          <p:nvSpPr>
            <p:cNvPr id="8" name="TextBox 7">
              <a:extLst>
                <a:ext uri="{FF2B5EF4-FFF2-40B4-BE49-F238E27FC236}">
                  <a16:creationId xmlns:a16="http://schemas.microsoft.com/office/drawing/2014/main" id="{EB0B251E-23C2-46F2-1EDC-F5A06D3B6C30}"/>
                </a:ext>
              </a:extLst>
            </p:cNvPr>
            <p:cNvSpPr txBox="1"/>
            <p:nvPr/>
          </p:nvSpPr>
          <p:spPr>
            <a:xfrm>
              <a:off x="5613149" y="2440945"/>
              <a:ext cx="3123519" cy="261610"/>
            </a:xfrm>
            <a:prstGeom prst="rect">
              <a:avLst/>
            </a:prstGeom>
            <a:noFill/>
          </p:spPr>
          <p:txBody>
            <a:bodyPr wrap="square" rtlCol="0">
              <a:spAutoFit/>
            </a:bodyPr>
            <a:lstStyle/>
            <a:p>
              <a:pPr algn="ctr"/>
              <a:r>
                <a:rPr lang="en-CA" sz="1100" dirty="0"/>
                <a:t>Heuristic comparison at $10k (30 starts) </a:t>
              </a:r>
            </a:p>
          </p:txBody>
        </p:sp>
      </p:grpSp>
    </p:spTree>
    <p:extLst>
      <p:ext uri="{BB962C8B-B14F-4D97-AF65-F5344CB8AC3E}">
        <p14:creationId xmlns:p14="http://schemas.microsoft.com/office/powerpoint/2010/main" val="1962952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45E6-DFD6-6207-1A83-147D92FB710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344E6FA-1D20-60E8-D0EE-D6644D0F74FD}"/>
              </a:ext>
            </a:extLst>
          </p:cNvPr>
          <p:cNvGraphicFramePr>
            <a:graphicFrameLocks/>
          </p:cNvGraphicFramePr>
          <p:nvPr>
            <p:custDataLst>
              <p:tags r:id="rId1"/>
            </p:custDataLst>
            <p:extLst>
              <p:ext uri="{D42A27DB-BD31-4B8C-83A1-F6EECF244321}">
                <p14:modId xmlns:p14="http://schemas.microsoft.com/office/powerpoint/2010/main" val="1284907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1" imgH="500" progId="TCLayout.ActiveDocument.1">
                  <p:embed/>
                </p:oleObj>
              </mc:Choice>
              <mc:Fallback>
                <p:oleObj name="think-cell Slide" r:id="rId4" imgW="501" imgH="50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9FB6555-713D-EC2F-E472-6E0B6F8D4014}"/>
              </a:ext>
            </a:extLst>
          </p:cNvPr>
          <p:cNvSpPr>
            <a:spLocks noGrp="1"/>
          </p:cNvSpPr>
          <p:nvPr>
            <p:ph type="title"/>
          </p:nvPr>
        </p:nvSpPr>
        <p:spPr/>
        <p:txBody>
          <a:bodyPr vert="horz" rIns="91425"/>
          <a:lstStyle/>
          <a:p>
            <a:r>
              <a:rPr lang="en-CA" dirty="0">
                <a:latin typeface="Arial"/>
              </a:rPr>
              <a:t>Results: overnight campaign indicates reproducibility at </a:t>
            </a:r>
            <a:br>
              <a:rPr lang="en-CA" dirty="0">
                <a:latin typeface="Arial"/>
              </a:rPr>
            </a:br>
            <a:r>
              <a:rPr lang="en-CA" dirty="0">
                <a:latin typeface="Arial"/>
              </a:rPr>
              <a:t>volume, and verifies the time constraint</a:t>
            </a:r>
            <a:endParaRPr lang="en-US" dirty="0"/>
          </a:p>
        </p:txBody>
      </p:sp>
      <p:sp>
        <p:nvSpPr>
          <p:cNvPr id="12" name="Text Placeholder 11">
            <a:extLst>
              <a:ext uri="{FF2B5EF4-FFF2-40B4-BE49-F238E27FC236}">
                <a16:creationId xmlns:a16="http://schemas.microsoft.com/office/drawing/2014/main" id="{F574FB4A-DB82-59EB-64E0-02D68C60A300}"/>
              </a:ext>
            </a:extLst>
          </p:cNvPr>
          <p:cNvSpPr>
            <a:spLocks noGrp="1"/>
          </p:cNvSpPr>
          <p:nvPr>
            <p:ph type="body" sz="quarter" idx="10"/>
          </p:nvPr>
        </p:nvSpPr>
        <p:spPr/>
        <p:txBody>
          <a:bodyPr/>
          <a:lstStyle/>
          <a:p>
            <a:endParaRPr lang="en-CA"/>
          </a:p>
        </p:txBody>
      </p:sp>
      <p:sp>
        <p:nvSpPr>
          <p:cNvPr id="13" name="Text Placeholder 12">
            <a:extLst>
              <a:ext uri="{FF2B5EF4-FFF2-40B4-BE49-F238E27FC236}">
                <a16:creationId xmlns:a16="http://schemas.microsoft.com/office/drawing/2014/main" id="{C0E5BB66-B848-F501-241B-923FACE6DAA0}"/>
              </a:ext>
            </a:extLst>
          </p:cNvPr>
          <p:cNvSpPr>
            <a:spLocks noGrp="1"/>
          </p:cNvSpPr>
          <p:nvPr>
            <p:ph type="body" sz="quarter" idx="11"/>
          </p:nvPr>
        </p:nvSpPr>
        <p:spPr/>
        <p:txBody>
          <a:bodyPr/>
          <a:lstStyle/>
          <a:p>
            <a:endParaRPr lang="en-CA"/>
          </a:p>
        </p:txBody>
      </p:sp>
      <p:sp>
        <p:nvSpPr>
          <p:cNvPr id="7" name="Google Shape;158;p13">
            <a:extLst>
              <a:ext uri="{FF2B5EF4-FFF2-40B4-BE49-F238E27FC236}">
                <a16:creationId xmlns:a16="http://schemas.microsoft.com/office/drawing/2014/main" id="{A21013D0-AA92-49B8-65FB-A40B5E69A01A}"/>
              </a:ext>
            </a:extLst>
          </p:cNvPr>
          <p:cNvSpPr/>
          <p:nvPr/>
        </p:nvSpPr>
        <p:spPr>
          <a:xfrm>
            <a:off x="235390" y="3633555"/>
            <a:ext cx="8582685" cy="963156"/>
          </a:xfrm>
          <a:prstGeom prst="rect">
            <a:avLst/>
          </a:prstGeom>
          <a:solidFill>
            <a:schemeClr val="bg1">
              <a:lumMod val="95000"/>
            </a:schemeClr>
          </a:solidFill>
          <a:ln w="19050">
            <a:noFill/>
          </a:ln>
        </p:spPr>
        <p:txBody>
          <a:bodyPr spcFirstLastPara="1" wrap="square" lIns="91425" tIns="91425" rIns="91425" bIns="91425" anchor="ctr" anchorCtr="0">
            <a:noAutofit/>
          </a:bodyPr>
          <a:lstStyle/>
          <a:p>
            <a:pPr>
              <a:buClr>
                <a:srgbClr val="000000"/>
              </a:buClr>
              <a:buSzPts val="1200"/>
            </a:pP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The overnight campaign (7,200 trials over 8 hours) produces the following results: </a:t>
            </a:r>
          </a:p>
          <a:p>
            <a:pPr>
              <a:buClr>
                <a:srgbClr val="000000"/>
              </a:buClr>
              <a:buSzPts val="1200"/>
            </a:pPr>
            <a:endPar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endParaRPr>
          </a:p>
          <a:p>
            <a:pPr marL="171450" indent="-171450">
              <a:buSzPts val="1200"/>
              <a:buFont typeface="Arial" panose="020B0604020202020204" pitchFamily="34" charset="0"/>
              <a:buChar char="•"/>
            </a:pP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Average profit for </a:t>
            </a:r>
            <a:r>
              <a:rPr lang="en-CA" sz="1050" dirty="0"/>
              <a:t>h₂</a:t>
            </a: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 consistently matched the average profit from Dijkstra, while </a:t>
            </a:r>
            <a:r>
              <a:rPr lang="en-CA" sz="1050" dirty="0"/>
              <a:t>h</a:t>
            </a:r>
            <a:r>
              <a:rPr lang="en-CA" sz="1050" baseline="-25000" dirty="0"/>
              <a:t>1</a:t>
            </a:r>
            <a:r>
              <a:rPr lang="en-CA" sz="1050" dirty="0"/>
              <a:t>, h</a:t>
            </a:r>
            <a:r>
              <a:rPr lang="en-CA" sz="1050" baseline="-25000" dirty="0"/>
              <a:t>3</a:t>
            </a:r>
            <a:r>
              <a:rPr lang="en-CA" sz="1050" dirty="0"/>
              <a:t>, and the 3-hop baseline performed worse</a:t>
            </a:r>
            <a:r>
              <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rPr>
              <a:t> </a:t>
            </a:r>
          </a:p>
          <a:p>
            <a:pPr marL="171450" indent="-171450">
              <a:buSzPts val="1200"/>
              <a:buFont typeface="Arial" panose="020B0604020202020204" pitchFamily="34" charset="0"/>
              <a:buChar char="•"/>
            </a:pPr>
            <a:r>
              <a:rPr lang="en-CA" sz="1050" dirty="0"/>
              <a:t>Time-delay analysis showed that 99.6% of profitable paths remained profitable at a 120-second delay </a:t>
            </a:r>
            <a:endParaRPr lang="en-CA" sz="1050" dirty="0">
              <a:latin typeface="Helvetica Neue" panose="02000503000000020004" pitchFamily="2" charset="0"/>
              <a:ea typeface="Helvetica Neue" panose="02000503000000020004" pitchFamily="2" charset="0"/>
              <a:cs typeface="Helvetica Neue" panose="02000503000000020004" pitchFamily="2" charset="0"/>
              <a:sym typeface="Noto Sans"/>
            </a:endParaRPr>
          </a:p>
        </p:txBody>
      </p:sp>
      <p:pic>
        <p:nvPicPr>
          <p:cNvPr id="1026" name="Picture 2">
            <a:extLst>
              <a:ext uri="{FF2B5EF4-FFF2-40B4-BE49-F238E27FC236}">
                <a16:creationId xmlns:a16="http://schemas.microsoft.com/office/drawing/2014/main" id="{6C10CE54-BEBA-DFF9-EDE1-E34F93B5F2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298" y="964748"/>
            <a:ext cx="4493098" cy="243142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5E5E1DE-AD07-A74A-E450-ADBE143DBF97}"/>
              </a:ext>
            </a:extLst>
          </p:cNvPr>
          <p:cNvPicPr>
            <a:picLocks noChangeAspect="1"/>
          </p:cNvPicPr>
          <p:nvPr/>
        </p:nvPicPr>
        <p:blipFill>
          <a:blip r:embed="rId7"/>
          <a:stretch>
            <a:fillRect/>
          </a:stretch>
        </p:blipFill>
        <p:spPr>
          <a:xfrm>
            <a:off x="5409960" y="964748"/>
            <a:ext cx="3224672" cy="2431421"/>
          </a:xfrm>
          <a:prstGeom prst="rect">
            <a:avLst/>
          </a:prstGeom>
        </p:spPr>
      </p:pic>
    </p:spTree>
    <p:extLst>
      <p:ext uri="{BB962C8B-B14F-4D97-AF65-F5344CB8AC3E}">
        <p14:creationId xmlns:p14="http://schemas.microsoft.com/office/powerpoint/2010/main" val="1978705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B90B0-6461-560B-4CEF-11AA7BC1DA95}"/>
            </a:ext>
          </a:extLst>
        </p:cNvPr>
        <p:cNvGrpSpPr/>
        <p:nvPr/>
      </p:nvGrpSpPr>
      <p:grpSpPr>
        <a:xfrm>
          <a:off x="0" y="0"/>
          <a:ext cx="0" cy="0"/>
          <a:chOff x="0" y="0"/>
          <a:chExt cx="0" cy="0"/>
        </a:xfrm>
      </p:grpSpPr>
      <p:pic>
        <p:nvPicPr>
          <p:cNvPr id="8" name="Picture 7" descr="FullGraph.png">
            <a:extLst>
              <a:ext uri="{FF2B5EF4-FFF2-40B4-BE49-F238E27FC236}">
                <a16:creationId xmlns:a16="http://schemas.microsoft.com/office/drawing/2014/main" id="{1424CA36-9CAE-B5B4-FD2B-4041463B9AD8}"/>
              </a:ext>
            </a:extLst>
          </p:cNvPr>
          <p:cNvPicPr>
            <a:picLocks noChangeAspect="1"/>
          </p:cNvPicPr>
          <p:nvPr/>
        </p:nvPicPr>
        <p:blipFill>
          <a:blip r:embed="rId4"/>
          <a:stretch>
            <a:fillRect/>
          </a:stretch>
        </p:blipFill>
        <p:spPr>
          <a:xfrm>
            <a:off x="2" y="0"/>
            <a:ext cx="9138971" cy="5140800"/>
          </a:xfrm>
          <a:prstGeom prst="rect">
            <a:avLst/>
          </a:prstGeom>
        </p:spPr>
      </p:pic>
      <p:graphicFrame>
        <p:nvGraphicFramePr>
          <p:cNvPr id="37" name="think-cell data - do not delete" hidden="1">
            <a:extLst>
              <a:ext uri="{FF2B5EF4-FFF2-40B4-BE49-F238E27FC236}">
                <a16:creationId xmlns:a16="http://schemas.microsoft.com/office/drawing/2014/main" id="{51A19B6F-5C92-7FCA-C980-3911DFD3FB36}"/>
              </a:ext>
            </a:extLst>
          </p:cNvPr>
          <p:cNvGraphicFramePr>
            <a:graphicFrameLocks/>
          </p:cNvGraphicFramePr>
          <p:nvPr>
            <p:custDataLst>
              <p:tags r:id="rId1"/>
            </p:custDataLst>
          </p:nvPr>
        </p:nvGraphicFramePr>
        <p:xfrm>
          <a:off x="1192" y="1191"/>
          <a:ext cx="920" cy="1191"/>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37" name="think-cell data - do not delete" hidden="1">
                        <a:extLst>
                          <a:ext uri="{FF2B5EF4-FFF2-40B4-BE49-F238E27FC236}">
                            <a16:creationId xmlns:a16="http://schemas.microsoft.com/office/drawing/2014/main" id="{192FFF47-A04C-E883-8A55-1426E91FCBC2}"/>
                          </a:ext>
                        </a:extLst>
                      </p:cNvPr>
                      <p:cNvPicPr/>
                      <p:nvPr/>
                    </p:nvPicPr>
                    <p:blipFill>
                      <a:blip r:embed="rId6"/>
                      <a:stretch>
                        <a:fillRect/>
                      </a:stretch>
                    </p:blipFill>
                    <p:spPr>
                      <a:xfrm>
                        <a:off x="1192" y="1191"/>
                        <a:ext cx="920" cy="1191"/>
                      </a:xfrm>
                      <a:prstGeom prst="rect">
                        <a:avLst/>
                      </a:prstGeom>
                    </p:spPr>
                  </p:pic>
                </p:oleObj>
              </mc:Fallback>
            </mc:AlternateContent>
          </a:graphicData>
        </a:graphic>
      </p:graphicFrame>
      <p:sp>
        <p:nvSpPr>
          <p:cNvPr id="2" name="Google Shape;55;p13">
            <a:extLst>
              <a:ext uri="{FF2B5EF4-FFF2-40B4-BE49-F238E27FC236}">
                <a16:creationId xmlns:a16="http://schemas.microsoft.com/office/drawing/2014/main" id="{43DC3623-BAF1-11C4-6B94-EA02D6BCDCFE}"/>
              </a:ext>
            </a:extLst>
          </p:cNvPr>
          <p:cNvSpPr/>
          <p:nvPr/>
        </p:nvSpPr>
        <p:spPr>
          <a:xfrm rot="10800000">
            <a:off x="-7522" y="-10380"/>
            <a:ext cx="9151521" cy="5151923"/>
          </a:xfrm>
          <a:prstGeom prst="rect">
            <a:avLst/>
          </a:prstGeom>
          <a:gradFill>
            <a:gsLst>
              <a:gs pos="0">
                <a:schemeClr val="accent1">
                  <a:lumMod val="75000"/>
                </a:schemeClr>
              </a:gs>
              <a:gs pos="32000">
                <a:schemeClr val="accent1">
                  <a:lumMod val="75000"/>
                </a:schemeClr>
              </a:gs>
              <a:gs pos="81000">
                <a:srgbClr val="141414">
                  <a:alpha val="43529"/>
                  <a:alpha val="32910"/>
                </a:srgbClr>
              </a:gs>
            </a:gsLst>
            <a:lin ang="10800000" scaled="0"/>
          </a:gradFill>
          <a:ln>
            <a:noFill/>
          </a:ln>
        </p:spPr>
        <p:txBody>
          <a:bodyPr spcFirstLastPara="1" wrap="square" lIns="68569" tIns="68569" rIns="68569" bIns="68569" anchor="ctr" anchorCtr="0">
            <a:noAutofit/>
          </a:bodyPr>
          <a:lstStyle/>
          <a:p>
            <a:endParaRPr sz="105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357EAF99-34CD-8B72-56EE-159EEB823E71}"/>
              </a:ext>
            </a:extLst>
          </p:cNvPr>
          <p:cNvSpPr txBox="1"/>
          <p:nvPr/>
        </p:nvSpPr>
        <p:spPr>
          <a:xfrm>
            <a:off x="289262" y="1015438"/>
            <a:ext cx="5806738" cy="830997"/>
          </a:xfrm>
          <a:prstGeom prst="rect">
            <a:avLst/>
          </a:prstGeom>
          <a:noFill/>
          <a:effectLst>
            <a:outerShdw blurRad="50800" dist="38100" dir="2700000" algn="tl" rotWithShape="0">
              <a:prstClr val="black">
                <a:alpha val="91000"/>
              </a:prstClr>
            </a:outerShdw>
          </a:effectLst>
        </p:spPr>
        <p:txBody>
          <a:bodyPr wrap="square" rtlCol="0">
            <a:spAutoFit/>
          </a:bodyPr>
          <a:lstStyle/>
          <a:p>
            <a:r>
              <a:rPr lang="en-CA" sz="2400" b="1" dirty="0">
                <a:solidFill>
                  <a:srgbClr val="FFFFFF"/>
                </a:solidFill>
              </a:rPr>
              <a:t>Execution-Aware A* Search for
Cross-Exchange Stablecoin Arbitrage</a:t>
            </a:r>
          </a:p>
        </p:txBody>
      </p:sp>
      <p:sp>
        <p:nvSpPr>
          <p:cNvPr id="17" name="TextBox 16">
            <a:extLst>
              <a:ext uri="{FF2B5EF4-FFF2-40B4-BE49-F238E27FC236}">
                <a16:creationId xmlns:a16="http://schemas.microsoft.com/office/drawing/2014/main" id="{D3E12081-0866-52C4-F0B7-FBFE6D550128}"/>
              </a:ext>
            </a:extLst>
          </p:cNvPr>
          <p:cNvSpPr txBox="1"/>
          <p:nvPr/>
        </p:nvSpPr>
        <p:spPr>
          <a:xfrm>
            <a:off x="342522" y="3391344"/>
            <a:ext cx="4808122" cy="1031051"/>
          </a:xfrm>
          <a:prstGeom prst="rect">
            <a:avLst/>
          </a:prstGeom>
          <a:noFill/>
          <a:effectLst>
            <a:outerShdw blurRad="50800" dist="38100" dir="8100000" algn="tr" rotWithShape="0">
              <a:prstClr val="black">
                <a:alpha val="63907"/>
              </a:prstClr>
            </a:outerShdw>
          </a:effectLst>
        </p:spPr>
        <p:txBody>
          <a:bodyPr wrap="square" rtlCol="0">
            <a:spAutoFit/>
          </a:bodyPr>
          <a:lstStyle/>
          <a:p>
            <a:pPr>
              <a:spcAft>
                <a:spcPts val="225"/>
              </a:spcAft>
            </a:pPr>
            <a:r>
              <a:rPr lang="en-US" b="1" dirty="0">
                <a:solidFill>
                  <a:schemeClr val="bg1"/>
                </a:solidFill>
                <a:latin typeface="+mn-lt"/>
                <a:ea typeface="Helvetica Neue" panose="02000503000000020004" pitchFamily="2" charset="0"/>
                <a:cs typeface="Helvetica Neue" panose="02000503000000020004" pitchFamily="2" charset="0"/>
              </a:rPr>
              <a:t>Kevin Litvin – Simon Fraser University</a:t>
            </a:r>
          </a:p>
          <a:p>
            <a:pPr>
              <a:spcAft>
                <a:spcPts val="225"/>
              </a:spcAft>
            </a:pPr>
            <a:r>
              <a:rPr lang="en-CA" dirty="0">
                <a:solidFill>
                  <a:srgbClr val="AAAAAA"/>
                </a:solidFill>
                <a:latin typeface="+mn-lt"/>
              </a:rPr>
              <a:t>github.com/kevinl03/Stablecoin-</a:t>
            </a:r>
            <a:r>
              <a:rPr lang="en-CA" dirty="0" err="1">
                <a:solidFill>
                  <a:srgbClr val="AAAAAA"/>
                </a:solidFill>
                <a:latin typeface="+mn-lt"/>
              </a:rPr>
              <a:t>CrossExchange</a:t>
            </a:r>
            <a:r>
              <a:rPr lang="en-CA" dirty="0">
                <a:solidFill>
                  <a:srgbClr val="AAAAAA"/>
                </a:solidFill>
                <a:latin typeface="+mn-lt"/>
              </a:rPr>
              <a:t>-Arbitrage</a:t>
            </a:r>
            <a:r>
              <a:rPr lang="en-US" b="1" dirty="0">
                <a:solidFill>
                  <a:schemeClr val="bg1"/>
                </a:solidFill>
                <a:latin typeface="+mn-lt"/>
                <a:ea typeface="Helvetica Neue" panose="02000503000000020004" pitchFamily="2" charset="0"/>
                <a:cs typeface="Helvetica Neue" panose="02000503000000020004" pitchFamily="2" charset="0"/>
              </a:rPr>
              <a:t> </a:t>
            </a:r>
          </a:p>
          <a:p>
            <a:pPr>
              <a:spcAft>
                <a:spcPts val="225"/>
              </a:spcAft>
            </a:pPr>
            <a:endParaRPr lang="en-US" b="1" dirty="0">
              <a:solidFill>
                <a:schemeClr val="bg1"/>
              </a:solidFill>
              <a:latin typeface="+mn-lt"/>
              <a:ea typeface="Helvetica Neue" panose="02000503000000020004" pitchFamily="2" charset="0"/>
              <a:cs typeface="Helvetica Neue" panose="02000503000000020004" pitchFamily="2" charset="0"/>
            </a:endParaRPr>
          </a:p>
          <a:p>
            <a:pPr>
              <a:spcAft>
                <a:spcPts val="225"/>
              </a:spcAft>
            </a:pPr>
            <a:r>
              <a:rPr lang="en-US" b="1" dirty="0">
                <a:solidFill>
                  <a:schemeClr val="bg1"/>
                </a:solidFill>
                <a:latin typeface="+mn-lt"/>
                <a:ea typeface="Helvetica Neue" panose="02000503000000020004" pitchFamily="2" charset="0"/>
                <a:cs typeface="Helvetica Neue" panose="02000503000000020004" pitchFamily="2" charset="0"/>
              </a:rPr>
              <a:t>Canadian AI 2026 - GSS</a:t>
            </a:r>
          </a:p>
        </p:txBody>
      </p:sp>
      <p:sp>
        <p:nvSpPr>
          <p:cNvPr id="7" name="TextBox 6">
            <a:extLst>
              <a:ext uri="{FF2B5EF4-FFF2-40B4-BE49-F238E27FC236}">
                <a16:creationId xmlns:a16="http://schemas.microsoft.com/office/drawing/2014/main" id="{4EA09290-F9E9-793A-E32C-A8A1BA4F2176}"/>
              </a:ext>
            </a:extLst>
          </p:cNvPr>
          <p:cNvSpPr txBox="1"/>
          <p:nvPr/>
        </p:nvSpPr>
        <p:spPr>
          <a:xfrm>
            <a:off x="342522" y="2085410"/>
            <a:ext cx="5334378" cy="1066959"/>
          </a:xfrm>
          <a:prstGeom prst="rect">
            <a:avLst/>
          </a:prstGeom>
          <a:noFill/>
          <a:effectLst>
            <a:outerShdw blurRad="50800" dist="38100" dir="8100000" algn="tr" rotWithShape="0">
              <a:prstClr val="black">
                <a:alpha val="63907"/>
              </a:prstClr>
            </a:outerShdw>
          </a:effectLst>
        </p:spPr>
        <p:txBody>
          <a:bodyPr wrap="square" rtlCol="0">
            <a:spAutoFit/>
          </a:bodyPr>
          <a:lstStyle/>
          <a:p>
            <a:pPr>
              <a:spcAft>
                <a:spcPts val="225"/>
              </a:spcAft>
            </a:pPr>
            <a:r>
              <a:rPr lang="en-CA" sz="1600" i="1" dirty="0">
                <a:solidFill>
                  <a:schemeClr val="bg1"/>
                </a:solidFill>
              </a:rPr>
              <a:t>Can domain-specific heuristics steer search faster than
general-purpose graph algorithms without sacrificing profit?</a:t>
            </a:r>
          </a:p>
          <a:p>
            <a:pPr>
              <a:spcAft>
                <a:spcPts val="225"/>
              </a:spcAft>
            </a:pPr>
            <a:endParaRPr lang="en-US" sz="12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9FEBBC9F-875C-0762-E482-97749704752C}"/>
              </a:ext>
            </a:extLst>
          </p:cNvPr>
          <p:cNvSpPr txBox="1"/>
          <p:nvPr/>
        </p:nvSpPr>
        <p:spPr>
          <a:xfrm>
            <a:off x="7924800" y="6343650"/>
            <a:ext cx="0" cy="0"/>
          </a:xfrm>
          <a:prstGeom prst="rect">
            <a:avLst/>
          </a:prstGeom>
          <a:noFill/>
        </p:spPr>
        <p:txBody>
          <a:bodyPr wrap="none" rtlCol="0">
            <a:noAutofit/>
          </a:bodyPr>
          <a:lstStyle/>
          <a:p>
            <a:pPr algn="l"/>
            <a:endParaRPr lang="en-US" sz="105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D4140D27-E8E1-A8D0-770D-35FAADF10501}"/>
              </a:ext>
            </a:extLst>
          </p:cNvPr>
          <p:cNvSpPr>
            <a:spLocks noGrp="1"/>
          </p:cNvSpPr>
          <p:nvPr>
            <p:ph type="body" sz="quarter" idx="10"/>
          </p:nvPr>
        </p:nvSpPr>
        <p:spPr/>
        <p:txBody>
          <a:bodyPr/>
          <a:lstStyle/>
          <a:p>
            <a:endParaRPr lang="en-CA"/>
          </a:p>
        </p:txBody>
      </p:sp>
      <p:sp>
        <p:nvSpPr>
          <p:cNvPr id="9" name="Text Placeholder 8">
            <a:extLst>
              <a:ext uri="{FF2B5EF4-FFF2-40B4-BE49-F238E27FC236}">
                <a16:creationId xmlns:a16="http://schemas.microsoft.com/office/drawing/2014/main" id="{11F22397-9EAE-4B82-C016-DCFB0BA4B957}"/>
              </a:ext>
            </a:extLst>
          </p:cNvPr>
          <p:cNvSpPr>
            <a:spLocks noGrp="1"/>
          </p:cNvSpPr>
          <p:nvPr>
            <p:ph type="body" sz="quarter" idx="11"/>
          </p:nvPr>
        </p:nvSpPr>
        <p:spPr/>
        <p:txBody>
          <a:bodyPr/>
          <a:lstStyle/>
          <a:p>
            <a:endParaRPr lang="en-CA"/>
          </a:p>
        </p:txBody>
      </p:sp>
      <p:pic>
        <p:nvPicPr>
          <p:cNvPr id="3" name="qr_github">
            <a:extLst>
              <a:ext uri="{FF2B5EF4-FFF2-40B4-BE49-F238E27FC236}">
                <a16:creationId xmlns:a16="http://schemas.microsoft.com/office/drawing/2014/main" id="{6DB971F9-9354-3DAA-0671-F68426C258D8}"/>
              </a:ext>
            </a:extLst>
          </p:cNvPr>
          <p:cNvPicPr>
            <a:picLocks/>
          </p:cNvPicPr>
          <p:nvPr/>
        </p:nvPicPr>
        <p:blipFill>
          <a:blip r:embed="rId7"/>
          <a:stretch>
            <a:fillRect/>
          </a:stretch>
        </p:blipFill>
        <p:spPr>
          <a:xfrm>
            <a:off x="7401743" y="3521172"/>
            <a:ext cx="1080000" cy="1080000"/>
          </a:xfrm>
          <a:prstGeom prst="rect">
            <a:avLst/>
          </a:prstGeom>
        </p:spPr>
      </p:pic>
    </p:spTree>
    <p:extLst>
      <p:ext uri="{BB962C8B-B14F-4D97-AF65-F5344CB8AC3E}">
        <p14:creationId xmlns:p14="http://schemas.microsoft.com/office/powerpoint/2010/main" val="37251070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573&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mple Light">
  <a:themeElements>
    <a:clrScheme name="Custom 4">
      <a:dk1>
        <a:srgbClr val="000000"/>
      </a:dk1>
      <a:lt1>
        <a:srgbClr val="FFFFFF"/>
      </a:lt1>
      <a:dk2>
        <a:srgbClr val="595959"/>
      </a:dk2>
      <a:lt2>
        <a:srgbClr val="EEEEEE"/>
      </a:lt2>
      <a:accent1>
        <a:srgbClr val="173482"/>
      </a:accent1>
      <a:accent2>
        <a:srgbClr val="B6E3EE"/>
      </a:accent2>
      <a:accent3>
        <a:srgbClr val="EAF8F2"/>
      </a:accent3>
      <a:accent4>
        <a:srgbClr val="362415"/>
      </a:accent4>
      <a:accent5>
        <a:srgbClr val="604C4C"/>
      </a:accent5>
      <a:accent6>
        <a:srgbClr val="6489E7"/>
      </a:accent6>
      <a:hlink>
        <a:srgbClr val="A5A5A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4e8677e-c989-47b9-8619-d83d5a5f6c67}" enabled="0" method="" siteId="{04e8677e-c989-47b9-8619-d83d5a5f6c67}" removed="1"/>
</clbl:labelList>
</file>

<file path=docProps/app.xml><?xml version="1.0" encoding="utf-8"?>
<Properties xmlns="http://schemas.openxmlformats.org/officeDocument/2006/extended-properties" xmlns:vt="http://schemas.openxmlformats.org/officeDocument/2006/docPropsVTypes">
  <TotalTime>911</TotalTime>
  <Words>1893</Words>
  <Application>Microsoft Macintosh PowerPoint</Application>
  <PresentationFormat>On-screen Show (16:9)</PresentationFormat>
  <Paragraphs>201</Paragraphs>
  <Slides>9</Slides>
  <Notes>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6" baseType="lpstr">
      <vt:lpstr>Source Sans Pro</vt:lpstr>
      <vt:lpstr>Times</vt:lpstr>
      <vt:lpstr>Cambria Math</vt:lpstr>
      <vt:lpstr>Helvetica Neue</vt:lpstr>
      <vt:lpstr>Arial</vt:lpstr>
      <vt:lpstr>Simple Light</vt:lpstr>
      <vt:lpstr>think-cell Slide</vt:lpstr>
      <vt:lpstr>PowerPoint Presentation</vt:lpstr>
      <vt:lpstr>Stablecoin: Bridging international crypto trade</vt:lpstr>
      <vt:lpstr>Why shortest-path isn’t enough: 4 real-world costs</vt:lpstr>
      <vt:lpstr>The dataset: first academically integrated CEX stablecoin graph</vt:lpstr>
      <vt:lpstr>Methodology: A* search with execution-aware heuristic</vt:lpstr>
      <vt:lpstr>Three execution-aware heuristics</vt:lpstr>
      <vt:lpstr>Results: h₂ (Slippage) expands 29% fewer nodes than  Dijkstra while maintaining profitability</vt:lpstr>
      <vt:lpstr>Results: overnight campaign indicates reproducibility at  volume, and verifies the time constraint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Tania P.</dc:creator>
  <cp:lastModifiedBy>Kevin Litvin</cp:lastModifiedBy>
  <cp:revision>16</cp:revision>
  <cp:lastPrinted>2026-05-27T03:10:50Z</cp:lastPrinted>
  <dcterms:modified xsi:type="dcterms:W3CDTF">2026-05-29T01:15:46Z</dcterms:modified>
</cp:coreProperties>
</file>