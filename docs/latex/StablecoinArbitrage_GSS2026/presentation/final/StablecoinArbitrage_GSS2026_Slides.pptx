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Execution-Aware A* Search for
Cross-Exchange Stablecoin Arbitrage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429000"/>
            <a:ext cx="5486400" cy="36576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CCCC"/>
                </a:solidFill>
                <a:latin typeface="Arial"/>
              </a:rPr>
              <a:t>Can domain-specific heuristics steer search faster than
general-purpose graph algorithms — without sacrificing profit?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CCC"/>
                </a:solidFill>
                <a:latin typeface="Arial"/>
              </a:rPr>
              <a:t>Canadian AI 2026 · GSS</a:t>
            </a:r>
          </a:p>
        </p:txBody>
      </p:sp>
      <p:pic>
        <p:nvPicPr>
          <p:cNvPr id="10" name="Picture 9" descr="logo-canai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Stablecoins: The $33 Trillion Settlement Layer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777240"/>
            <a:ext cx="5565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CC0633"/>
                </a:solidFill>
                <a:latin typeface="Arial"/>
              </a:rPr>
              <a:t>$300B+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103120"/>
            <a:ext cx="5565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  <a:latin typeface="Arial"/>
              </a:rPr>
              <a:t>circulating supply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7559" y="914400"/>
            <a:ext cx="18288" cy="1371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8727" y="777240"/>
            <a:ext cx="5565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CC0633"/>
                </a:solidFill>
                <a:latin typeface="Arial"/>
              </a:rPr>
              <a:t>$33T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103120"/>
            <a:ext cx="5565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  <a:latin typeface="Arial"/>
              </a:rPr>
              <a:t>annual on-chain volume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651759"/>
            <a:ext cx="11496751" cy="228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n_market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834639"/>
            <a:ext cx="11496751" cy="245574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7472" y="4206239"/>
            <a:ext cx="11496751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4288535"/>
            <a:ext cx="11222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12 independent exchanges  ·  same asset  ·  12 different prices at the same instant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6345936"/>
            <a:ext cx="114967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888888"/>
                </a:solidFill>
                <a:latin typeface="Arial"/>
              </a:rPr>
              <a:t>Source: stablecoin volume &amp; supply — verify citation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Why Shortest-Path Isn't Enough: Four Real-World Costs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685800"/>
            <a:ext cx="114967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1A2E"/>
                </a:solidFill>
                <a:latin typeface="Arial"/>
              </a:rPr>
              <a:t>Each cost collapses candidate paths the moment you try to execute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88720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25880"/>
            <a:ext cx="2750743" cy="24688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1 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Taker fees compound
across every 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2807" y="1325880"/>
            <a:ext cx="2750743" cy="246888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2535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2  Slippage 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2535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Large orders walk the
L2 book — VWAP
diverges from mid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325880"/>
            <a:ext cx="2750743" cy="2468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7871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3 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871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Cross-exchange transfers
settle on-chain;
block times eat the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3479" y="1325880"/>
            <a:ext cx="2750743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207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4  Operational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2039112"/>
            <a:ext cx="253128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Withdrawals paused ·
regions geofenced /
VPN-blocked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995928"/>
            <a:ext cx="11496751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078224"/>
            <a:ext cx="112224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633"/>
                </a:solidFill>
                <a:latin typeface="Arial"/>
              </a:rPr>
              <a:t>Bellman-Ford  ·  1-hop  ·  2-hop enumeration  —  none returned a profitable executable path under live conditions.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Dataset: First Academically Integrated CEX Stablecoin Graph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5" name="Picture 4" descr="Full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31520"/>
            <a:ext cx="6583680" cy="5271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82296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877824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centralized
exchanges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00784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755648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stablecoin symbols
(USDT, USDC, DAI…)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786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33472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5643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864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511296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directed edges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4425696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562856"/>
            <a:ext cx="45290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Every edge carries:
taker fee  ·  L2 slippage  ·
on-chain settlement  ·  venue reliability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Method: A* Search with Execution-Aware Heuristic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685800"/>
            <a:ext cx="114967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1A2E"/>
                </a:solidFill>
                <a:latin typeface="Courier New"/>
              </a:rPr>
              <a:t>f (n)  =  g(n)  +  h(n)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353312"/>
            <a:ext cx="11496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0633"/>
                </a:solidFill>
                <a:latin typeface="Arial"/>
              </a:rPr>
              <a:t>A*  =  Dijkstra's algorithm  +  goal-directed heuristic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64208"/>
            <a:ext cx="11496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Arial"/>
              </a:rPr>
              <a:t>g(n)  accumulated execution cost so far          h(n)  domain-specific estimate of remaining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57400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48840"/>
            <a:ext cx="11496751" cy="35942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Three Execution-Aware Heuristics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685800"/>
            <a:ext cx="114967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Arial"/>
              </a:rPr>
              <a:t>Each adds a domain-specific penalty to h(n) — steering A* away from paths too risky to execute under live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43000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2286000" cy="3840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25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h₁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Liquidity</a:t>
            </a:r>
          </a:p>
        </p:txBody>
      </p:sp>
      <p:pic>
        <p:nvPicPr>
          <p:cNvPr id="10" name="Picture 9" descr="fin_eq_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331720"/>
            <a:ext cx="2194560" cy="9522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24h-volume scaled to
order size and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343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"Can the book
absorb our size?"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1234440"/>
            <a:ext cx="2286000" cy="384048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1325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h₂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1892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Slippage</a:t>
            </a:r>
          </a:p>
        </p:txBody>
      </p:sp>
      <p:pic>
        <p:nvPicPr>
          <p:cNvPr id="16" name="Picture 15" descr="fin_eq_h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2331720"/>
            <a:ext cx="2194560" cy="10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07792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VWAP divergence from
mid-quote, live 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4343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"Will my order
move the price?"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85232" y="1234440"/>
            <a:ext cx="2286000" cy="3840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1325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h₃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1892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Chain + Venue</a:t>
            </a:r>
          </a:p>
        </p:txBody>
      </p:sp>
      <p:pic>
        <p:nvPicPr>
          <p:cNvPr id="22" name="Picture 21" descr="fin_eq_h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2331720"/>
            <a:ext cx="2194560" cy="110922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76672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On-chain settlement
+ venue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343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"Will it settle
in time?"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1234440"/>
            <a:ext cx="40901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633"/>
                </a:solidFill>
                <a:latin typeface="Arial"/>
              </a:rPr>
              <a:t>h₂ in detail:</a:t>
            </a:r>
          </a:p>
        </p:txBody>
      </p:sp>
      <p:pic>
        <p:nvPicPr>
          <p:cNvPr id="26" name="Picture 25" descr="fin_slipp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1600200"/>
            <a:ext cx="3998671" cy="284976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7472" y="5166360"/>
            <a:ext cx="114967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Arial"/>
              </a:rPr>
              <a:t>Paper notation: h₃ here = h₄ in paper §4.4.  h₃ in the paper is the multi-start search strategy (§4.3).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5458968"/>
            <a:ext cx="11496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C0633"/>
                </a:solidFill>
                <a:latin typeface="Arial"/>
              </a:rPr>
              <a:t>One of these three consistently outperforms the others.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36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CC"/>
                </a:solidFill>
                <a:latin typeface="Arial"/>
              </a:rPr>
              <a:t>KEY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65760"/>
            <a:ext cx="93021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h₂ (Slippage)  ·  29% fewer node expansions vs. Dijkstra  ·  profit within 1%</a:t>
            </a:r>
          </a:p>
        </p:txBody>
      </p:sp>
      <p:pic>
        <p:nvPicPr>
          <p:cNvPr id="6" name="Picture 5" descr="fig01_node_expans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8" y="795528"/>
            <a:ext cx="6888158" cy="49377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64008"/>
            <a:ext cx="93021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Real-World Proof — 7,200 Live Searches · 8 Hours · Live Market Data</a:t>
            </a:r>
          </a:p>
        </p:txBody>
      </p:sp>
      <p:pic>
        <p:nvPicPr>
          <p:cNvPr id="4" name="Picture 3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pic>
        <p:nvPicPr>
          <p:cNvPr id="5" name="Picture 4" descr="fig10_overnight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85800"/>
            <a:ext cx="4418977" cy="2935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14255" y="822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0633"/>
                </a:solidFill>
                <a:latin typeface="Arial"/>
              </a:rPr>
              <a:t>7,200 / 7,200
surfaced
profitable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Arial"/>
              </a:rPr>
              <a:t>Reproducible at high volume — not a one-off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3648456"/>
            <a:ext cx="11496751" cy="228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9_quote_stale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739896"/>
            <a:ext cx="6822671" cy="2935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4255" y="3922776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633"/>
                </a:solidFill>
                <a:latin typeface="Arial"/>
              </a:rPr>
              <a:t>99.6%
still profitable
at +2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50200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1A1A2E"/>
                </a:solidFill>
                <a:latin typeface="Arial"/>
              </a:rPr>
              <a:t>→ Act within 120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Less Exploration.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C0633"/>
                </a:solidFill>
                <a:latin typeface="Arial"/>
              </a:rPr>
              <a:t>More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Same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CCC"/>
                </a:solidFill>
                <a:latin typeface="Arial"/>
              </a:rPr>
              <a:t>—  Google Maps, for $33 trillion in stablecoin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17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CCCC"/>
                </a:solidFill>
                <a:latin typeface="Arial"/>
              </a:rPr>
              <a:t>Thank you  · 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66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Arial"/>
              </a:rPr>
              <a:t>github.com/kevinl03/Stablecoin-CrossExchange-Arbitrage</a:t>
            </a:r>
          </a:p>
        </p:txBody>
      </p:sp>
      <p:pic>
        <p:nvPicPr>
          <p:cNvPr id="11" name="Picture 10" descr="fig18_radar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75" y="548640"/>
            <a:ext cx="4937760" cy="43238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1055" y="274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  <a:latin typeface="Arial"/>
              </a:rPr>
              <a:t>Method comparison — all metrics</a:t>
            </a:r>
          </a:p>
        </p:txBody>
      </p:sp>
      <p:pic>
        <p:nvPicPr>
          <p:cNvPr id="13" name="Picture 12" descr="logo-canai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575" y="82296"/>
            <a:ext cx="1965960" cy="34561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