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Execution-Aware A* Search for
Cross-Exchange Stablecoin Arbitrage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49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CCCC"/>
                </a:solidFill>
                <a:latin typeface="Arial"/>
              </a:rPr>
              <a:t>Can domain-specific heuristics reduce search cost while maintaining profit quality?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434840"/>
            <a:ext cx="5486400" cy="36576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CCC"/>
                </a:solidFill>
                <a:latin typeface="Arial"/>
              </a:rPr>
              <a:t>Canadian AI 2026 · GSS</a:t>
            </a:r>
          </a:p>
        </p:txBody>
      </p:sp>
      <p:pic>
        <p:nvPicPr>
          <p:cNvPr id="10" name="Picture 9" descr="logo_cd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The $33 Trillion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82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CCCC"/>
                </a:solidFill>
                <a:latin typeface="Arial"/>
              </a:rPr>
              <a:t>Slide 2</a:t>
            </a:r>
          </a:p>
        </p:txBody>
      </p:sp>
      <p:pic>
        <p:nvPicPr>
          <p:cNvPr id="5" name="Picture 4" descr="logo_cd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6" name="Picture 5" descr="slide2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0"/>
            <a:ext cx="6583680" cy="36846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005840"/>
            <a:ext cx="4647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C0633"/>
                </a:solidFill>
                <a:latin typeface="Arial"/>
              </a:rPr>
              <a:t>$300B+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783080"/>
            <a:ext cx="4647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Arial"/>
              </a:rPr>
              <a:t>market cap in circulation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11551615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560320"/>
            <a:ext cx="4647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C0633"/>
                </a:solidFill>
                <a:latin typeface="Arial"/>
              </a:rPr>
              <a:t>$33T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337560"/>
            <a:ext cx="4647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Arial"/>
              </a:rPr>
              <a:t>annual transaction volume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840480"/>
            <a:ext cx="11551615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4023360"/>
            <a:ext cx="4647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Arial"/>
              </a:rPr>
              <a:t>"They are the liquidity highways of the entire crypto ecosystem."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The Problem: Execution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82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CCCC"/>
                </a:solidFill>
                <a:latin typeface="Arial"/>
              </a:rPr>
              <a:t>Slide 3</a:t>
            </a:r>
          </a:p>
        </p:txBody>
      </p:sp>
      <p:pic>
        <p:nvPicPr>
          <p:cNvPr id="5" name="Picture 4" descr="logo_cd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8580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1A2E"/>
                </a:solidFill>
                <a:latin typeface="Arial"/>
              </a:rPr>
              <a:t>"Imagine you are a quant trader. It is 2 AM. You see USDT trading cheaper on Kraken than on KuCoin. The math works. Existing systems say: take it."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11551615" cy="27432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115516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Arial"/>
              </a:rPr>
              <a:t>But existing systems don't tell you about the four execution barriers: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48840"/>
            <a:ext cx="2750743" cy="19202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25856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1. Liquidity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788920"/>
            <a:ext cx="253128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Your order size may
exhaust the 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3663" y="2148840"/>
            <a:ext cx="2750743" cy="192024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3391" y="225856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2. Slippage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3391" y="2788920"/>
            <a:ext cx="253128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Large orders move the
price mid-execution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2148840"/>
            <a:ext cx="2750743" cy="1920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7015" y="225856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3.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7015" y="2788920"/>
            <a:ext cx="253128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Blockchain settlement
may miss the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0911" y="2148840"/>
            <a:ext cx="2750743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0639" y="225856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4.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0639" y="2788920"/>
            <a:ext cx="253128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Exchanges may suspend
withdrawals overnight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297680"/>
            <a:ext cx="11551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0633"/>
                </a:solidFill>
                <a:latin typeface="Arial"/>
              </a:rPr>
              <a:t>Bellman-Ford, 1-hop, and 2-hop baselines fail entirely. We need execution-aware pathfinding.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The Dataset: A Novel Execution-Aware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82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CCCC"/>
                </a:solidFill>
                <a:latin typeface="Arial"/>
              </a:rPr>
              <a:t>Slide 4</a:t>
            </a:r>
          </a:p>
        </p:txBody>
      </p:sp>
      <p:pic>
        <p:nvPicPr>
          <p:cNvPr id="5" name="Picture 4" descr="logo_cd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6" name="Picture 5" descr="Full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0"/>
            <a:ext cx="6400800" cy="51246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95160" y="914400"/>
            <a:ext cx="4876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C0633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98755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Arial"/>
              </a:rPr>
              <a:t>centralized exchanges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874520"/>
            <a:ext cx="4876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C0633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4767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Arial"/>
              </a:rPr>
              <a:t>stablecoin symbols
(USDT, USDC, DAI…)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834640"/>
            <a:ext cx="4876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C0633"/>
                </a:solidFill>
                <a:latin typeface="Arial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0779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Arial"/>
              </a:rPr>
              <a:t>nodes (exchange, coin pairs)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794760"/>
            <a:ext cx="4876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C0633"/>
                </a:solidFill>
                <a:latin typeface="Arial"/>
              </a:rPr>
              <a:t>864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86791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Arial"/>
              </a:rPr>
              <a:t>edges with live cost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846320"/>
            <a:ext cx="11551615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983480"/>
            <a:ext cx="4876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633"/>
                </a:solidFill>
                <a:latin typeface="Arial"/>
              </a:rPr>
              <a:t>★ First execution-aware graph dataset built
   for stablecoin arbitrage research.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Method: A* — Google Maps for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82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CCCC"/>
                </a:solidFill>
                <a:latin typeface="Arial"/>
              </a:rPr>
              <a:t>Slide 5</a:t>
            </a:r>
          </a:p>
        </p:txBody>
      </p:sp>
      <p:pic>
        <p:nvPicPr>
          <p:cNvPr id="5" name="Picture 4" descr="logo_cd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8580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Arial"/>
              </a:rPr>
              <a:t>f(n) = g(n) + h(n)   ·   g(n): cost so far   ·   h(n): execution risk estimate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11551615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5_a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53312"/>
            <a:ext cx="11551615" cy="73450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Three Novel Guidance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82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CCCC"/>
                </a:solidFill>
                <a:latin typeface="Arial"/>
              </a:rPr>
              <a:t>Slide 6</a:t>
            </a:r>
          </a:p>
        </p:txBody>
      </p:sp>
      <p:pic>
        <p:nvPicPr>
          <p:cNvPr id="5" name="Picture 4" descr="logo_cd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85800"/>
            <a:ext cx="11551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A1A2E"/>
                </a:solidFill>
                <a:latin typeface="Arial"/>
              </a:rPr>
              <a:t>Each heuristic adds a domain-specific penalty to h(n), steering A* toward paths that are not just profitable — but executable under live market conditions.</a:t>
            </a:r>
          </a:p>
        </p:txBody>
      </p:sp>
      <p:pic>
        <p:nvPicPr>
          <p:cNvPr id="7" name="Picture 6" descr="slide6_heur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11551615" cy="42507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21208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CC0633"/>
                </a:solidFill>
                <a:latin typeface="Arial"/>
              </a:rPr>
              <a:t>One of these three will prove decisive.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Key Result: 29% Fewer Node Expansions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82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CCCC"/>
                </a:solidFill>
                <a:latin typeface="Arial"/>
              </a:rPr>
              <a:t>Slide 7</a:t>
            </a:r>
          </a:p>
        </p:txBody>
      </p:sp>
      <p:pic>
        <p:nvPicPr>
          <p:cNvPr id="5" name="Picture 4" descr="logo_cd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6" name="Picture 5" descr="fig01_node_expans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0"/>
            <a:ext cx="6583680" cy="4719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731520"/>
            <a:ext cx="4647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0633"/>
                </a:solidFill>
                <a:latin typeface="Arial"/>
              </a:rPr>
              <a:t>Same profit. 29% less work.</a:t>
            </a:r>
          </a:p>
        </p:txBody>
      </p:sp>
      <p:pic>
        <p:nvPicPr>
          <p:cNvPr id="8" name="Picture 7" descr="CameraReadySuccesfulPath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17320"/>
            <a:ext cx="4647895" cy="27439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3291840"/>
            <a:ext cx="4647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Arial"/>
              </a:rPr>
              <a:t>  •  h₂ matches Dijkstra profit within 1%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Arial"/>
              </a:rPr>
              <a:t>  •  7,200 overnight searches · 100% found a path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Arial"/>
              </a:rPr>
              <a:t>  •  99.6% still profitable after 120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Why It Matters: Markets Under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82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CCCC"/>
                </a:solidFill>
                <a:latin typeface="Arial"/>
              </a:rPr>
              <a:t>Slide 8</a:t>
            </a:r>
          </a:p>
        </p:txBody>
      </p:sp>
      <p:pic>
        <p:nvPicPr>
          <p:cNvPr id="5" name="Picture 4" descr="logo_cd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6" name="Picture 5" descr="slide8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6583680" cy="3239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914400"/>
            <a:ext cx="4647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Arial"/>
              </a:rPr>
              <a:t>Price discrepancies spike during: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371600"/>
            <a:ext cx="4647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1A1A2E"/>
                </a:solidFill>
                <a:latin typeface="Arial"/>
              </a:rPr>
              <a:t>  •  Exchange freezes &amp; withdrawal halts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2E"/>
                </a:solidFill>
                <a:latin typeface="Arial"/>
              </a:rPr>
              <a:t>  •  Geopolitical shocks &amp; government bans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2E"/>
                </a:solidFill>
                <a:latin typeface="Arial"/>
              </a:rPr>
              <a:t>  •  Regulatory announcements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2E"/>
                </a:solidFill>
                <a:latin typeface="Arial"/>
              </a:rPr>
              <a:t>  •  Sudden liquidity crises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154680"/>
            <a:ext cx="11551615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337560"/>
            <a:ext cx="4647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  <a:latin typeface="Arial"/>
              </a:rPr>
              <a:t>A 29% more efficient router is not just a
trading tool — it is a lens for understanding
how fragmented markets behave under stress.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754880"/>
            <a:ext cx="11551615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937760"/>
            <a:ext cx="4647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633"/>
                </a:solidFill>
                <a:latin typeface="Arial"/>
              </a:rPr>
              <a:t>Next: DEX / AMM markets (Uniswap, Curve)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Less Exploration.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7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CC0633"/>
                </a:solidFill>
                <a:latin typeface="Arial"/>
              </a:rPr>
              <a:t>More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4903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Same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CCCC"/>
                </a:solidFill>
                <a:latin typeface="Arial"/>
              </a:rPr>
              <a:t>Thank you.  | 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Arial"/>
              </a:rPr>
              <a:t>github.com/kevinl03/Stablecoin-CrossExchange-Arbitrage</a:t>
            </a:r>
          </a:p>
        </p:txBody>
      </p:sp>
      <p:pic>
        <p:nvPicPr>
          <p:cNvPr id="10" name="Picture 9" descr="logo_cd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