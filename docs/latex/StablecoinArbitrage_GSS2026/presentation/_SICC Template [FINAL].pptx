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147474409" r:id="rId2"/>
    <p:sldId id="1173" r:id="rId3"/>
    <p:sldId id="2147474410" r:id="rId4"/>
    <p:sldId id="2147474411" r:id="rId5"/>
    <p:sldId id="2147474412" r:id="rId6"/>
    <p:sldId id="2147474413" r:id="rId7"/>
    <p:sldId id="2147474414" r:id="rId8"/>
    <p:sldId id="2147474415" r:id="rId9"/>
    <p:sldId id="2147474408" r:id="rId10"/>
    <p:sldId id="2163" r:id="rId11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14"/>
      <p:bold r:id="rId15"/>
      <p:italic r:id="rId16"/>
      <p:boldItalic r:id="rId17"/>
    </p:embeddedFont>
    <p:embeddedFont>
      <p:font typeface="Source Sans Pro" panose="020B0503030403020204" pitchFamily="3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171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93982A-BDB4-2D75-815A-0CB464DC8290}" name="Julie Cheung" initials="JC" userId="S::jkc51@sfu.ca::00179833-4ea3-4491-9923-8204d5ba26f0" providerId="AD"/>
  <p188:author id="{4EF30A66-54C3-FD67-9857-BADCEEE5C069}" name="Tania Pocrnjic" initials="TP" userId="S::tpa42@sfu.ca::5422c9a3-6dda-4acf-a6cc-fd109d6c7d0f" providerId="AD"/>
  <p188:author id="{D6CD3DB7-84E0-E3F1-27EA-824A4068A0A8}" name="Troy Cheah" initials="TC" userId="S::tac15@sfu.ca::86f205b4-e009-497c-9b2a-ec9138b530b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rah Li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D0F4"/>
    <a:srgbClr val="FFFFFF"/>
    <a:srgbClr val="083F06"/>
    <a:srgbClr val="007000"/>
    <a:srgbClr val="E0E7FA"/>
    <a:srgbClr val="00B050"/>
    <a:srgbClr val="949696"/>
    <a:srgbClr val="262626"/>
    <a:srgbClr val="01189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F2C93-E358-614D-95BF-BE122B4024FC}" v="1" dt="2026-05-09T23:52:20.877"/>
  </p1510:revLst>
</p1510:revInfo>
</file>

<file path=ppt/tableStyles.xml><?xml version="1.0" encoding="utf-8"?>
<a:tblStyleLst xmlns:a="http://schemas.openxmlformats.org/drawingml/2006/main" def="{74F5B21E-941D-4FBC-96CA-9FAA6463E71C}">
  <a:tblStyle styleId="{74F5B21E-941D-4FBC-96CA-9FAA6463E7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DA2B479-9C7D-4422-B690-3F61F33086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BBCB156-5FF9-42EB-989F-405218685BC4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824"/>
    <p:restoredTop sz="94669"/>
  </p:normalViewPr>
  <p:slideViewPr>
    <p:cSldViewPr snapToGrid="0">
      <p:cViewPr varScale="1">
        <p:scale>
          <a:sx n="35" d="100"/>
          <a:sy n="35" d="100"/>
        </p:scale>
        <p:origin x="184" y="1784"/>
      </p:cViewPr>
      <p:guideLst>
        <p:guide orient="horz" pos="1620"/>
        <p:guide pos="2880"/>
        <p:guide pos="1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37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8431BD-DF1E-1170-EE4D-6F5BF40B25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A19FA4-5E55-03F8-3BBC-2B5755DD1A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48090-5CF9-2640-8A5C-55664339CEAA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EBB08-DB83-10AF-4DE1-360D556AF5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385C6-D710-264A-3717-8751BCA421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77923-C1D7-174D-BBEB-AF803A7EA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04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13971-08A9-19F6-4DF8-108EC4E9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49804-06DD-1296-83C9-E0D05AF65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3248C-726D-4E5A-F0AA-5D8EB3E9E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99636-2272-7C07-5B4C-32778B66E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03FC1-87CA-3640-80FA-1C9C7DA0D8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1">
          <a:extLst>
            <a:ext uri="{FF2B5EF4-FFF2-40B4-BE49-F238E27FC236}">
              <a16:creationId xmlns:a16="http://schemas.microsoft.com/office/drawing/2014/main" id="{A1A20ED2-CBB2-E684-5FFC-39745523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3497ba829ba_0_558:notes">
            <a:extLst>
              <a:ext uri="{FF2B5EF4-FFF2-40B4-BE49-F238E27FC236}">
                <a16:creationId xmlns:a16="http://schemas.microsoft.com/office/drawing/2014/main" id="{B3D7E3EF-B748-9180-8A6D-C4B0EDB81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3497ba829ba_0_558:notes">
            <a:extLst>
              <a:ext uri="{FF2B5EF4-FFF2-40B4-BE49-F238E27FC236}">
                <a16:creationId xmlns:a16="http://schemas.microsoft.com/office/drawing/2014/main" id="{7930CDA5-91C8-9005-DC10-B6434CCC1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2984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8">
          <a:extLst>
            <a:ext uri="{FF2B5EF4-FFF2-40B4-BE49-F238E27FC236}">
              <a16:creationId xmlns:a16="http://schemas.microsoft.com/office/drawing/2014/main" id="{E5F135FC-B73D-BF8C-1392-4A0D1DFE1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497ba829ba_0_237:notes">
            <a:extLst>
              <a:ext uri="{FF2B5EF4-FFF2-40B4-BE49-F238E27FC236}">
                <a16:creationId xmlns:a16="http://schemas.microsoft.com/office/drawing/2014/main" id="{227DDE85-6C83-64A5-FF34-275A09EE9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3497ba829ba_0_237:notes">
            <a:extLst>
              <a:ext uri="{FF2B5EF4-FFF2-40B4-BE49-F238E27FC236}">
                <a16:creationId xmlns:a16="http://schemas.microsoft.com/office/drawing/2014/main" id="{33308011-1D8A-9420-15A0-300094182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4382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0DB7F6FD-2F7C-01A8-955B-9B2A524E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3497ba829ba_0_210:notes">
            <a:extLst>
              <a:ext uri="{FF2B5EF4-FFF2-40B4-BE49-F238E27FC236}">
                <a16:creationId xmlns:a16="http://schemas.microsoft.com/office/drawing/2014/main" id="{7C878AC5-0256-09DB-1733-986CC1C423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3497ba829ba_0_210:notes">
            <a:extLst>
              <a:ext uri="{FF2B5EF4-FFF2-40B4-BE49-F238E27FC236}">
                <a16:creationId xmlns:a16="http://schemas.microsoft.com/office/drawing/2014/main" id="{C5FB2EF2-66DC-68DC-966D-3E4B62487B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15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04BB83E4-1A46-8CC2-393D-A22A852C3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3497ba829ba_0_210:notes">
            <a:extLst>
              <a:ext uri="{FF2B5EF4-FFF2-40B4-BE49-F238E27FC236}">
                <a16:creationId xmlns:a16="http://schemas.microsoft.com/office/drawing/2014/main" id="{CBF1E41B-20CC-613D-544D-9E00F6C924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3497ba829ba_0_210:notes">
            <a:extLst>
              <a:ext uri="{FF2B5EF4-FFF2-40B4-BE49-F238E27FC236}">
                <a16:creationId xmlns:a16="http://schemas.microsoft.com/office/drawing/2014/main" id="{5A1708B1-A954-04A8-AFA1-999259F45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434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Analysi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03EF3B2-85CB-9E71-4A70-49FBE8ED404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2023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EF3B2-85CB-9E71-4A70-49FBE8ED40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3991" y="152911"/>
            <a:ext cx="8980800" cy="424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graphicFrame>
        <p:nvGraphicFramePr>
          <p:cNvPr id="3" name="Google Shape;20;p4">
            <a:extLst>
              <a:ext uri="{FF2B5EF4-FFF2-40B4-BE49-F238E27FC236}">
                <a16:creationId xmlns:a16="http://schemas.microsoft.com/office/drawing/2014/main" id="{534EA241-A0A5-3AED-65FE-36FEBF6FAAA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459309705"/>
              </p:ext>
            </p:extLst>
          </p:nvPr>
        </p:nvGraphicFramePr>
        <p:xfrm>
          <a:off x="1733723" y="4852006"/>
          <a:ext cx="5565844" cy="243900"/>
        </p:xfrm>
        <a:graphic>
          <a:graphicData uri="http://schemas.openxmlformats.org/drawingml/2006/table">
            <a:tbl>
              <a:tblPr firstRow="1" bandRow="1">
                <a:noFill/>
                <a:tableStyleId>{74F5B21E-941D-4FBC-96CA-9FAA6463E71C}</a:tableStyleId>
              </a:tblPr>
              <a:tblGrid>
                <a:gridCol w="1391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CA" sz="800" b="1" dirty="0">
                          <a:solidFill>
                            <a:schemeClr val="accent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Analysis</a:t>
                      </a:r>
                      <a:endParaRPr sz="800" b="1" dirty="0">
                        <a:solidFill>
                          <a:schemeClr val="accent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 dirty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Strategy</a:t>
                      </a:r>
                      <a:endParaRPr sz="800" b="0" dirty="0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 dirty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Implementation</a:t>
                      </a:r>
                      <a:endParaRPr sz="800" b="0" i="0" u="none" strike="noStrike" cap="none" dirty="0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 dirty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Impact</a:t>
                      </a:r>
                      <a:endParaRPr sz="800" b="0" u="none" strike="noStrike" cap="none" dirty="0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B086A1-8409-40F4-4CCF-9432E5F8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91" y="4905027"/>
            <a:ext cx="1966341" cy="137858"/>
          </a:xfrm>
        </p:spPr>
        <p:txBody>
          <a:bodyPr lIns="0" tIns="0" rIns="0" bIns="0">
            <a:noAutofit/>
          </a:bodyPr>
          <a:lstStyle>
            <a:lvl1pPr>
              <a:buNone/>
              <a:defRPr sz="600" b="0">
                <a:solidFill>
                  <a:schemeClr val="tx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968261-C5FF-7DBC-89B4-DC2D724A218F}"/>
              </a:ext>
            </a:extLst>
          </p:cNvPr>
          <p:cNvCxnSpPr>
            <a:cxnSpLocks/>
          </p:cNvCxnSpPr>
          <p:nvPr userDrawn="1"/>
        </p:nvCxnSpPr>
        <p:spPr>
          <a:xfrm>
            <a:off x="2071593" y="4819421"/>
            <a:ext cx="726313" cy="0"/>
          </a:xfrm>
          <a:prstGeom prst="line">
            <a:avLst/>
          </a:prstGeom>
          <a:ln w="317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29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6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Strateg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03EF3B2-85CB-9E71-4A70-49FBE8ED404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3544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EF3B2-85CB-9E71-4A70-49FBE8ED40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Google Shape;20;p4">
            <a:extLst>
              <a:ext uri="{FF2B5EF4-FFF2-40B4-BE49-F238E27FC236}">
                <a16:creationId xmlns:a16="http://schemas.microsoft.com/office/drawing/2014/main" id="{534EA241-A0A5-3AED-65FE-36FEBF6FAAA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251046627"/>
              </p:ext>
            </p:extLst>
          </p:nvPr>
        </p:nvGraphicFramePr>
        <p:xfrm>
          <a:off x="1733723" y="4852006"/>
          <a:ext cx="5565844" cy="243900"/>
        </p:xfrm>
        <a:graphic>
          <a:graphicData uri="http://schemas.openxmlformats.org/drawingml/2006/table">
            <a:tbl>
              <a:tblPr firstRow="1" bandRow="1">
                <a:noFill/>
                <a:tableStyleId>{74F5B21E-941D-4FBC-96CA-9FAA6463E71C}</a:tableStyleId>
              </a:tblPr>
              <a:tblGrid>
                <a:gridCol w="1391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Analysis</a:t>
                      </a:r>
                      <a:endParaRPr sz="800" b="0">
                        <a:solidFill>
                          <a:srgbClr val="595959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1">
                          <a:solidFill>
                            <a:schemeClr val="accent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Strategy</a:t>
                      </a:r>
                      <a:endParaRPr sz="800" b="1">
                        <a:solidFill>
                          <a:schemeClr val="accent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Implementation</a:t>
                      </a:r>
                      <a:endParaRPr sz="800" b="0" i="0" u="none" strike="noStrike" cap="none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Impact</a:t>
                      </a:r>
                      <a:endParaRPr sz="800" b="0" u="none" strike="noStrike" cap="none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21B9233-A1E2-1E67-C18A-C0B7EF54DA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91" y="4905027"/>
            <a:ext cx="1966341" cy="137858"/>
          </a:xfrm>
        </p:spPr>
        <p:txBody>
          <a:bodyPr lIns="0" tIns="0" rIns="0" bIns="0">
            <a:noAutofit/>
          </a:bodyPr>
          <a:lstStyle>
            <a:lvl1pPr>
              <a:buNone/>
              <a:defRPr sz="600" b="0">
                <a:solidFill>
                  <a:schemeClr val="tx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F7F9B6-BD87-5145-6747-0B061B36B5A5}"/>
              </a:ext>
            </a:extLst>
          </p:cNvPr>
          <p:cNvCxnSpPr>
            <a:cxnSpLocks/>
          </p:cNvCxnSpPr>
          <p:nvPr userDrawn="1"/>
        </p:nvCxnSpPr>
        <p:spPr>
          <a:xfrm>
            <a:off x="3408012" y="4819421"/>
            <a:ext cx="827439" cy="0"/>
          </a:xfrm>
          <a:prstGeom prst="line">
            <a:avLst/>
          </a:prstGeom>
          <a:ln w="317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;p3">
            <a:extLst>
              <a:ext uri="{FF2B5EF4-FFF2-40B4-BE49-F238E27FC236}">
                <a16:creationId xmlns:a16="http://schemas.microsoft.com/office/drawing/2014/main" id="{7FBE5C96-5D0C-B056-5A2C-1192720BC6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991" y="152911"/>
            <a:ext cx="8980800" cy="424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501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Implementation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03EF3B2-85CB-9E71-4A70-49FBE8ED404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3544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EF3B2-85CB-9E71-4A70-49FBE8ED40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Google Shape;20;p4">
            <a:extLst>
              <a:ext uri="{FF2B5EF4-FFF2-40B4-BE49-F238E27FC236}">
                <a16:creationId xmlns:a16="http://schemas.microsoft.com/office/drawing/2014/main" id="{534EA241-A0A5-3AED-65FE-36FEBF6FAAA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71757605"/>
              </p:ext>
            </p:extLst>
          </p:nvPr>
        </p:nvGraphicFramePr>
        <p:xfrm>
          <a:off x="1733723" y="4852006"/>
          <a:ext cx="5565844" cy="243900"/>
        </p:xfrm>
        <a:graphic>
          <a:graphicData uri="http://schemas.openxmlformats.org/drawingml/2006/table">
            <a:tbl>
              <a:tblPr firstRow="1" bandRow="1">
                <a:noFill/>
                <a:tableStyleId>{74F5B21E-941D-4FBC-96CA-9FAA6463E71C}</a:tableStyleId>
              </a:tblPr>
              <a:tblGrid>
                <a:gridCol w="1391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Analysis</a:t>
                      </a:r>
                      <a:endParaRPr sz="800" b="0">
                        <a:solidFill>
                          <a:srgbClr val="595959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Strategy</a:t>
                      </a:r>
                      <a:endParaRPr sz="800" b="0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1">
                          <a:solidFill>
                            <a:schemeClr val="accent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Implementation</a:t>
                      </a:r>
                      <a:endParaRPr sz="800" b="1" i="0" u="none" strike="noStrike" cap="none">
                        <a:solidFill>
                          <a:schemeClr val="accent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Impact</a:t>
                      </a:r>
                      <a:endParaRPr sz="800" b="0" u="none" strike="noStrike" cap="none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C7DD257-65D3-9990-B7B4-8154E1C425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91" y="4905027"/>
            <a:ext cx="1966341" cy="137858"/>
          </a:xfrm>
        </p:spPr>
        <p:txBody>
          <a:bodyPr lIns="0" tIns="0" rIns="0" bIns="0">
            <a:noAutofit/>
          </a:bodyPr>
          <a:lstStyle>
            <a:lvl1pPr>
              <a:buNone/>
              <a:defRPr sz="600" b="0">
                <a:solidFill>
                  <a:schemeClr val="tx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382207-F206-09AA-81E0-C32D1390C096}"/>
              </a:ext>
            </a:extLst>
          </p:cNvPr>
          <p:cNvCxnSpPr>
            <a:cxnSpLocks/>
          </p:cNvCxnSpPr>
          <p:nvPr userDrawn="1"/>
        </p:nvCxnSpPr>
        <p:spPr>
          <a:xfrm>
            <a:off x="4791329" y="4819421"/>
            <a:ext cx="827439" cy="0"/>
          </a:xfrm>
          <a:prstGeom prst="line">
            <a:avLst/>
          </a:prstGeom>
          <a:ln w="317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16;p3">
            <a:extLst>
              <a:ext uri="{FF2B5EF4-FFF2-40B4-BE49-F238E27FC236}">
                <a16:creationId xmlns:a16="http://schemas.microsoft.com/office/drawing/2014/main" id="{86618A02-338D-07B6-D8AA-2EB5C78FF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991" y="152911"/>
            <a:ext cx="8980800" cy="424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576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Impa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03EF3B2-85CB-9E71-4A70-49FBE8ED404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3544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EF3B2-85CB-9E71-4A70-49FBE8ED40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Google Shape;20;p4">
            <a:extLst>
              <a:ext uri="{FF2B5EF4-FFF2-40B4-BE49-F238E27FC236}">
                <a16:creationId xmlns:a16="http://schemas.microsoft.com/office/drawing/2014/main" id="{534EA241-A0A5-3AED-65FE-36FEBF6FAAA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6560444"/>
              </p:ext>
            </p:extLst>
          </p:nvPr>
        </p:nvGraphicFramePr>
        <p:xfrm>
          <a:off x="1733723" y="4852006"/>
          <a:ext cx="5565844" cy="243900"/>
        </p:xfrm>
        <a:graphic>
          <a:graphicData uri="http://schemas.openxmlformats.org/drawingml/2006/table">
            <a:tbl>
              <a:tblPr firstRow="1" bandRow="1">
                <a:noFill/>
                <a:tableStyleId>{74F5B21E-941D-4FBC-96CA-9FAA6463E71C}</a:tableStyleId>
              </a:tblPr>
              <a:tblGrid>
                <a:gridCol w="1391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Analysis</a:t>
                      </a:r>
                      <a:endParaRPr sz="800" b="0">
                        <a:solidFill>
                          <a:srgbClr val="595959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Strategy</a:t>
                      </a:r>
                      <a:endParaRPr sz="800" b="0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0">
                          <a:solidFill>
                            <a:srgbClr val="7F7F7F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Implementation</a:t>
                      </a:r>
                      <a:endParaRPr sz="800" b="0" i="0" u="none" strike="noStrike" cap="none">
                        <a:solidFill>
                          <a:srgbClr val="7F7F7F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1">
                          <a:solidFill>
                            <a:schemeClr val="accent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Impact</a:t>
                      </a:r>
                      <a:endParaRPr sz="800" b="1" u="none" strike="noStrike" cap="none">
                        <a:solidFill>
                          <a:schemeClr val="accent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5B9C23A-5FEB-4CDA-BD4C-691AE86546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991" y="4905027"/>
            <a:ext cx="1966341" cy="137858"/>
          </a:xfrm>
        </p:spPr>
        <p:txBody>
          <a:bodyPr lIns="0" tIns="0" rIns="0" bIns="0">
            <a:noAutofit/>
          </a:bodyPr>
          <a:lstStyle>
            <a:lvl1pPr>
              <a:buNone/>
              <a:defRPr sz="600" b="0">
                <a:solidFill>
                  <a:schemeClr val="tx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8670A0-9A60-5991-2616-B463EB19A95E}"/>
              </a:ext>
            </a:extLst>
          </p:cNvPr>
          <p:cNvCxnSpPr>
            <a:cxnSpLocks/>
          </p:cNvCxnSpPr>
          <p:nvPr userDrawn="1"/>
        </p:nvCxnSpPr>
        <p:spPr>
          <a:xfrm>
            <a:off x="6213730" y="4819421"/>
            <a:ext cx="827439" cy="0"/>
          </a:xfrm>
          <a:prstGeom prst="line">
            <a:avLst/>
          </a:prstGeom>
          <a:ln w="317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;p3">
            <a:extLst>
              <a:ext uri="{FF2B5EF4-FFF2-40B4-BE49-F238E27FC236}">
                <a16:creationId xmlns:a16="http://schemas.microsoft.com/office/drawing/2014/main" id="{F64BA803-B11A-AD14-B44E-DB507A7C6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991" y="152911"/>
            <a:ext cx="8980800" cy="424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11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Appendix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03EF3B2-85CB-9E71-4A70-49FBE8ED404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3544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EF3B2-85CB-9E71-4A70-49FBE8ED40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Google Shape;20;p4">
            <a:extLst>
              <a:ext uri="{FF2B5EF4-FFF2-40B4-BE49-F238E27FC236}">
                <a16:creationId xmlns:a16="http://schemas.microsoft.com/office/drawing/2014/main" id="{534EA241-A0A5-3AED-65FE-36FEBF6FAAA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008728110"/>
              </p:ext>
            </p:extLst>
          </p:nvPr>
        </p:nvGraphicFramePr>
        <p:xfrm>
          <a:off x="3691716" y="4852006"/>
          <a:ext cx="1391461" cy="243900"/>
        </p:xfrm>
        <a:graphic>
          <a:graphicData uri="http://schemas.openxmlformats.org/drawingml/2006/table">
            <a:tbl>
              <a:tblPr firstRow="1" bandRow="1">
                <a:noFill/>
                <a:tableStyleId>{74F5B21E-941D-4FBC-96CA-9FAA6463E71C}</a:tableStyleId>
              </a:tblPr>
              <a:tblGrid>
                <a:gridCol w="1391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1">
                          <a:solidFill>
                            <a:schemeClr val="accent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Source Sans Pro"/>
                        </a:rPr>
                        <a:t>Appendix</a:t>
                      </a:r>
                      <a:endParaRPr sz="800" b="1" u="none" strike="noStrike" cap="none">
                        <a:solidFill>
                          <a:schemeClr val="accent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Source Sans Pro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5B9C23A-5FEB-4CDA-BD4C-691AE86546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991" y="4905027"/>
            <a:ext cx="1966341" cy="137858"/>
          </a:xfrm>
        </p:spPr>
        <p:txBody>
          <a:bodyPr lIns="0" tIns="0" rIns="0" bIns="0">
            <a:noAutofit/>
          </a:bodyPr>
          <a:lstStyle>
            <a:lvl1pPr>
              <a:buNone/>
              <a:defRPr sz="600" b="0">
                <a:solidFill>
                  <a:schemeClr val="tx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8670A0-9A60-5991-2616-B463EB19A95E}"/>
              </a:ext>
            </a:extLst>
          </p:cNvPr>
          <p:cNvCxnSpPr>
            <a:cxnSpLocks/>
          </p:cNvCxnSpPr>
          <p:nvPr userDrawn="1"/>
        </p:nvCxnSpPr>
        <p:spPr>
          <a:xfrm>
            <a:off x="3973727" y="4819421"/>
            <a:ext cx="827439" cy="0"/>
          </a:xfrm>
          <a:prstGeom prst="line">
            <a:avLst/>
          </a:prstGeom>
          <a:ln w="317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;p3">
            <a:extLst>
              <a:ext uri="{FF2B5EF4-FFF2-40B4-BE49-F238E27FC236}">
                <a16:creationId xmlns:a16="http://schemas.microsoft.com/office/drawing/2014/main" id="{58B815EC-8A4F-7145-8499-BCE3732AE9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991" y="152911"/>
            <a:ext cx="8980800" cy="424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962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03EF3B2-85CB-9E71-4A70-49FBE8ED404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3544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EF3B2-85CB-9E71-4A70-49FBE8ED40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5B9C23A-5FEB-4CDA-BD4C-691AE86546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991" y="4905027"/>
            <a:ext cx="1966341" cy="137858"/>
          </a:xfrm>
        </p:spPr>
        <p:txBody>
          <a:bodyPr lIns="0" tIns="0" rIns="0" bIns="0">
            <a:noAutofit/>
          </a:bodyPr>
          <a:lstStyle>
            <a:lvl1pPr>
              <a:buNone/>
              <a:defRPr sz="600" b="0">
                <a:solidFill>
                  <a:schemeClr val="tx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None/>
              <a:defRPr sz="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4" name="Google Shape;16;p3">
            <a:extLst>
              <a:ext uri="{FF2B5EF4-FFF2-40B4-BE49-F238E27FC236}">
                <a16:creationId xmlns:a16="http://schemas.microsoft.com/office/drawing/2014/main" id="{58B815EC-8A4F-7145-8499-BCE3732AE9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991" y="152911"/>
            <a:ext cx="8980800" cy="424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268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03EF3B2-85CB-9E71-4A70-49FBE8ED404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3544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EF3B2-85CB-9E71-4A70-49FBE8ED40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6FD7AA1-606E-91D7-0BE1-BC2FEE670E5A}"/>
              </a:ext>
            </a:extLst>
          </p:cNvPr>
          <p:cNvSpPr/>
          <p:nvPr userDrawn="1"/>
        </p:nvSpPr>
        <p:spPr>
          <a:xfrm>
            <a:off x="0" y="0"/>
            <a:ext cx="873760" cy="721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4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CEBC14C-624D-D6D7-BDEE-46F84B73B5A6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5796023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EBC14C-624D-D6D7-BDEE-46F84B73B5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hlinkClick r:id="" action="ppaction://noaction"/>
            <a:extLst>
              <a:ext uri="{FF2B5EF4-FFF2-40B4-BE49-F238E27FC236}">
                <a16:creationId xmlns:a16="http://schemas.microsoft.com/office/drawing/2014/main" id="{1120A467-D5FD-FB26-D9AC-9CB7B5F46A9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010144" y="4313710"/>
            <a:ext cx="1133856" cy="813529"/>
          </a:xfrm>
          <a:prstGeom prst="rect">
            <a:avLst/>
          </a:prstGeom>
        </p:spPr>
      </p:pic>
      <p:pic>
        <p:nvPicPr>
          <p:cNvPr id="4" name="Picture 3" descr="A logo for lumen advisory&#10;&#10;AI-generated content may be incorrect.">
            <a:hlinkClick r:id="" action="ppaction://noaction"/>
            <a:extLst>
              <a:ext uri="{FF2B5EF4-FFF2-40B4-BE49-F238E27FC236}">
                <a16:creationId xmlns:a16="http://schemas.microsoft.com/office/drawing/2014/main" id="{0158062F-A953-5075-D5DE-1457F506CE8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60601" y="4771639"/>
            <a:ext cx="564780" cy="355601"/>
          </a:xfrm>
          <a:prstGeom prst="rect">
            <a:avLst/>
          </a:prstGeom>
        </p:spPr>
      </p:pic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2800" y="7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None/>
              <a:defRPr sz="20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ource Sans Pro"/>
              <a:buNone/>
              <a:defRPr sz="22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ource Sans Pro"/>
              <a:buNone/>
              <a:defRPr sz="22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ource Sans Pro"/>
              <a:buNone/>
              <a:defRPr sz="22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ource Sans Pro"/>
              <a:buNone/>
              <a:defRPr sz="22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ource Sans Pro"/>
              <a:buNone/>
              <a:defRPr sz="22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ource Sans Pro"/>
              <a:buNone/>
              <a:defRPr sz="22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ource Sans Pro"/>
              <a:buNone/>
              <a:defRPr sz="22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ource Sans Pro"/>
              <a:buNone/>
              <a:defRPr sz="22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‹#›</a:t>
            </a:fld>
            <a:endParaRPr sz="100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cxnSp>
        <p:nvCxnSpPr>
          <p:cNvPr id="9" name="Google Shape;9;p1"/>
          <p:cNvCxnSpPr/>
          <p:nvPr/>
        </p:nvCxnSpPr>
        <p:spPr>
          <a:xfrm>
            <a:off x="8734525" y="4859425"/>
            <a:ext cx="0" cy="1656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10;p1"/>
          <p:cNvSpPr/>
          <p:nvPr/>
        </p:nvSpPr>
        <p:spPr>
          <a:xfrm>
            <a:off x="-28300" y="5107327"/>
            <a:ext cx="9202800" cy="6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17425" y="125250"/>
            <a:ext cx="100200" cy="4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Picture 4" descr="logo-canai-2026.png">
            <a:extLst>
              <a:ext uri="{FF2B5EF4-FFF2-40B4-BE49-F238E27FC236}">
                <a16:creationId xmlns:a16="http://schemas.microsoft.com/office/drawing/2014/main" id="{448E0746-DCE0-016F-0FDB-E62A079AFF4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095240" y="163289"/>
            <a:ext cx="1965960" cy="34561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60" r:id="rId5"/>
    <p:sldLayoutId id="2147483661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.svg"/><Relationship Id="rId21" Type="http://schemas.openxmlformats.org/officeDocument/2006/relationships/image" Target="../media/image23.png"/><Relationship Id="rId42" Type="http://schemas.openxmlformats.org/officeDocument/2006/relationships/image" Target="../media/image44.svg"/><Relationship Id="rId47" Type="http://schemas.openxmlformats.org/officeDocument/2006/relationships/image" Target="../media/image49.png"/><Relationship Id="rId63" Type="http://schemas.openxmlformats.org/officeDocument/2006/relationships/image" Target="../media/image65.png"/><Relationship Id="rId68" Type="http://schemas.openxmlformats.org/officeDocument/2006/relationships/image" Target="../media/image70.svg"/><Relationship Id="rId84" Type="http://schemas.openxmlformats.org/officeDocument/2006/relationships/image" Target="../media/image86.svg"/><Relationship Id="rId89" Type="http://schemas.openxmlformats.org/officeDocument/2006/relationships/image" Target="../media/image91.png"/><Relationship Id="rId112" Type="http://schemas.openxmlformats.org/officeDocument/2006/relationships/image" Target="../media/image114.svg"/><Relationship Id="rId16" Type="http://schemas.openxmlformats.org/officeDocument/2006/relationships/image" Target="../media/image18.svg"/><Relationship Id="rId107" Type="http://schemas.openxmlformats.org/officeDocument/2006/relationships/image" Target="../media/image109.png"/><Relationship Id="rId11" Type="http://schemas.openxmlformats.org/officeDocument/2006/relationships/image" Target="../media/image13.png"/><Relationship Id="rId32" Type="http://schemas.openxmlformats.org/officeDocument/2006/relationships/image" Target="../media/image34.svg"/><Relationship Id="rId37" Type="http://schemas.openxmlformats.org/officeDocument/2006/relationships/image" Target="../media/image39.png"/><Relationship Id="rId53" Type="http://schemas.openxmlformats.org/officeDocument/2006/relationships/image" Target="../media/image55.png"/><Relationship Id="rId58" Type="http://schemas.openxmlformats.org/officeDocument/2006/relationships/image" Target="../media/image60.svg"/><Relationship Id="rId74" Type="http://schemas.openxmlformats.org/officeDocument/2006/relationships/image" Target="../media/image76.svg"/><Relationship Id="rId79" Type="http://schemas.openxmlformats.org/officeDocument/2006/relationships/image" Target="../media/image81.png"/><Relationship Id="rId102" Type="http://schemas.openxmlformats.org/officeDocument/2006/relationships/image" Target="../media/image104.svg"/><Relationship Id="rId5" Type="http://schemas.openxmlformats.org/officeDocument/2006/relationships/image" Target="../media/image7.png"/><Relationship Id="rId90" Type="http://schemas.openxmlformats.org/officeDocument/2006/relationships/image" Target="../media/image92.svg"/><Relationship Id="rId95" Type="http://schemas.openxmlformats.org/officeDocument/2006/relationships/image" Target="../media/image97.png"/><Relationship Id="rId22" Type="http://schemas.openxmlformats.org/officeDocument/2006/relationships/image" Target="../media/image24.svg"/><Relationship Id="rId27" Type="http://schemas.openxmlformats.org/officeDocument/2006/relationships/image" Target="../media/image29.png"/><Relationship Id="rId43" Type="http://schemas.openxmlformats.org/officeDocument/2006/relationships/image" Target="../media/image45.png"/><Relationship Id="rId48" Type="http://schemas.openxmlformats.org/officeDocument/2006/relationships/image" Target="../media/image50.svg"/><Relationship Id="rId64" Type="http://schemas.openxmlformats.org/officeDocument/2006/relationships/image" Target="../media/image66.svg"/><Relationship Id="rId69" Type="http://schemas.openxmlformats.org/officeDocument/2006/relationships/image" Target="../media/image71.png"/><Relationship Id="rId113" Type="http://schemas.openxmlformats.org/officeDocument/2006/relationships/image" Target="../media/image115.png"/><Relationship Id="rId80" Type="http://schemas.openxmlformats.org/officeDocument/2006/relationships/image" Target="../media/image82.svg"/><Relationship Id="rId85" Type="http://schemas.openxmlformats.org/officeDocument/2006/relationships/image" Target="../media/image87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33" Type="http://schemas.openxmlformats.org/officeDocument/2006/relationships/image" Target="../media/image35.png"/><Relationship Id="rId38" Type="http://schemas.openxmlformats.org/officeDocument/2006/relationships/image" Target="../media/image40.svg"/><Relationship Id="rId59" Type="http://schemas.openxmlformats.org/officeDocument/2006/relationships/image" Target="../media/image61.png"/><Relationship Id="rId103" Type="http://schemas.openxmlformats.org/officeDocument/2006/relationships/image" Target="../media/image105.png"/><Relationship Id="rId108" Type="http://schemas.openxmlformats.org/officeDocument/2006/relationships/image" Target="../media/image110.svg"/><Relationship Id="rId54" Type="http://schemas.openxmlformats.org/officeDocument/2006/relationships/image" Target="../media/image56.svg"/><Relationship Id="rId70" Type="http://schemas.openxmlformats.org/officeDocument/2006/relationships/image" Target="../media/image72.svg"/><Relationship Id="rId75" Type="http://schemas.openxmlformats.org/officeDocument/2006/relationships/image" Target="../media/image77.png"/><Relationship Id="rId91" Type="http://schemas.openxmlformats.org/officeDocument/2006/relationships/image" Target="../media/image93.png"/><Relationship Id="rId96" Type="http://schemas.openxmlformats.org/officeDocument/2006/relationships/image" Target="../media/image98.svg"/><Relationship Id="rId1" Type="http://schemas.openxmlformats.org/officeDocument/2006/relationships/tags" Target="../tags/tag10.xml"/><Relationship Id="rId6" Type="http://schemas.openxmlformats.org/officeDocument/2006/relationships/image" Target="../media/image8.sv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svg"/><Relationship Id="rId36" Type="http://schemas.openxmlformats.org/officeDocument/2006/relationships/image" Target="../media/image38.svg"/><Relationship Id="rId49" Type="http://schemas.openxmlformats.org/officeDocument/2006/relationships/image" Target="../media/image51.png"/><Relationship Id="rId57" Type="http://schemas.openxmlformats.org/officeDocument/2006/relationships/image" Target="../media/image59.png"/><Relationship Id="rId106" Type="http://schemas.openxmlformats.org/officeDocument/2006/relationships/image" Target="../media/image108.svg"/><Relationship Id="rId114" Type="http://schemas.openxmlformats.org/officeDocument/2006/relationships/image" Target="../media/image116.svg"/><Relationship Id="rId10" Type="http://schemas.openxmlformats.org/officeDocument/2006/relationships/image" Target="../media/image12.svg"/><Relationship Id="rId31" Type="http://schemas.openxmlformats.org/officeDocument/2006/relationships/image" Target="../media/image33.png"/><Relationship Id="rId44" Type="http://schemas.openxmlformats.org/officeDocument/2006/relationships/image" Target="../media/image46.svg"/><Relationship Id="rId52" Type="http://schemas.openxmlformats.org/officeDocument/2006/relationships/image" Target="../media/image54.svg"/><Relationship Id="rId60" Type="http://schemas.openxmlformats.org/officeDocument/2006/relationships/image" Target="../media/image62.svg"/><Relationship Id="rId65" Type="http://schemas.openxmlformats.org/officeDocument/2006/relationships/image" Target="../media/image67.png"/><Relationship Id="rId73" Type="http://schemas.openxmlformats.org/officeDocument/2006/relationships/image" Target="../media/image75.png"/><Relationship Id="rId78" Type="http://schemas.openxmlformats.org/officeDocument/2006/relationships/image" Target="../media/image80.svg"/><Relationship Id="rId81" Type="http://schemas.openxmlformats.org/officeDocument/2006/relationships/image" Target="../media/image83.png"/><Relationship Id="rId86" Type="http://schemas.openxmlformats.org/officeDocument/2006/relationships/image" Target="../media/image88.svg"/><Relationship Id="rId94" Type="http://schemas.openxmlformats.org/officeDocument/2006/relationships/image" Target="../media/image96.svg"/><Relationship Id="rId99" Type="http://schemas.openxmlformats.org/officeDocument/2006/relationships/image" Target="../media/image101.png"/><Relationship Id="rId101" Type="http://schemas.openxmlformats.org/officeDocument/2006/relationships/image" Target="../media/image103.png"/><Relationship Id="rId4" Type="http://schemas.openxmlformats.org/officeDocument/2006/relationships/image" Target="../media/image6.emf"/><Relationship Id="rId9" Type="http://schemas.openxmlformats.org/officeDocument/2006/relationships/image" Target="../media/image11.pn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9" Type="http://schemas.openxmlformats.org/officeDocument/2006/relationships/image" Target="../media/image41.png"/><Relationship Id="rId109" Type="http://schemas.openxmlformats.org/officeDocument/2006/relationships/image" Target="../media/image111.png"/><Relationship Id="rId34" Type="http://schemas.openxmlformats.org/officeDocument/2006/relationships/image" Target="../media/image36.svg"/><Relationship Id="rId50" Type="http://schemas.openxmlformats.org/officeDocument/2006/relationships/image" Target="../media/image52.svg"/><Relationship Id="rId55" Type="http://schemas.openxmlformats.org/officeDocument/2006/relationships/image" Target="../media/image57.png"/><Relationship Id="rId76" Type="http://schemas.openxmlformats.org/officeDocument/2006/relationships/image" Target="../media/image78.svg"/><Relationship Id="rId97" Type="http://schemas.openxmlformats.org/officeDocument/2006/relationships/image" Target="../media/image99.png"/><Relationship Id="rId104" Type="http://schemas.openxmlformats.org/officeDocument/2006/relationships/image" Target="../media/image106.svg"/><Relationship Id="rId7" Type="http://schemas.openxmlformats.org/officeDocument/2006/relationships/image" Target="../media/image9.png"/><Relationship Id="rId71" Type="http://schemas.openxmlformats.org/officeDocument/2006/relationships/image" Target="../media/image73.png"/><Relationship Id="rId92" Type="http://schemas.openxmlformats.org/officeDocument/2006/relationships/image" Target="../media/image94.svg"/><Relationship Id="rId2" Type="http://schemas.openxmlformats.org/officeDocument/2006/relationships/slideLayout" Target="../slideLayouts/slideLayout7.xml"/><Relationship Id="rId29" Type="http://schemas.openxmlformats.org/officeDocument/2006/relationships/image" Target="../media/image31.png"/><Relationship Id="rId24" Type="http://schemas.openxmlformats.org/officeDocument/2006/relationships/image" Target="../media/image26.svg"/><Relationship Id="rId40" Type="http://schemas.openxmlformats.org/officeDocument/2006/relationships/image" Target="../media/image42.svg"/><Relationship Id="rId45" Type="http://schemas.openxmlformats.org/officeDocument/2006/relationships/image" Target="../media/image47.png"/><Relationship Id="rId66" Type="http://schemas.openxmlformats.org/officeDocument/2006/relationships/image" Target="../media/image68.svg"/><Relationship Id="rId87" Type="http://schemas.openxmlformats.org/officeDocument/2006/relationships/image" Target="../media/image89.png"/><Relationship Id="rId110" Type="http://schemas.openxmlformats.org/officeDocument/2006/relationships/image" Target="../media/image112.svg"/><Relationship Id="rId115" Type="http://schemas.openxmlformats.org/officeDocument/2006/relationships/image" Target="../media/image117.png"/><Relationship Id="rId61" Type="http://schemas.openxmlformats.org/officeDocument/2006/relationships/image" Target="../media/image63.png"/><Relationship Id="rId82" Type="http://schemas.openxmlformats.org/officeDocument/2006/relationships/image" Target="../media/image84.svg"/><Relationship Id="rId19" Type="http://schemas.openxmlformats.org/officeDocument/2006/relationships/image" Target="../media/image21.png"/><Relationship Id="rId14" Type="http://schemas.openxmlformats.org/officeDocument/2006/relationships/image" Target="../media/image16.svg"/><Relationship Id="rId30" Type="http://schemas.openxmlformats.org/officeDocument/2006/relationships/image" Target="../media/image32.svg"/><Relationship Id="rId35" Type="http://schemas.openxmlformats.org/officeDocument/2006/relationships/image" Target="../media/image37.png"/><Relationship Id="rId56" Type="http://schemas.openxmlformats.org/officeDocument/2006/relationships/image" Target="../media/image58.svg"/><Relationship Id="rId77" Type="http://schemas.openxmlformats.org/officeDocument/2006/relationships/image" Target="../media/image79.png"/><Relationship Id="rId100" Type="http://schemas.openxmlformats.org/officeDocument/2006/relationships/image" Target="../media/image102.svg"/><Relationship Id="rId105" Type="http://schemas.openxmlformats.org/officeDocument/2006/relationships/image" Target="../media/image107.png"/><Relationship Id="rId8" Type="http://schemas.openxmlformats.org/officeDocument/2006/relationships/image" Target="../media/image10.svg"/><Relationship Id="rId51" Type="http://schemas.openxmlformats.org/officeDocument/2006/relationships/image" Target="../media/image53.png"/><Relationship Id="rId72" Type="http://schemas.openxmlformats.org/officeDocument/2006/relationships/image" Target="../media/image74.svg"/><Relationship Id="rId93" Type="http://schemas.openxmlformats.org/officeDocument/2006/relationships/image" Target="../media/image95.png"/><Relationship Id="rId98" Type="http://schemas.openxmlformats.org/officeDocument/2006/relationships/image" Target="../media/image100.svg"/><Relationship Id="rId3" Type="http://schemas.openxmlformats.org/officeDocument/2006/relationships/oleObject" Target="../embeddings/oleObject4.bin"/><Relationship Id="rId25" Type="http://schemas.openxmlformats.org/officeDocument/2006/relationships/image" Target="../media/image27.png"/><Relationship Id="rId46" Type="http://schemas.openxmlformats.org/officeDocument/2006/relationships/image" Target="../media/image48.svg"/><Relationship Id="rId67" Type="http://schemas.openxmlformats.org/officeDocument/2006/relationships/image" Target="../media/image69.png"/><Relationship Id="rId116" Type="http://schemas.openxmlformats.org/officeDocument/2006/relationships/image" Target="../media/image118.svg"/><Relationship Id="rId20" Type="http://schemas.openxmlformats.org/officeDocument/2006/relationships/image" Target="../media/image22.svg"/><Relationship Id="rId41" Type="http://schemas.openxmlformats.org/officeDocument/2006/relationships/image" Target="../media/image43.png"/><Relationship Id="rId62" Type="http://schemas.openxmlformats.org/officeDocument/2006/relationships/image" Target="../media/image64.svg"/><Relationship Id="rId83" Type="http://schemas.openxmlformats.org/officeDocument/2006/relationships/image" Target="../media/image85.png"/><Relationship Id="rId88" Type="http://schemas.openxmlformats.org/officeDocument/2006/relationships/image" Target="../media/image90.svg"/><Relationship Id="rId111" Type="http://schemas.openxmlformats.org/officeDocument/2006/relationships/image" Target="../media/image1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120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22.png"/><Relationship Id="rId5" Type="http://schemas.openxmlformats.org/officeDocument/2006/relationships/image" Target="../media/image121.e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123.e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119.png"/><Relationship Id="rId4" Type="http://schemas.openxmlformats.org/officeDocument/2006/relationships/image" Target="../media/image12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126.png"/><Relationship Id="rId5" Type="http://schemas.openxmlformats.org/officeDocument/2006/relationships/image" Target="../media/image125.e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129.png"/><Relationship Id="rId5" Type="http://schemas.openxmlformats.org/officeDocument/2006/relationships/image" Target="../media/image125.emf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ssetfynd.com/solutions" TargetMode="External"/><Relationship Id="rId13" Type="http://schemas.openxmlformats.org/officeDocument/2006/relationships/image" Target="../media/image69.png"/><Relationship Id="rId18" Type="http://schemas.openxmlformats.org/officeDocument/2006/relationships/image" Target="../media/image141.sv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35.png"/><Relationship Id="rId12" Type="http://schemas.openxmlformats.org/officeDocument/2006/relationships/image" Target="../media/image138.svg"/><Relationship Id="rId17" Type="http://schemas.openxmlformats.org/officeDocument/2006/relationships/image" Target="../media/image140.png"/><Relationship Id="rId2" Type="http://schemas.openxmlformats.org/officeDocument/2006/relationships/tags" Target="../tags/tag18.xml"/><Relationship Id="rId16" Type="http://schemas.openxmlformats.org/officeDocument/2006/relationships/image" Target="../media/image114.svg"/><Relationship Id="rId20" Type="http://schemas.openxmlformats.org/officeDocument/2006/relationships/image" Target="../media/image143.svg"/><Relationship Id="rId1" Type="http://schemas.openxmlformats.org/officeDocument/2006/relationships/tags" Target="../tags/tag17.xml"/><Relationship Id="rId6" Type="http://schemas.openxmlformats.org/officeDocument/2006/relationships/image" Target="../media/image134.emf"/><Relationship Id="rId11" Type="http://schemas.openxmlformats.org/officeDocument/2006/relationships/image" Target="../media/image137.png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113.png"/><Relationship Id="rId10" Type="http://schemas.openxmlformats.org/officeDocument/2006/relationships/image" Target="../media/image136.svg"/><Relationship Id="rId19" Type="http://schemas.openxmlformats.org/officeDocument/2006/relationships/image" Target="../media/image142.png"/><Relationship Id="rId4" Type="http://schemas.openxmlformats.org/officeDocument/2006/relationships/image" Target="../media/image133.png"/><Relationship Id="rId9" Type="http://schemas.openxmlformats.org/officeDocument/2006/relationships/image" Target="../media/image35.png"/><Relationship Id="rId14" Type="http://schemas.openxmlformats.org/officeDocument/2006/relationships/image" Target="../media/image13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14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emf"/><Relationship Id="rId9" Type="http://schemas.openxmlformats.org/officeDocument/2006/relationships/image" Target="../media/image1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6374740A-07AE-9F04-9CA6-88434D9B435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91826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74740A-07AE-9F04-9CA6-88434D9B43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Google Shape;150;p13">
            <a:extLst>
              <a:ext uri="{FF2B5EF4-FFF2-40B4-BE49-F238E27FC236}">
                <a16:creationId xmlns:a16="http://schemas.microsoft.com/office/drawing/2014/main" id="{26C4909E-1217-1897-D640-917EFD0BEB1A}"/>
              </a:ext>
            </a:extLst>
          </p:cNvPr>
          <p:cNvSpPr/>
          <p:nvPr/>
        </p:nvSpPr>
        <p:spPr>
          <a:xfrm>
            <a:off x="3658716" y="207442"/>
            <a:ext cx="5314774" cy="2555304"/>
          </a:xfrm>
          <a:prstGeom prst="rect">
            <a:avLst/>
          </a:prstGeom>
          <a:solidFill>
            <a:srgbClr val="EFF0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CA" sz="105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Helvetica Neue" panose="02000503000000020004"/>
                <a:ea typeface="Noto Sans"/>
                <a:cs typeface="Noto Sans"/>
                <a:sym typeface="Noto Sans"/>
              </a:rPr>
              <a:t>RANDOM</a:t>
            </a:r>
          </a:p>
        </p:txBody>
      </p:sp>
      <p:sp>
        <p:nvSpPr>
          <p:cNvPr id="18" name="Google Shape;150;p13">
            <a:extLst>
              <a:ext uri="{FF2B5EF4-FFF2-40B4-BE49-F238E27FC236}">
                <a16:creationId xmlns:a16="http://schemas.microsoft.com/office/drawing/2014/main" id="{A10C6BFB-8023-8250-470A-DE67AB8A5824}"/>
              </a:ext>
            </a:extLst>
          </p:cNvPr>
          <p:cNvSpPr/>
          <p:nvPr/>
        </p:nvSpPr>
        <p:spPr>
          <a:xfrm>
            <a:off x="126029" y="207442"/>
            <a:ext cx="3500040" cy="1757991"/>
          </a:xfrm>
          <a:prstGeom prst="rect">
            <a:avLst/>
          </a:prstGeom>
          <a:solidFill>
            <a:srgbClr val="EFF0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CA" sz="105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Helvetica Neue" panose="02000503000000020004"/>
                <a:ea typeface="Noto Sans"/>
                <a:cs typeface="Noto Sans"/>
                <a:sym typeface="Noto Sans"/>
              </a:rPr>
              <a:t>TECH</a:t>
            </a:r>
          </a:p>
        </p:txBody>
      </p:sp>
      <p:pic>
        <p:nvPicPr>
          <p:cNvPr id="11" name="Graphic 10" descr="Programmer male with solid fill">
            <a:extLst>
              <a:ext uri="{FF2B5EF4-FFF2-40B4-BE49-F238E27FC236}">
                <a16:creationId xmlns:a16="http://schemas.microsoft.com/office/drawing/2014/main" id="{062D95DE-585F-2313-73C4-86EABBC5B7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7197" y="444265"/>
            <a:ext cx="687003" cy="687003"/>
          </a:xfrm>
          <a:prstGeom prst="rect">
            <a:avLst/>
          </a:prstGeom>
        </p:spPr>
      </p:pic>
      <p:pic>
        <p:nvPicPr>
          <p:cNvPr id="17" name="Graphic 16" descr="Processor with solid fill">
            <a:extLst>
              <a:ext uri="{FF2B5EF4-FFF2-40B4-BE49-F238E27FC236}">
                <a16:creationId xmlns:a16="http://schemas.microsoft.com/office/drawing/2014/main" id="{CCDA4586-3C3B-13C6-6953-C05AF1366C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0773" y="444265"/>
            <a:ext cx="687003" cy="687003"/>
          </a:xfrm>
          <a:prstGeom prst="rect">
            <a:avLst/>
          </a:prstGeom>
        </p:spPr>
      </p:pic>
      <p:pic>
        <p:nvPicPr>
          <p:cNvPr id="3" name="Graphic 2" descr="Internet with solid fill">
            <a:extLst>
              <a:ext uri="{FF2B5EF4-FFF2-40B4-BE49-F238E27FC236}">
                <a16:creationId xmlns:a16="http://schemas.microsoft.com/office/drawing/2014/main" id="{449E4B64-AFE1-7407-D717-6601778663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346" y="1114440"/>
            <a:ext cx="687003" cy="687003"/>
          </a:xfrm>
          <a:prstGeom prst="rect">
            <a:avLst/>
          </a:prstGeom>
        </p:spPr>
      </p:pic>
      <p:pic>
        <p:nvPicPr>
          <p:cNvPr id="5" name="Graphic 4" descr="Robot Hand with solid fill">
            <a:extLst>
              <a:ext uri="{FF2B5EF4-FFF2-40B4-BE49-F238E27FC236}">
                <a16:creationId xmlns:a16="http://schemas.microsoft.com/office/drawing/2014/main" id="{4BC9986D-BE94-FD4D-5051-9F129D248A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7923" y="444265"/>
            <a:ext cx="687003" cy="687003"/>
          </a:xfrm>
          <a:prstGeom prst="rect">
            <a:avLst/>
          </a:prstGeom>
        </p:spPr>
      </p:pic>
      <p:pic>
        <p:nvPicPr>
          <p:cNvPr id="7" name="Graphic 6" descr="Robot with solid fill">
            <a:extLst>
              <a:ext uri="{FF2B5EF4-FFF2-40B4-BE49-F238E27FC236}">
                <a16:creationId xmlns:a16="http://schemas.microsoft.com/office/drawing/2014/main" id="{AA392306-C559-DA34-D927-96BADBD219F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89635" y="1114440"/>
            <a:ext cx="687003" cy="687003"/>
          </a:xfrm>
          <a:prstGeom prst="rect">
            <a:avLst/>
          </a:prstGeom>
        </p:spPr>
      </p:pic>
      <p:pic>
        <p:nvPicPr>
          <p:cNvPr id="9" name="Graphic 8" descr="Cloud Computing with solid fill">
            <a:extLst>
              <a:ext uri="{FF2B5EF4-FFF2-40B4-BE49-F238E27FC236}">
                <a16:creationId xmlns:a16="http://schemas.microsoft.com/office/drawing/2014/main" id="{FCDB3E76-98AE-F6B6-DEFA-C690E26DFDB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4348" y="444265"/>
            <a:ext cx="687003" cy="687003"/>
          </a:xfrm>
          <a:prstGeom prst="rect">
            <a:avLst/>
          </a:prstGeom>
        </p:spPr>
      </p:pic>
      <p:pic>
        <p:nvPicPr>
          <p:cNvPr id="13" name="Graphic 12" descr="Influencer with solid fill">
            <a:extLst>
              <a:ext uri="{FF2B5EF4-FFF2-40B4-BE49-F238E27FC236}">
                <a16:creationId xmlns:a16="http://schemas.microsoft.com/office/drawing/2014/main" id="{65830771-B2BD-5A6B-F7B2-FDEF7FCDEAA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648213" y="1114440"/>
            <a:ext cx="687003" cy="687003"/>
          </a:xfrm>
          <a:prstGeom prst="rect">
            <a:avLst/>
          </a:prstGeom>
        </p:spPr>
      </p:pic>
      <p:pic>
        <p:nvPicPr>
          <p:cNvPr id="15" name="Graphic 14" descr="Online meeting with solid fill">
            <a:extLst>
              <a:ext uri="{FF2B5EF4-FFF2-40B4-BE49-F238E27FC236}">
                <a16:creationId xmlns:a16="http://schemas.microsoft.com/office/drawing/2014/main" id="{BE6FA12F-6788-55E6-736B-23008938E8F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18924" y="1114440"/>
            <a:ext cx="687003" cy="687003"/>
          </a:xfrm>
          <a:prstGeom prst="rect">
            <a:avLst/>
          </a:prstGeom>
        </p:spPr>
      </p:pic>
      <p:sp>
        <p:nvSpPr>
          <p:cNvPr id="20" name="Google Shape;150;p13">
            <a:extLst>
              <a:ext uri="{FF2B5EF4-FFF2-40B4-BE49-F238E27FC236}">
                <a16:creationId xmlns:a16="http://schemas.microsoft.com/office/drawing/2014/main" id="{414EDED6-09EA-C6B9-13B1-B0BE06154A9B}"/>
              </a:ext>
            </a:extLst>
          </p:cNvPr>
          <p:cNvSpPr/>
          <p:nvPr/>
        </p:nvSpPr>
        <p:spPr>
          <a:xfrm>
            <a:off x="126029" y="2038266"/>
            <a:ext cx="3500040" cy="2897792"/>
          </a:xfrm>
          <a:prstGeom prst="rect">
            <a:avLst/>
          </a:prstGeom>
          <a:solidFill>
            <a:srgbClr val="EFF0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CA" sz="105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Helvetica Neue" panose="02000503000000020004"/>
                <a:ea typeface="Noto Sans"/>
                <a:cs typeface="Noto Sans"/>
                <a:sym typeface="Noto Sans"/>
              </a:rPr>
              <a:t>PEOPLE / BUSINESS</a:t>
            </a:r>
          </a:p>
        </p:txBody>
      </p:sp>
      <p:pic>
        <p:nvPicPr>
          <p:cNvPr id="22" name="Graphic 21" descr="Office worker male with solid fill">
            <a:extLst>
              <a:ext uri="{FF2B5EF4-FFF2-40B4-BE49-F238E27FC236}">
                <a16:creationId xmlns:a16="http://schemas.microsoft.com/office/drawing/2014/main" id="{FA4509C0-43BD-9784-F64C-13FD4212825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0510" y="2331038"/>
            <a:ext cx="624548" cy="624548"/>
          </a:xfrm>
          <a:prstGeom prst="rect">
            <a:avLst/>
          </a:prstGeom>
        </p:spPr>
      </p:pic>
      <p:pic>
        <p:nvPicPr>
          <p:cNvPr id="24" name="Graphic 23" descr="Cycle with people with solid fill">
            <a:extLst>
              <a:ext uri="{FF2B5EF4-FFF2-40B4-BE49-F238E27FC236}">
                <a16:creationId xmlns:a16="http://schemas.microsoft.com/office/drawing/2014/main" id="{06ED5F31-4985-2B26-B97F-A7DF2261191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851845" y="3561534"/>
            <a:ext cx="567771" cy="567771"/>
          </a:xfrm>
          <a:prstGeom prst="rect">
            <a:avLst/>
          </a:prstGeom>
        </p:spPr>
      </p:pic>
      <p:pic>
        <p:nvPicPr>
          <p:cNvPr id="26" name="Graphic 25" descr="Teacher with solid fill">
            <a:extLst>
              <a:ext uri="{FF2B5EF4-FFF2-40B4-BE49-F238E27FC236}">
                <a16:creationId xmlns:a16="http://schemas.microsoft.com/office/drawing/2014/main" id="{CC5C0E75-9857-00C7-E094-C3CE01B935D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5068" y="2942462"/>
            <a:ext cx="624548" cy="624548"/>
          </a:xfrm>
          <a:prstGeom prst="rect">
            <a:avLst/>
          </a:prstGeom>
        </p:spPr>
      </p:pic>
      <p:pic>
        <p:nvPicPr>
          <p:cNvPr id="28" name="Graphic 27" descr="Lecturer with solid fill">
            <a:extLst>
              <a:ext uri="{FF2B5EF4-FFF2-40B4-BE49-F238E27FC236}">
                <a16:creationId xmlns:a16="http://schemas.microsoft.com/office/drawing/2014/main" id="{0B6CA0F8-8ED8-ED8E-695C-5D2EA65A14D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5640" y="3533145"/>
            <a:ext cx="624548" cy="624548"/>
          </a:xfrm>
          <a:prstGeom prst="rect">
            <a:avLst/>
          </a:prstGeom>
        </p:spPr>
      </p:pic>
      <p:pic>
        <p:nvPicPr>
          <p:cNvPr id="30" name="Graphic 29" descr="Scientific Thought with solid fill">
            <a:extLst>
              <a:ext uri="{FF2B5EF4-FFF2-40B4-BE49-F238E27FC236}">
                <a16:creationId xmlns:a16="http://schemas.microsoft.com/office/drawing/2014/main" id="{FA5A7376-6D8E-8FCF-7062-C22F6F2EFBA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3939" y="4201916"/>
            <a:ext cx="567771" cy="567771"/>
          </a:xfrm>
          <a:prstGeom prst="rect">
            <a:avLst/>
          </a:prstGeom>
        </p:spPr>
      </p:pic>
      <p:pic>
        <p:nvPicPr>
          <p:cNvPr id="32" name="Graphic 31" descr="Brain in head with solid fill">
            <a:extLst>
              <a:ext uri="{FF2B5EF4-FFF2-40B4-BE49-F238E27FC236}">
                <a16:creationId xmlns:a16="http://schemas.microsoft.com/office/drawing/2014/main" id="{2148028B-A36A-84B3-09CA-CEF9B23BC1C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341548" y="4201916"/>
            <a:ext cx="567771" cy="567771"/>
          </a:xfrm>
          <a:prstGeom prst="rect">
            <a:avLst/>
          </a:prstGeom>
        </p:spPr>
      </p:pic>
      <p:pic>
        <p:nvPicPr>
          <p:cNvPr id="34" name="Graphic 33" descr="Head with gears with solid fill">
            <a:extLst>
              <a:ext uri="{FF2B5EF4-FFF2-40B4-BE49-F238E27FC236}">
                <a16:creationId xmlns:a16="http://schemas.microsoft.com/office/drawing/2014/main" id="{D6067FD9-57C3-151B-C7FB-C258802EA779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899157" y="4201916"/>
            <a:ext cx="567771" cy="567771"/>
          </a:xfrm>
          <a:prstGeom prst="rect">
            <a:avLst/>
          </a:prstGeom>
        </p:spPr>
      </p:pic>
      <p:pic>
        <p:nvPicPr>
          <p:cNvPr id="36" name="Graphic 35" descr="Group brainstorm with solid fill">
            <a:extLst>
              <a:ext uri="{FF2B5EF4-FFF2-40B4-BE49-F238E27FC236}">
                <a16:creationId xmlns:a16="http://schemas.microsoft.com/office/drawing/2014/main" id="{DD00BC62-2E9E-9506-399A-E78D58388E2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56766" y="4201916"/>
            <a:ext cx="567771" cy="567771"/>
          </a:xfrm>
          <a:prstGeom prst="rect">
            <a:avLst/>
          </a:prstGeom>
        </p:spPr>
      </p:pic>
      <p:pic>
        <p:nvPicPr>
          <p:cNvPr id="38" name="Graphic 37" descr="Business Growth with solid fill">
            <a:extLst>
              <a:ext uri="{FF2B5EF4-FFF2-40B4-BE49-F238E27FC236}">
                <a16:creationId xmlns:a16="http://schemas.microsoft.com/office/drawing/2014/main" id="{5241BCD0-5006-9B9E-1736-A3F88FBC436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65369" y="3561534"/>
            <a:ext cx="567771" cy="567771"/>
          </a:xfrm>
          <a:prstGeom prst="rect">
            <a:avLst/>
          </a:prstGeom>
        </p:spPr>
      </p:pic>
      <p:pic>
        <p:nvPicPr>
          <p:cNvPr id="42" name="Graphic 41" descr="Handshake with solid fill">
            <a:extLst>
              <a:ext uri="{FF2B5EF4-FFF2-40B4-BE49-F238E27FC236}">
                <a16:creationId xmlns:a16="http://schemas.microsoft.com/office/drawing/2014/main" id="{6D41C7F1-5A44-ABDA-1548-AE7A218750A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438321" y="3561534"/>
            <a:ext cx="567771" cy="567771"/>
          </a:xfrm>
          <a:prstGeom prst="rect">
            <a:avLst/>
          </a:prstGeom>
        </p:spPr>
      </p:pic>
      <p:pic>
        <p:nvPicPr>
          <p:cNvPr id="44" name="Graphic 43" descr="Customer review with solid fill">
            <a:extLst>
              <a:ext uri="{FF2B5EF4-FFF2-40B4-BE49-F238E27FC236}">
                <a16:creationId xmlns:a16="http://schemas.microsoft.com/office/drawing/2014/main" id="{3B7CFF66-D792-73D8-B15B-A205494657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014373" y="4201916"/>
            <a:ext cx="567771" cy="567771"/>
          </a:xfrm>
          <a:prstGeom prst="rect">
            <a:avLst/>
          </a:prstGeom>
        </p:spPr>
      </p:pic>
      <p:pic>
        <p:nvPicPr>
          <p:cNvPr id="46" name="Graphic 45" descr="Presentation with checklist with solid fill">
            <a:extLst>
              <a:ext uri="{FF2B5EF4-FFF2-40B4-BE49-F238E27FC236}">
                <a16:creationId xmlns:a16="http://schemas.microsoft.com/office/drawing/2014/main" id="{A3916D2A-75A1-AECD-3C4E-017E100B082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339101" y="2970851"/>
            <a:ext cx="567771" cy="567771"/>
          </a:xfrm>
          <a:prstGeom prst="rect">
            <a:avLst/>
          </a:prstGeom>
        </p:spPr>
      </p:pic>
      <p:pic>
        <p:nvPicPr>
          <p:cNvPr id="48" name="Graphic 47" descr="Clipboard All Crosses with solid fill">
            <a:extLst>
              <a:ext uri="{FF2B5EF4-FFF2-40B4-BE49-F238E27FC236}">
                <a16:creationId xmlns:a16="http://schemas.microsoft.com/office/drawing/2014/main" id="{435BD763-0085-0AB2-8E8F-A9985AF27CBA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75473" y="2970851"/>
            <a:ext cx="567771" cy="567771"/>
          </a:xfrm>
          <a:prstGeom prst="rect">
            <a:avLst/>
          </a:prstGeom>
        </p:spPr>
      </p:pic>
      <p:pic>
        <p:nvPicPr>
          <p:cNvPr id="50" name="Graphic 49" descr="Management with solid fill">
            <a:extLst>
              <a:ext uri="{FF2B5EF4-FFF2-40B4-BE49-F238E27FC236}">
                <a16:creationId xmlns:a16="http://schemas.microsoft.com/office/drawing/2014/main" id="{C93D025C-9034-782E-D406-DAA10EADA24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78893" y="3561534"/>
            <a:ext cx="567771" cy="567771"/>
          </a:xfrm>
          <a:prstGeom prst="rect">
            <a:avLst/>
          </a:prstGeom>
        </p:spPr>
      </p:pic>
      <p:pic>
        <p:nvPicPr>
          <p:cNvPr id="52" name="Graphic 51" descr="User network with solid fill">
            <a:extLst>
              <a:ext uri="{FF2B5EF4-FFF2-40B4-BE49-F238E27FC236}">
                <a16:creationId xmlns:a16="http://schemas.microsoft.com/office/drawing/2014/main" id="{D1D04368-666B-0C0C-CE99-04BF99FABE82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350443" y="2359427"/>
            <a:ext cx="567771" cy="567771"/>
          </a:xfrm>
          <a:prstGeom prst="rect">
            <a:avLst/>
          </a:prstGeom>
        </p:spPr>
      </p:pic>
      <p:pic>
        <p:nvPicPr>
          <p:cNvPr id="54" name="Graphic 53" descr="Connections with solid fill">
            <a:extLst>
              <a:ext uri="{FF2B5EF4-FFF2-40B4-BE49-F238E27FC236}">
                <a16:creationId xmlns:a16="http://schemas.microsoft.com/office/drawing/2014/main" id="{1258EBCD-3E5A-4C55-1977-79660F65DF6C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88865" y="2359427"/>
            <a:ext cx="567771" cy="567771"/>
          </a:xfrm>
          <a:prstGeom prst="rect">
            <a:avLst/>
          </a:prstGeom>
        </p:spPr>
      </p:pic>
      <p:pic>
        <p:nvPicPr>
          <p:cNvPr id="56" name="Graphic 55" descr="Target Audience with solid fill">
            <a:extLst>
              <a:ext uri="{FF2B5EF4-FFF2-40B4-BE49-F238E27FC236}">
                <a16:creationId xmlns:a16="http://schemas.microsoft.com/office/drawing/2014/main" id="{12EC69C5-6110-DB9F-2EA8-11F82BDC0C4A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912021" y="2359427"/>
            <a:ext cx="567771" cy="567771"/>
          </a:xfrm>
          <a:prstGeom prst="rect">
            <a:avLst/>
          </a:prstGeom>
        </p:spPr>
      </p:pic>
      <p:pic>
        <p:nvPicPr>
          <p:cNvPr id="58" name="Graphic 57" descr="Upward trend with solid fill">
            <a:extLst>
              <a:ext uri="{FF2B5EF4-FFF2-40B4-BE49-F238E27FC236}">
                <a16:creationId xmlns:a16="http://schemas.microsoft.com/office/drawing/2014/main" id="{234D3D5C-86D9-9079-000E-FC9EDDBCBF0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024795" y="3561534"/>
            <a:ext cx="567771" cy="567771"/>
          </a:xfrm>
          <a:prstGeom prst="rect">
            <a:avLst/>
          </a:prstGeom>
        </p:spPr>
      </p:pic>
      <p:pic>
        <p:nvPicPr>
          <p:cNvPr id="60" name="Graphic 59" descr="Meeting with solid fill">
            <a:extLst>
              <a:ext uri="{FF2B5EF4-FFF2-40B4-BE49-F238E27FC236}">
                <a16:creationId xmlns:a16="http://schemas.microsoft.com/office/drawing/2014/main" id="{DA8DE551-F402-B78B-99D1-6137E3CD33DA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2473599" y="2359427"/>
            <a:ext cx="567771" cy="567771"/>
          </a:xfrm>
          <a:prstGeom prst="rect">
            <a:avLst/>
          </a:prstGeom>
        </p:spPr>
      </p:pic>
      <p:pic>
        <p:nvPicPr>
          <p:cNvPr id="62" name="Graphic 61" descr="Workflow with solid fill">
            <a:extLst>
              <a:ext uri="{FF2B5EF4-FFF2-40B4-BE49-F238E27FC236}">
                <a16:creationId xmlns:a16="http://schemas.microsoft.com/office/drawing/2014/main" id="{8C8E2967-D533-EC94-155B-72D261D8A208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902729" y="2970851"/>
            <a:ext cx="567771" cy="567771"/>
          </a:xfrm>
          <a:prstGeom prst="rect">
            <a:avLst/>
          </a:prstGeom>
        </p:spPr>
      </p:pic>
      <p:pic>
        <p:nvPicPr>
          <p:cNvPr id="64" name="Graphic 63" descr="Bar graph with upward trend with solid fill">
            <a:extLst>
              <a:ext uri="{FF2B5EF4-FFF2-40B4-BE49-F238E27FC236}">
                <a16:creationId xmlns:a16="http://schemas.microsoft.com/office/drawing/2014/main" id="{00EA2614-0A36-FD68-C62A-DCE67929ED32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2466357" y="2970851"/>
            <a:ext cx="567771" cy="567771"/>
          </a:xfrm>
          <a:prstGeom prst="rect">
            <a:avLst/>
          </a:prstGeom>
        </p:spPr>
      </p:pic>
      <p:pic>
        <p:nvPicPr>
          <p:cNvPr id="66" name="Graphic 65" descr="Bar graph with downward trend with solid fill">
            <a:extLst>
              <a:ext uri="{FF2B5EF4-FFF2-40B4-BE49-F238E27FC236}">
                <a16:creationId xmlns:a16="http://schemas.microsoft.com/office/drawing/2014/main" id="{E6C84CCF-B454-8250-8F9D-8382D62C2EF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029987" y="2970851"/>
            <a:ext cx="567771" cy="567771"/>
          </a:xfrm>
          <a:prstGeom prst="rect">
            <a:avLst/>
          </a:prstGeom>
        </p:spPr>
      </p:pic>
      <p:pic>
        <p:nvPicPr>
          <p:cNvPr id="68" name="Graphic 67" descr="Bar graph with downward trend with solid fill">
            <a:extLst>
              <a:ext uri="{FF2B5EF4-FFF2-40B4-BE49-F238E27FC236}">
                <a16:creationId xmlns:a16="http://schemas.microsoft.com/office/drawing/2014/main" id="{BC2E7875-9E79-2553-C1DB-BE5442E748E0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3035179" y="2359427"/>
            <a:ext cx="567771" cy="567771"/>
          </a:xfrm>
          <a:prstGeom prst="rect">
            <a:avLst/>
          </a:prstGeom>
        </p:spPr>
      </p:pic>
      <p:pic>
        <p:nvPicPr>
          <p:cNvPr id="72" name="Graphic 71" descr="Blueprint with solid fill">
            <a:extLst>
              <a:ext uri="{FF2B5EF4-FFF2-40B4-BE49-F238E27FC236}">
                <a16:creationId xmlns:a16="http://schemas.microsoft.com/office/drawing/2014/main" id="{C03EE1B2-0415-C67F-D277-5DAC6868A22B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26330" y="4201916"/>
            <a:ext cx="567771" cy="567771"/>
          </a:xfrm>
          <a:prstGeom prst="rect">
            <a:avLst/>
          </a:prstGeom>
        </p:spPr>
      </p:pic>
      <p:pic>
        <p:nvPicPr>
          <p:cNvPr id="74" name="Graphic 73" descr="Continuous Improvement with solid fill">
            <a:extLst>
              <a:ext uri="{FF2B5EF4-FFF2-40B4-BE49-F238E27FC236}">
                <a16:creationId xmlns:a16="http://schemas.microsoft.com/office/drawing/2014/main" id="{C1358C56-E6F9-456D-B382-1CE4C5A58A9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5391794" y="1287277"/>
            <a:ext cx="624548" cy="624548"/>
          </a:xfrm>
          <a:prstGeom prst="rect">
            <a:avLst/>
          </a:prstGeom>
        </p:spPr>
      </p:pic>
      <p:pic>
        <p:nvPicPr>
          <p:cNvPr id="76" name="Graphic 75" descr="Decision chart with solid fill">
            <a:extLst>
              <a:ext uri="{FF2B5EF4-FFF2-40B4-BE49-F238E27FC236}">
                <a16:creationId xmlns:a16="http://schemas.microsoft.com/office/drawing/2014/main" id="{E30E66F1-D0E4-337C-6ABC-743A247721F3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4365869" y="554641"/>
            <a:ext cx="624548" cy="624548"/>
          </a:xfrm>
          <a:prstGeom prst="rect">
            <a:avLst/>
          </a:prstGeom>
        </p:spPr>
      </p:pic>
      <p:pic>
        <p:nvPicPr>
          <p:cNvPr id="78" name="Graphic 77" descr="Circles with lines with solid fill">
            <a:extLst>
              <a:ext uri="{FF2B5EF4-FFF2-40B4-BE49-F238E27FC236}">
                <a16:creationId xmlns:a16="http://schemas.microsoft.com/office/drawing/2014/main" id="{0E7147B8-9310-E627-E3B1-3D218995CD76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308906" y="1959279"/>
            <a:ext cx="624548" cy="624548"/>
          </a:xfrm>
          <a:prstGeom prst="rect">
            <a:avLst/>
          </a:prstGeom>
        </p:spPr>
      </p:pic>
      <p:pic>
        <p:nvPicPr>
          <p:cNvPr id="80" name="Graphic 79" descr="Pyramid with levels with solid fill">
            <a:extLst>
              <a:ext uri="{FF2B5EF4-FFF2-40B4-BE49-F238E27FC236}">
                <a16:creationId xmlns:a16="http://schemas.microsoft.com/office/drawing/2014/main" id="{7E87992B-F36A-CE7D-D709-2A8AC37DB655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5693909" y="1959279"/>
            <a:ext cx="624548" cy="624548"/>
          </a:xfrm>
          <a:prstGeom prst="rect">
            <a:avLst/>
          </a:prstGeom>
        </p:spPr>
      </p:pic>
      <p:pic>
        <p:nvPicPr>
          <p:cNvPr id="82" name="Graphic 81" descr="Lightbulb and gear with solid fill">
            <a:extLst>
              <a:ext uri="{FF2B5EF4-FFF2-40B4-BE49-F238E27FC236}">
                <a16:creationId xmlns:a16="http://schemas.microsoft.com/office/drawing/2014/main" id="{E31FFFD3-B298-87E0-52CD-DB27E6355DD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286952" y="1287277"/>
            <a:ext cx="624548" cy="624548"/>
          </a:xfrm>
          <a:prstGeom prst="rect">
            <a:avLst/>
          </a:prstGeom>
        </p:spPr>
      </p:pic>
      <p:pic>
        <p:nvPicPr>
          <p:cNvPr id="84" name="Graphic 83" descr="Lightbulb and pencil with solid fill">
            <a:extLst>
              <a:ext uri="{FF2B5EF4-FFF2-40B4-BE49-F238E27FC236}">
                <a16:creationId xmlns:a16="http://schemas.microsoft.com/office/drawing/2014/main" id="{000A6E8B-7E7E-B5A8-24D1-E28CF5D9C5E6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944215" y="1287277"/>
            <a:ext cx="624548" cy="624548"/>
          </a:xfrm>
          <a:prstGeom prst="rect">
            <a:avLst/>
          </a:prstGeom>
        </p:spPr>
      </p:pic>
      <p:pic>
        <p:nvPicPr>
          <p:cNvPr id="86" name="Graphic 85" descr="Thought bubble with solid fill">
            <a:extLst>
              <a:ext uri="{FF2B5EF4-FFF2-40B4-BE49-F238E27FC236}">
                <a16:creationId xmlns:a16="http://schemas.microsoft.com/office/drawing/2014/main" id="{EA52982B-4AC0-44DA-2F49-FEA51A2B39F3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078912" y="1959279"/>
            <a:ext cx="624548" cy="624548"/>
          </a:xfrm>
          <a:prstGeom prst="rect">
            <a:avLst/>
          </a:prstGeom>
        </p:spPr>
      </p:pic>
      <p:pic>
        <p:nvPicPr>
          <p:cNvPr id="88" name="Graphic 87" descr="Gears with solid fill">
            <a:extLst>
              <a:ext uri="{FF2B5EF4-FFF2-40B4-BE49-F238E27FC236}">
                <a16:creationId xmlns:a16="http://schemas.microsoft.com/office/drawing/2014/main" id="{8643CB63-0A5E-F8F7-1AE8-B0CD3A4C7AC6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463915" y="1959279"/>
            <a:ext cx="624548" cy="624548"/>
          </a:xfrm>
          <a:prstGeom prst="rect">
            <a:avLst/>
          </a:prstGeom>
        </p:spPr>
      </p:pic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C7605877-1C71-8EE9-A2DC-BAD8F06D386D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3848918" y="1959279"/>
            <a:ext cx="624548" cy="624548"/>
          </a:xfrm>
          <a:prstGeom prst="rect">
            <a:avLst/>
          </a:prstGeom>
        </p:spPr>
      </p:pic>
      <p:pic>
        <p:nvPicPr>
          <p:cNvPr id="92" name="Graphic 91" descr="Electrician female with solid fill">
            <a:extLst>
              <a:ext uri="{FF2B5EF4-FFF2-40B4-BE49-F238E27FC236}">
                <a16:creationId xmlns:a16="http://schemas.microsoft.com/office/drawing/2014/main" id="{02DCD8E4-1EA7-F1BD-83E8-345F66F12CBE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5628545" y="554641"/>
            <a:ext cx="624548" cy="624548"/>
          </a:xfrm>
          <a:prstGeom prst="rect">
            <a:avLst/>
          </a:prstGeom>
        </p:spPr>
      </p:pic>
      <p:pic>
        <p:nvPicPr>
          <p:cNvPr id="94" name="Graphic 93" descr="Stopwatch 75% with solid fill">
            <a:extLst>
              <a:ext uri="{FF2B5EF4-FFF2-40B4-BE49-F238E27FC236}">
                <a16:creationId xmlns:a16="http://schemas.microsoft.com/office/drawing/2014/main" id="{CF5DA06A-5D17-E2B7-5DBD-1D0FD5B2BC3C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6891221" y="554641"/>
            <a:ext cx="624548" cy="624548"/>
          </a:xfrm>
          <a:prstGeom prst="rect">
            <a:avLst/>
          </a:prstGeom>
        </p:spPr>
      </p:pic>
      <p:pic>
        <p:nvPicPr>
          <p:cNvPr id="96" name="Graphic 95" descr="Hourglass 30% with solid fill">
            <a:extLst>
              <a:ext uri="{FF2B5EF4-FFF2-40B4-BE49-F238E27FC236}">
                <a16:creationId xmlns:a16="http://schemas.microsoft.com/office/drawing/2014/main" id="{36566FF6-8BBB-177A-6C3D-FCBC6901206B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6259883" y="554641"/>
            <a:ext cx="624548" cy="624548"/>
          </a:xfrm>
          <a:prstGeom prst="rect">
            <a:avLst/>
          </a:prstGeom>
        </p:spPr>
      </p:pic>
      <p:pic>
        <p:nvPicPr>
          <p:cNvPr id="98" name="Graphic 97" descr="Stopwatch with solid fill">
            <a:extLst>
              <a:ext uri="{FF2B5EF4-FFF2-40B4-BE49-F238E27FC236}">
                <a16:creationId xmlns:a16="http://schemas.microsoft.com/office/drawing/2014/main" id="{C9980B4A-14F6-AA3A-8511-087556DE4C2E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8153897" y="554641"/>
            <a:ext cx="624548" cy="624548"/>
          </a:xfrm>
          <a:prstGeom prst="rect">
            <a:avLst/>
          </a:prstGeom>
        </p:spPr>
      </p:pic>
      <p:pic>
        <p:nvPicPr>
          <p:cNvPr id="100" name="Graphic 99" descr="Daily calendar with solid fill">
            <a:extLst>
              <a:ext uri="{FF2B5EF4-FFF2-40B4-BE49-F238E27FC236}">
                <a16:creationId xmlns:a16="http://schemas.microsoft.com/office/drawing/2014/main" id="{91C09056-C3B9-D293-0311-A685455F363A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522559" y="554641"/>
            <a:ext cx="624548" cy="624548"/>
          </a:xfrm>
          <a:prstGeom prst="rect">
            <a:avLst/>
          </a:prstGeom>
        </p:spPr>
      </p:pic>
      <p:pic>
        <p:nvPicPr>
          <p:cNvPr id="102" name="Graphic 101" descr="Flying Money with solid fill">
            <a:extLst>
              <a:ext uri="{FF2B5EF4-FFF2-40B4-BE49-F238E27FC236}">
                <a16:creationId xmlns:a16="http://schemas.microsoft.com/office/drawing/2014/main" id="{03174C52-A468-FE04-9316-E0AC2DFEF513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153897" y="1959279"/>
            <a:ext cx="624548" cy="624548"/>
          </a:xfrm>
          <a:prstGeom prst="rect">
            <a:avLst/>
          </a:prstGeom>
        </p:spPr>
      </p:pic>
      <p:pic>
        <p:nvPicPr>
          <p:cNvPr id="104" name="Graphic 103" descr="Coins with solid fill">
            <a:extLst>
              <a:ext uri="{FF2B5EF4-FFF2-40B4-BE49-F238E27FC236}">
                <a16:creationId xmlns:a16="http://schemas.microsoft.com/office/drawing/2014/main" id="{4C4EA889-797B-B182-F780-1734D3688BA6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7538900" y="1959279"/>
            <a:ext cx="624548" cy="624548"/>
          </a:xfrm>
          <a:prstGeom prst="rect">
            <a:avLst/>
          </a:prstGeom>
        </p:spPr>
      </p:pic>
      <p:pic>
        <p:nvPicPr>
          <p:cNvPr id="106" name="Graphic 105" descr="Bank with solid fill">
            <a:extLst>
              <a:ext uri="{FF2B5EF4-FFF2-40B4-BE49-F238E27FC236}">
                <a16:creationId xmlns:a16="http://schemas.microsoft.com/office/drawing/2014/main" id="{98D74E55-9AF7-0BFA-85B0-6FE9C400BEEA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6923903" y="1959279"/>
            <a:ext cx="624548" cy="624548"/>
          </a:xfrm>
          <a:prstGeom prst="rect">
            <a:avLst/>
          </a:prstGeom>
        </p:spPr>
      </p:pic>
      <p:pic>
        <p:nvPicPr>
          <p:cNvPr id="108" name="Graphic 107" descr="Chat with solid fill">
            <a:extLst>
              <a:ext uri="{FF2B5EF4-FFF2-40B4-BE49-F238E27FC236}">
                <a16:creationId xmlns:a16="http://schemas.microsoft.com/office/drawing/2014/main" id="{3ED99E6E-D742-3FAA-C8EB-EFF5D037D50F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4839373" y="1287277"/>
            <a:ext cx="624548" cy="624548"/>
          </a:xfrm>
          <a:prstGeom prst="rect">
            <a:avLst/>
          </a:prstGeom>
        </p:spPr>
      </p:pic>
      <p:pic>
        <p:nvPicPr>
          <p:cNvPr id="110" name="Graphic 109" descr="Warning with solid fill">
            <a:extLst>
              <a:ext uri="{FF2B5EF4-FFF2-40B4-BE49-F238E27FC236}">
                <a16:creationId xmlns:a16="http://schemas.microsoft.com/office/drawing/2014/main" id="{8503C925-3F91-6FF5-30BE-17E5EAA31CF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8153897" y="1287277"/>
            <a:ext cx="624548" cy="624548"/>
          </a:xfrm>
          <a:prstGeom prst="rect">
            <a:avLst/>
          </a:prstGeom>
        </p:spPr>
      </p:pic>
      <p:pic>
        <p:nvPicPr>
          <p:cNvPr id="112" name="Graphic 111" descr="Confused person with solid fill">
            <a:extLst>
              <a:ext uri="{FF2B5EF4-FFF2-40B4-BE49-F238E27FC236}">
                <a16:creationId xmlns:a16="http://schemas.microsoft.com/office/drawing/2014/main" id="{BCC2740D-34F4-1F69-8BE8-E93F97D49CBE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3734531" y="1287277"/>
            <a:ext cx="624548" cy="624548"/>
          </a:xfrm>
          <a:prstGeom prst="rect">
            <a:avLst/>
          </a:prstGeom>
        </p:spPr>
      </p:pic>
      <p:pic>
        <p:nvPicPr>
          <p:cNvPr id="114" name="Graphic 113" descr="Server with solid fill">
            <a:extLst>
              <a:ext uri="{FF2B5EF4-FFF2-40B4-BE49-F238E27FC236}">
                <a16:creationId xmlns:a16="http://schemas.microsoft.com/office/drawing/2014/main" id="{56C92512-B082-66DF-D4F1-FC95818E5ECE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4997207" y="554641"/>
            <a:ext cx="624548" cy="624548"/>
          </a:xfrm>
          <a:prstGeom prst="rect">
            <a:avLst/>
          </a:prstGeom>
        </p:spPr>
      </p:pic>
      <p:pic>
        <p:nvPicPr>
          <p:cNvPr id="116" name="Graphic 115" descr="Globe with solid fill">
            <a:extLst>
              <a:ext uri="{FF2B5EF4-FFF2-40B4-BE49-F238E27FC236}">
                <a16:creationId xmlns:a16="http://schemas.microsoft.com/office/drawing/2014/main" id="{19002F36-B3D9-62E1-E51B-D406A74F4615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3734531" y="554641"/>
            <a:ext cx="624548" cy="624548"/>
          </a:xfrm>
          <a:prstGeom prst="rect">
            <a:avLst/>
          </a:prstGeom>
        </p:spPr>
      </p:pic>
      <p:pic>
        <p:nvPicPr>
          <p:cNvPr id="118" name="Graphic 117" descr="Presentation with media with solid fill">
            <a:extLst>
              <a:ext uri="{FF2B5EF4-FFF2-40B4-BE49-F238E27FC236}">
                <a16:creationId xmlns:a16="http://schemas.microsoft.com/office/drawing/2014/main" id="{B03B8C98-4312-D980-5E96-6411468A7507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6496636" y="1287277"/>
            <a:ext cx="624548" cy="624548"/>
          </a:xfrm>
          <a:prstGeom prst="rect">
            <a:avLst/>
          </a:prstGeom>
        </p:spPr>
      </p:pic>
      <p:pic>
        <p:nvPicPr>
          <p:cNvPr id="120" name="Graphic 119" descr="Presentation with bar chart with solid fill">
            <a:extLst>
              <a:ext uri="{FF2B5EF4-FFF2-40B4-BE49-F238E27FC236}">
                <a16:creationId xmlns:a16="http://schemas.microsoft.com/office/drawing/2014/main" id="{04B69D9D-D451-0D5C-2216-22381EA2453C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7601478" y="1287277"/>
            <a:ext cx="624548" cy="624548"/>
          </a:xfrm>
          <a:prstGeom prst="rect">
            <a:avLst/>
          </a:prstGeom>
        </p:spPr>
      </p:pic>
      <p:pic>
        <p:nvPicPr>
          <p:cNvPr id="122" name="Graphic 121" descr="Teacher with solid fill">
            <a:extLst>
              <a:ext uri="{FF2B5EF4-FFF2-40B4-BE49-F238E27FC236}">
                <a16:creationId xmlns:a16="http://schemas.microsoft.com/office/drawing/2014/main" id="{3C0BDE4A-D718-77AB-9419-B3D94EA0650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49057" y="1287277"/>
            <a:ext cx="624548" cy="62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9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8D92-BD61-BB31-8507-E00CCFEC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ullGraph.png">
            <a:extLst>
              <a:ext uri="{FF2B5EF4-FFF2-40B4-BE49-F238E27FC236}">
                <a16:creationId xmlns:a16="http://schemas.microsoft.com/office/drawing/2014/main" id="{BBCACEBD-C2D0-C86A-6A0A-97AAB1A19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" y="0"/>
            <a:ext cx="9138971" cy="5140800"/>
          </a:xfrm>
          <a:prstGeom prst="rect">
            <a:avLst/>
          </a:prstGeom>
        </p:spPr>
      </p:pic>
      <p:graphicFrame>
        <p:nvGraphicFramePr>
          <p:cNvPr id="37" name="think-cell data - do not delete" hidden="1">
            <a:extLst>
              <a:ext uri="{FF2B5EF4-FFF2-40B4-BE49-F238E27FC236}">
                <a16:creationId xmlns:a16="http://schemas.microsoft.com/office/drawing/2014/main" id="{192FFF47-A04C-E883-8A55-1426E91FCB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854522"/>
              </p:ext>
            </p:ext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FFF47-A04C-E883-8A55-1426E91FCB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413DDA8C-D82E-2DC3-D88A-D0229FE877C5}"/>
              </a:ext>
            </a:extLst>
          </p:cNvPr>
          <p:cNvSpPr/>
          <p:nvPr/>
        </p:nvSpPr>
        <p:spPr>
          <a:xfrm rot="10800000">
            <a:off x="-7522" y="-10380"/>
            <a:ext cx="9151521" cy="515192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32000">
                <a:schemeClr val="accent1">
                  <a:lumMod val="75000"/>
                </a:schemeClr>
              </a:gs>
              <a:gs pos="81000">
                <a:srgbClr val="141414">
                  <a:alpha val="43529"/>
                  <a:alpha val="3291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B6738-6FFC-8588-A55A-6C8CD68DA246}"/>
              </a:ext>
            </a:extLst>
          </p:cNvPr>
          <p:cNvSpPr txBox="1"/>
          <p:nvPr/>
        </p:nvSpPr>
        <p:spPr>
          <a:xfrm>
            <a:off x="289262" y="1015438"/>
            <a:ext cx="5806738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91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FFFF"/>
                </a:solidFill>
              </a:rPr>
              <a:t>Execution-Aware A* Search for
Cross-Exchange Stablecoin Arbitrage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570F59-B905-ACA9-9FE0-752DF6755F04}"/>
              </a:ext>
            </a:extLst>
          </p:cNvPr>
          <p:cNvSpPr txBox="1"/>
          <p:nvPr/>
        </p:nvSpPr>
        <p:spPr>
          <a:xfrm>
            <a:off x="342523" y="2755732"/>
            <a:ext cx="4808122" cy="66300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63907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</a:pPr>
            <a:r>
              <a:rPr lang="en-US" sz="1125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Kevin </a:t>
            </a:r>
            <a:r>
              <a:rPr lang="en-US" sz="1125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Littvin</a:t>
            </a:r>
            <a:r>
              <a:rPr lang="en-US" sz="1125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– Simon Fraser University </a:t>
            </a:r>
          </a:p>
          <a:p>
            <a:pPr>
              <a:spcAft>
                <a:spcPts val="225"/>
              </a:spcAft>
            </a:pPr>
            <a:endParaRPr lang="en-US" sz="1125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225"/>
              </a:spcAft>
            </a:pPr>
            <a:r>
              <a:rPr lang="en-US" sz="1125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Canadian AI 2026 - GSS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9A3CF-2D2F-15C5-A4C2-6E035A70C632}"/>
              </a:ext>
            </a:extLst>
          </p:cNvPr>
          <p:cNvSpPr txBox="1"/>
          <p:nvPr/>
        </p:nvSpPr>
        <p:spPr>
          <a:xfrm>
            <a:off x="342522" y="2085410"/>
            <a:ext cx="4458079" cy="69762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63907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</a:pPr>
            <a:r>
              <a:rPr lang="en-CA" sz="1200" i="1" dirty="0">
                <a:solidFill>
                  <a:schemeClr val="bg1"/>
                </a:solidFill>
              </a:rPr>
              <a:t>Can domain-specific heuristics steer search faster than
general-purpose graph algorithms without sacrificing profit?</a:t>
            </a:r>
          </a:p>
          <a:p>
            <a:pPr>
              <a:spcAft>
                <a:spcPts val="225"/>
              </a:spcAft>
            </a:pPr>
            <a:endParaRPr lang="en-US" sz="12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DC6B8-543F-5581-A84D-03EE7CB02632}"/>
              </a:ext>
            </a:extLst>
          </p:cNvPr>
          <p:cNvSpPr txBox="1"/>
          <p:nvPr/>
        </p:nvSpPr>
        <p:spPr>
          <a:xfrm>
            <a:off x="7924800" y="634365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05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543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4">
          <a:extLst>
            <a:ext uri="{FF2B5EF4-FFF2-40B4-BE49-F238E27FC236}">
              <a16:creationId xmlns:a16="http://schemas.microsoft.com/office/drawing/2014/main" id="{749E7C08-71B4-7667-72DE-A2C1C0A2A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3A0DCE3-8754-66EB-487F-1005EE10F24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C5B8BA-C290-98BF-C670-0A560B00FD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9D9D97-C98E-F45C-9B1A-4B4992D8B8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CA">
                <a:latin typeface="Helvetica Neue" panose="020B0604020202020204" charset="0"/>
              </a:rPr>
              <a:t>Source: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6DA33-B3D0-F623-44C4-B7B161B9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Stablecoin: Bridging international crypto trade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72896EC-1FC6-5DDE-4C45-56BB612F51BB}"/>
              </a:ext>
            </a:extLst>
          </p:cNvPr>
          <p:cNvGrpSpPr/>
          <p:nvPr/>
        </p:nvGrpSpPr>
        <p:grpSpPr>
          <a:xfrm>
            <a:off x="289964" y="576065"/>
            <a:ext cx="3388901" cy="682351"/>
            <a:chOff x="326498" y="1162427"/>
            <a:chExt cx="3869376" cy="32489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1C3AD2F-393B-62A8-B74A-F72BC5AC8D27}"/>
                </a:ext>
              </a:extLst>
            </p:cNvPr>
            <p:cNvCxnSpPr>
              <a:cxnSpLocks/>
            </p:cNvCxnSpPr>
            <p:nvPr/>
          </p:nvCxnSpPr>
          <p:spPr>
            <a:xfrm>
              <a:off x="326498" y="1443036"/>
              <a:ext cx="3869376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AEA0844-9C9B-E6B6-C19F-4CDD01647E3E}"/>
                </a:ext>
              </a:extLst>
            </p:cNvPr>
            <p:cNvSpPr/>
            <p:nvPr/>
          </p:nvSpPr>
          <p:spPr>
            <a:xfrm>
              <a:off x="326498" y="1162427"/>
              <a:ext cx="3805657" cy="324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2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Key stablecoin stats</a:t>
              </a:r>
              <a:endParaRPr lang="en-US" sz="12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61959C1-AC48-992E-1992-43C300A5A6FA}"/>
              </a:ext>
            </a:extLst>
          </p:cNvPr>
          <p:cNvSpPr txBox="1"/>
          <p:nvPr/>
        </p:nvSpPr>
        <p:spPr>
          <a:xfrm>
            <a:off x="1786270" y="1413604"/>
            <a:ext cx="1892595" cy="521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0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Circulating supply</a:t>
            </a:r>
          </a:p>
        </p:txBody>
      </p:sp>
      <p:sp>
        <p:nvSpPr>
          <p:cNvPr id="49" name="Google Shape;147;p10">
            <a:extLst>
              <a:ext uri="{FF2B5EF4-FFF2-40B4-BE49-F238E27FC236}">
                <a16:creationId xmlns:a16="http://schemas.microsoft.com/office/drawing/2014/main" id="{E41D22B6-36D3-004A-C013-14A02B847476}"/>
              </a:ext>
            </a:extLst>
          </p:cNvPr>
          <p:cNvSpPr/>
          <p:nvPr/>
        </p:nvSpPr>
        <p:spPr>
          <a:xfrm>
            <a:off x="289964" y="1239504"/>
            <a:ext cx="1538836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$300B +</a:t>
            </a:r>
            <a:endParaRPr sz="700" i="1" dirty="0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538551-3F95-012E-3F0E-82B77A4A24BB}"/>
              </a:ext>
            </a:extLst>
          </p:cNvPr>
          <p:cNvSpPr txBox="1"/>
          <p:nvPr/>
        </p:nvSpPr>
        <p:spPr>
          <a:xfrm>
            <a:off x="1756864" y="2282915"/>
            <a:ext cx="1922001" cy="521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0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Annual on-chain volume (2024)</a:t>
            </a:r>
          </a:p>
        </p:txBody>
      </p:sp>
      <p:sp>
        <p:nvSpPr>
          <p:cNvPr id="51" name="Google Shape;147;p10">
            <a:extLst>
              <a:ext uri="{FF2B5EF4-FFF2-40B4-BE49-F238E27FC236}">
                <a16:creationId xmlns:a16="http://schemas.microsoft.com/office/drawing/2014/main" id="{E213BD69-A96D-8616-C349-8103E4562CB1}"/>
              </a:ext>
            </a:extLst>
          </p:cNvPr>
          <p:cNvSpPr/>
          <p:nvPr/>
        </p:nvSpPr>
        <p:spPr>
          <a:xfrm>
            <a:off x="289964" y="2127594"/>
            <a:ext cx="12966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$33T</a:t>
            </a:r>
            <a:endParaRPr sz="700" i="1" dirty="0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pic>
        <p:nvPicPr>
          <p:cNvPr id="54" name="Picture 53" descr="fin_market_share.png">
            <a:extLst>
              <a:ext uri="{FF2B5EF4-FFF2-40B4-BE49-F238E27FC236}">
                <a16:creationId xmlns:a16="http://schemas.microsoft.com/office/drawing/2014/main" id="{B1462CE6-AE1F-0FD6-14D1-31990C8C7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964" y="3087998"/>
            <a:ext cx="8506563" cy="1817029"/>
          </a:xfrm>
          <a:prstGeom prst="rect">
            <a:avLst/>
          </a:prstGeom>
        </p:spPr>
      </p:pic>
      <p:sp>
        <p:nvSpPr>
          <p:cNvPr id="55" name="Google Shape;260;p8">
            <a:extLst>
              <a:ext uri="{FF2B5EF4-FFF2-40B4-BE49-F238E27FC236}">
                <a16:creationId xmlns:a16="http://schemas.microsoft.com/office/drawing/2014/main" id="{F77E695B-B62F-46AA-8ACA-7A9645E35015}"/>
              </a:ext>
            </a:extLst>
          </p:cNvPr>
          <p:cNvSpPr txBox="1"/>
          <p:nvPr/>
        </p:nvSpPr>
        <p:spPr>
          <a:xfrm>
            <a:off x="4572000" y="1392608"/>
            <a:ext cx="4224528" cy="1695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CA" sz="1100" b="1" i="0" u="none" strike="noStrike" cap="none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 Light"/>
              </a:rPr>
              <a:t>Say its spread across 12 different markets fragmentation, pathfinding/arbitrage possible? </a:t>
            </a:r>
          </a:p>
        </p:txBody>
      </p:sp>
    </p:spTree>
    <p:extLst>
      <p:ext uri="{BB962C8B-B14F-4D97-AF65-F5344CB8AC3E}">
        <p14:creationId xmlns:p14="http://schemas.microsoft.com/office/powerpoint/2010/main" val="2991442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1">
          <a:extLst>
            <a:ext uri="{FF2B5EF4-FFF2-40B4-BE49-F238E27FC236}">
              <a16:creationId xmlns:a16="http://schemas.microsoft.com/office/drawing/2014/main" id="{0CD8BCE3-8C80-5893-87EE-5C02DC742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2DD4F52-64FF-9D11-8BAD-B97597A6E71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59AF09-2E76-9AF7-E870-4F393365FA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1CE61D0-964C-99DC-C9CA-AB06141DF1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EDEC0C51-4957-CC2A-BF58-95E7DAA8E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shortest-path isn’t enough: 4 real-world costs</a:t>
            </a:r>
          </a:p>
        </p:txBody>
      </p:sp>
      <p:sp>
        <p:nvSpPr>
          <p:cNvPr id="1811" name="Google Shape;1811;p59">
            <a:extLst>
              <a:ext uri="{FF2B5EF4-FFF2-40B4-BE49-F238E27FC236}">
                <a16:creationId xmlns:a16="http://schemas.microsoft.com/office/drawing/2014/main" id="{C5A0CD30-FA75-7B14-12F6-FFAE526185FE}"/>
              </a:ext>
            </a:extLst>
          </p:cNvPr>
          <p:cNvSpPr/>
          <p:nvPr/>
        </p:nvSpPr>
        <p:spPr>
          <a:xfrm>
            <a:off x="592038" y="1919775"/>
            <a:ext cx="1902638" cy="206825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1822" name="Google Shape;1822;p59">
            <a:extLst>
              <a:ext uri="{FF2B5EF4-FFF2-40B4-BE49-F238E27FC236}">
                <a16:creationId xmlns:a16="http://schemas.microsoft.com/office/drawing/2014/main" id="{EBDDF3D8-A248-CAF6-6381-748E11EFF65D}"/>
              </a:ext>
            </a:extLst>
          </p:cNvPr>
          <p:cNvSpPr/>
          <p:nvPr/>
        </p:nvSpPr>
        <p:spPr>
          <a:xfrm>
            <a:off x="2647076" y="1919775"/>
            <a:ext cx="1902638" cy="206825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7" name="Google Shape;1804;p59">
            <a:extLst>
              <a:ext uri="{FF2B5EF4-FFF2-40B4-BE49-F238E27FC236}">
                <a16:creationId xmlns:a16="http://schemas.microsoft.com/office/drawing/2014/main" id="{5D7AA06F-F56B-12A2-FF9C-A8176D33A9A8}"/>
              </a:ext>
            </a:extLst>
          </p:cNvPr>
          <p:cNvSpPr/>
          <p:nvPr/>
        </p:nvSpPr>
        <p:spPr>
          <a:xfrm>
            <a:off x="4748375" y="1919775"/>
            <a:ext cx="1902638" cy="206825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3. Latency</a:t>
            </a:r>
            <a:r>
              <a:rPr lang="en-CA" sz="1200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Cross-exchange transfers settle on-chain, blockchain transfer times decrease window of opportunity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" name="Google Shape;1804;p59">
            <a:extLst>
              <a:ext uri="{FF2B5EF4-FFF2-40B4-BE49-F238E27FC236}">
                <a16:creationId xmlns:a16="http://schemas.microsoft.com/office/drawing/2014/main" id="{CE273F8B-49D1-6E4B-97D8-043FBEBEDAC3}"/>
              </a:ext>
            </a:extLst>
          </p:cNvPr>
          <p:cNvSpPr/>
          <p:nvPr/>
        </p:nvSpPr>
        <p:spPr>
          <a:xfrm>
            <a:off x="6801724" y="1919775"/>
            <a:ext cx="1902638" cy="206825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4. Operational risk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Withdrawals paused, regions geofenced, VPNs blocked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" name="Google Shape;1811;p59">
            <a:extLst>
              <a:ext uri="{FF2B5EF4-FFF2-40B4-BE49-F238E27FC236}">
                <a16:creationId xmlns:a16="http://schemas.microsoft.com/office/drawing/2014/main" id="{9927E59C-B48B-AA1F-C437-2338394760E1}"/>
              </a:ext>
            </a:extLst>
          </p:cNvPr>
          <p:cNvSpPr/>
          <p:nvPr/>
        </p:nvSpPr>
        <p:spPr>
          <a:xfrm>
            <a:off x="439638" y="1919775"/>
            <a:ext cx="1902638" cy="206825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CA" sz="1200" b="1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1. Fees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CA" sz="1200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Taker fees compound across every hop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" name="Google Shape;1822;p59">
            <a:extLst>
              <a:ext uri="{FF2B5EF4-FFF2-40B4-BE49-F238E27FC236}">
                <a16:creationId xmlns:a16="http://schemas.microsoft.com/office/drawing/2014/main" id="{00F712BA-3400-F44E-06B5-43F9AE5E0B53}"/>
              </a:ext>
            </a:extLst>
          </p:cNvPr>
          <p:cNvSpPr/>
          <p:nvPr/>
        </p:nvSpPr>
        <p:spPr>
          <a:xfrm>
            <a:off x="2691650" y="1919775"/>
            <a:ext cx="1902638" cy="206825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2. Slippage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latin typeface="Helvetica Neue" panose="020B0604020202020204" charset="0"/>
                <a:ea typeface="Source Sans Pro"/>
                <a:cs typeface="Source Sans Pro"/>
                <a:sym typeface="Source Sans Pro"/>
              </a:rPr>
              <a:t>Large orders walk the L2 book, VWAP diverges from the midpoint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B060402020202020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" name="Google Shape;160;p13">
            <a:extLst>
              <a:ext uri="{FF2B5EF4-FFF2-40B4-BE49-F238E27FC236}">
                <a16:creationId xmlns:a16="http://schemas.microsoft.com/office/drawing/2014/main" id="{D63EDC7D-99C8-C192-D49A-2D5B76BE41F1}"/>
              </a:ext>
            </a:extLst>
          </p:cNvPr>
          <p:cNvSpPr/>
          <p:nvPr/>
        </p:nvSpPr>
        <p:spPr>
          <a:xfrm>
            <a:off x="0" y="771975"/>
            <a:ext cx="9144000" cy="72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225"/>
              </a:spcAft>
            </a:pPr>
            <a:r>
              <a:rPr lang="en-CA" sz="1600" i="1" dirty="0">
                <a:solidFill>
                  <a:schemeClr val="tx1"/>
                </a:solidFill>
              </a:rPr>
              <a:t>Can domain-specific heuristics steer search faster than
general-purpose graph algorithms without sacrificing profit?</a:t>
            </a:r>
          </a:p>
        </p:txBody>
      </p:sp>
    </p:spTree>
    <p:extLst>
      <p:ext uri="{BB962C8B-B14F-4D97-AF65-F5344CB8AC3E}">
        <p14:creationId xmlns:p14="http://schemas.microsoft.com/office/powerpoint/2010/main" val="3690694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47F3-7E09-1914-533A-FFACE053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470BC2D-FB10-C669-65BD-80FAAA5E203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F13A56-0641-5FF7-4B19-836E7D2AA2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C6484DA-E80C-3BA5-B4A1-5574D74D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dirty="0"/>
              <a:t>The dataset: first academically integrated CEX stablecoin graph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E857E7-6660-1C06-A824-F6F86D9D43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9A2FEE-A6D1-CC28-A4E5-7C68E96F241B}"/>
              </a:ext>
            </a:extLst>
          </p:cNvPr>
          <p:cNvGrpSpPr/>
          <p:nvPr/>
        </p:nvGrpSpPr>
        <p:grpSpPr>
          <a:xfrm>
            <a:off x="268875" y="767644"/>
            <a:ext cx="3791971" cy="227476"/>
            <a:chOff x="268875" y="767644"/>
            <a:chExt cx="3791971" cy="2274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D2CF35-F8EA-B081-2CAA-6FC5D0B1B5C4}"/>
                </a:ext>
              </a:extLst>
            </p:cNvPr>
            <p:cNvSpPr/>
            <p:nvPr/>
          </p:nvSpPr>
          <p:spPr>
            <a:xfrm>
              <a:off x="268875" y="767644"/>
              <a:ext cx="3620456" cy="2166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Lorem ipsum …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7662BE-D838-8599-00F4-69DEA3787E14}"/>
                </a:ext>
              </a:extLst>
            </p:cNvPr>
            <p:cNvCxnSpPr>
              <a:cxnSpLocks/>
            </p:cNvCxnSpPr>
            <p:nvPr/>
          </p:nvCxnSpPr>
          <p:spPr>
            <a:xfrm>
              <a:off x="275722" y="995120"/>
              <a:ext cx="3785124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80D16F9-C529-205D-33E5-832DAEE5328E}"/>
              </a:ext>
            </a:extLst>
          </p:cNvPr>
          <p:cNvGrpSpPr/>
          <p:nvPr/>
        </p:nvGrpSpPr>
        <p:grpSpPr>
          <a:xfrm>
            <a:off x="5254671" y="759157"/>
            <a:ext cx="3638510" cy="235964"/>
            <a:chOff x="4569486" y="759157"/>
            <a:chExt cx="4323696" cy="23759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5548697-D4A5-097F-F213-32D0AC2F892A}"/>
                </a:ext>
              </a:extLst>
            </p:cNvPr>
            <p:cNvSpPr/>
            <p:nvPr/>
          </p:nvSpPr>
          <p:spPr>
            <a:xfrm>
              <a:off x="4569486" y="759157"/>
              <a:ext cx="4305640" cy="2166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CA" sz="1100" b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… </a:t>
              </a:r>
              <a:r>
                <a:rPr lang="en-US" sz="1100" b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lorem ipsum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51D2B59-26BF-A297-DDA9-4BAE79D93D6B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996747"/>
              <a:ext cx="4321182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81FDF818-5272-28F3-7F3C-1F174D92DD80}"/>
              </a:ext>
            </a:extLst>
          </p:cNvPr>
          <p:cNvSpPr/>
          <p:nvPr/>
        </p:nvSpPr>
        <p:spPr>
          <a:xfrm>
            <a:off x="5341868" y="4230855"/>
            <a:ext cx="3533251" cy="35552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</p:txBody>
      </p:sp>
      <p:sp>
        <p:nvSpPr>
          <p:cNvPr id="10" name="Google Shape;160;p13">
            <a:extLst>
              <a:ext uri="{FF2B5EF4-FFF2-40B4-BE49-F238E27FC236}">
                <a16:creationId xmlns:a16="http://schemas.microsoft.com/office/drawing/2014/main" id="{A91AA73F-A7E6-4140-2108-2969AB651A83}"/>
              </a:ext>
            </a:extLst>
          </p:cNvPr>
          <p:cNvSpPr/>
          <p:nvPr/>
        </p:nvSpPr>
        <p:spPr>
          <a:xfrm rot="16200000">
            <a:off x="-444891" y="2164748"/>
            <a:ext cx="1984296" cy="543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CA" sz="1050" b="1">
                <a:solidFill>
                  <a:schemeClr val="accent1"/>
                </a:solidFill>
                <a:latin typeface="Helvetica Neue" panose="02000503000000020004"/>
                <a:ea typeface="Noto Sans"/>
                <a:cs typeface="Noto Sans"/>
                <a:sym typeface="Noto Sans"/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7404D7-1F44-2BA7-4768-6DC83349BA78}"/>
              </a:ext>
            </a:extLst>
          </p:cNvPr>
          <p:cNvSpPr txBox="1"/>
          <p:nvPr/>
        </p:nvSpPr>
        <p:spPr>
          <a:xfrm>
            <a:off x="6350000" y="1371074"/>
            <a:ext cx="2501521" cy="52119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0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Most popular centralized cryptocurrency exchanges</a:t>
            </a:r>
          </a:p>
        </p:txBody>
      </p:sp>
      <p:sp>
        <p:nvSpPr>
          <p:cNvPr id="22" name="Google Shape;147;p10">
            <a:extLst>
              <a:ext uri="{FF2B5EF4-FFF2-40B4-BE49-F238E27FC236}">
                <a16:creationId xmlns:a16="http://schemas.microsoft.com/office/drawing/2014/main" id="{13F441E0-6C16-C693-CC89-A156F1740FBA}"/>
              </a:ext>
            </a:extLst>
          </p:cNvPr>
          <p:cNvSpPr/>
          <p:nvPr/>
        </p:nvSpPr>
        <p:spPr>
          <a:xfrm>
            <a:off x="4983078" y="1194768"/>
            <a:ext cx="12966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12</a:t>
            </a:r>
            <a:endParaRPr sz="700" i="1" dirty="0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FB7C28-FD81-3114-42A3-B906A87121E7}"/>
              </a:ext>
            </a:extLst>
          </p:cNvPr>
          <p:cNvSpPr txBox="1"/>
          <p:nvPr/>
        </p:nvSpPr>
        <p:spPr>
          <a:xfrm>
            <a:off x="6350000" y="2259164"/>
            <a:ext cx="2501521" cy="46838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0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Nodes, representing possible coins to trade</a:t>
            </a:r>
          </a:p>
        </p:txBody>
      </p:sp>
      <p:sp>
        <p:nvSpPr>
          <p:cNvPr id="30" name="Google Shape;147;p10">
            <a:extLst>
              <a:ext uri="{FF2B5EF4-FFF2-40B4-BE49-F238E27FC236}">
                <a16:creationId xmlns:a16="http://schemas.microsoft.com/office/drawing/2014/main" id="{4DB45BF2-2B6B-DBB5-02F9-DF40151009BB}"/>
              </a:ext>
            </a:extLst>
          </p:cNvPr>
          <p:cNvSpPr/>
          <p:nvPr/>
        </p:nvSpPr>
        <p:spPr>
          <a:xfrm>
            <a:off x="4983078" y="2082858"/>
            <a:ext cx="12966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41</a:t>
            </a:r>
            <a:endParaRPr sz="700" i="1" dirty="0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39B1A2-B2A4-4DDD-DEFE-C642F18E6200}"/>
              </a:ext>
            </a:extLst>
          </p:cNvPr>
          <p:cNvSpPr txBox="1"/>
          <p:nvPr/>
        </p:nvSpPr>
        <p:spPr>
          <a:xfrm>
            <a:off x="6350000" y="3147254"/>
            <a:ext cx="2501521" cy="46838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0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Directed edges representing possible trades</a:t>
            </a:r>
          </a:p>
        </p:txBody>
      </p:sp>
      <p:sp>
        <p:nvSpPr>
          <p:cNvPr id="33" name="Google Shape;147;p10">
            <a:extLst>
              <a:ext uri="{FF2B5EF4-FFF2-40B4-BE49-F238E27FC236}">
                <a16:creationId xmlns:a16="http://schemas.microsoft.com/office/drawing/2014/main" id="{B3F440E6-FCAF-E527-E5FD-904731BBBC66}"/>
              </a:ext>
            </a:extLst>
          </p:cNvPr>
          <p:cNvSpPr/>
          <p:nvPr/>
        </p:nvSpPr>
        <p:spPr>
          <a:xfrm>
            <a:off x="4983078" y="2974322"/>
            <a:ext cx="12966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864</a:t>
            </a:r>
            <a:endParaRPr sz="700" dirty="0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45" name="Triangle 44">
            <a:extLst>
              <a:ext uri="{FF2B5EF4-FFF2-40B4-BE49-F238E27FC236}">
                <a16:creationId xmlns:a16="http://schemas.microsoft.com/office/drawing/2014/main" id="{D9BEE6E4-1376-2874-D33B-ACD9ED2BFA10}"/>
              </a:ext>
            </a:extLst>
          </p:cNvPr>
          <p:cNvSpPr/>
          <p:nvPr/>
        </p:nvSpPr>
        <p:spPr>
          <a:xfrm rot="10800000">
            <a:off x="5299702" y="3922998"/>
            <a:ext cx="3533251" cy="13596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054E54-1DA0-71EC-A0D2-485C864C997F}"/>
              </a:ext>
            </a:extLst>
          </p:cNvPr>
          <p:cNvCxnSpPr>
            <a:cxnSpLocks/>
          </p:cNvCxnSpPr>
          <p:nvPr/>
        </p:nvCxnSpPr>
        <p:spPr>
          <a:xfrm>
            <a:off x="4758663" y="822964"/>
            <a:ext cx="0" cy="387041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ullGraph.png">
            <a:extLst>
              <a:ext uri="{FF2B5EF4-FFF2-40B4-BE49-F238E27FC236}">
                <a16:creationId xmlns:a16="http://schemas.microsoft.com/office/drawing/2014/main" id="{493537BD-591D-BBE5-F796-4AE211BE9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252" y="1185719"/>
            <a:ext cx="4161611" cy="333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6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EFF44357-42C5-D84E-B4F7-4DEC6CF7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D249986-D8B2-4DF6-8801-23369F65AEA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8866CF-1971-DDCE-B945-994E16B7A4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A37B9573-B90E-0A76-CDB0-AE7AB2D8B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Methodology: A* search with execution-aware heuristic</a:t>
            </a:r>
          </a:p>
        </p:txBody>
      </p:sp>
      <p:sp>
        <p:nvSpPr>
          <p:cNvPr id="2297" name="Google Shape;2297;p66">
            <a:extLst>
              <a:ext uri="{FF2B5EF4-FFF2-40B4-BE49-F238E27FC236}">
                <a16:creationId xmlns:a16="http://schemas.microsoft.com/office/drawing/2014/main" id="{D788CB6A-7737-0393-7C08-6A36B1E1CCE8}"/>
              </a:ext>
            </a:extLst>
          </p:cNvPr>
          <p:cNvSpPr/>
          <p:nvPr/>
        </p:nvSpPr>
        <p:spPr>
          <a:xfrm>
            <a:off x="402000" y="1658403"/>
            <a:ext cx="1966341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CA" b="1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Problem formulation</a:t>
            </a:r>
            <a:endParaRPr b="1" i="0" u="none" strike="noStrike" cap="none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2301" name="Google Shape;2301;p66">
            <a:extLst>
              <a:ext uri="{FF2B5EF4-FFF2-40B4-BE49-F238E27FC236}">
                <a16:creationId xmlns:a16="http://schemas.microsoft.com/office/drawing/2014/main" id="{F7F23794-0131-4C34-FF01-BC526C9BCD3E}"/>
              </a:ext>
            </a:extLst>
          </p:cNvPr>
          <p:cNvSpPr/>
          <p:nvPr/>
        </p:nvSpPr>
        <p:spPr>
          <a:xfrm>
            <a:off x="402000" y="2129688"/>
            <a:ext cx="1966341" cy="249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Defining a profitable path as P: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2302" name="Google Shape;2302;p66">
            <a:extLst>
              <a:ext uri="{FF2B5EF4-FFF2-40B4-BE49-F238E27FC236}">
                <a16:creationId xmlns:a16="http://schemas.microsoft.com/office/drawing/2014/main" id="{71D77ABE-17C4-C2B9-316F-FA192B5DC18F}"/>
              </a:ext>
            </a:extLst>
          </p:cNvPr>
          <p:cNvSpPr/>
          <p:nvPr/>
        </p:nvSpPr>
        <p:spPr>
          <a:xfrm>
            <a:off x="2368341" y="3211764"/>
            <a:ext cx="1231900" cy="3904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7" name="Google Shape;160;p13">
            <a:extLst>
              <a:ext uri="{FF2B5EF4-FFF2-40B4-BE49-F238E27FC236}">
                <a16:creationId xmlns:a16="http://schemas.microsoft.com/office/drawing/2014/main" id="{1CB212FD-380A-CF83-6152-DAB82A441742}"/>
              </a:ext>
            </a:extLst>
          </p:cNvPr>
          <p:cNvSpPr/>
          <p:nvPr/>
        </p:nvSpPr>
        <p:spPr>
          <a:xfrm>
            <a:off x="0" y="771975"/>
            <a:ext cx="9144000" cy="346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CA" sz="1050" b="1" dirty="0">
                <a:solidFill>
                  <a:schemeClr val="accent1"/>
                </a:solidFill>
                <a:latin typeface="Helvetica Neue" panose="02000503000000020004"/>
                <a:ea typeface="Noto Sans"/>
                <a:cs typeface="Noto Sans"/>
                <a:sym typeface="Noto Sans"/>
              </a:rPr>
              <a:t>Key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FFDE1-2054-BED0-B059-325700EACA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2297;p66">
            <a:extLst>
              <a:ext uri="{FF2B5EF4-FFF2-40B4-BE49-F238E27FC236}">
                <a16:creationId xmlns:a16="http://schemas.microsoft.com/office/drawing/2014/main" id="{ABCB4AE4-C8C2-C646-823E-9BDF96C945D9}"/>
              </a:ext>
            </a:extLst>
          </p:cNvPr>
          <p:cNvSpPr/>
          <p:nvPr/>
        </p:nvSpPr>
        <p:spPr>
          <a:xfrm>
            <a:off x="3620352" y="1655290"/>
            <a:ext cx="1966341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CA" b="1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Standard A*</a:t>
            </a:r>
            <a:endParaRPr b="1" i="0" u="none" strike="noStrike" cap="none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10" name="Google Shape;2298;p66">
            <a:extLst>
              <a:ext uri="{FF2B5EF4-FFF2-40B4-BE49-F238E27FC236}">
                <a16:creationId xmlns:a16="http://schemas.microsoft.com/office/drawing/2014/main" id="{B33E569F-32C0-1F21-F468-6C3BEEC2EF36}"/>
              </a:ext>
            </a:extLst>
          </p:cNvPr>
          <p:cNvSpPr/>
          <p:nvPr/>
        </p:nvSpPr>
        <p:spPr>
          <a:xfrm>
            <a:off x="6838704" y="1655290"/>
            <a:ext cx="1966341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CA" b="1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Modified A*</a:t>
            </a:r>
            <a:endParaRPr b="1" i="0" u="none" strike="noStrike" cap="none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11" name="Google Shape;2300;p66">
            <a:extLst>
              <a:ext uri="{FF2B5EF4-FFF2-40B4-BE49-F238E27FC236}">
                <a16:creationId xmlns:a16="http://schemas.microsoft.com/office/drawing/2014/main" id="{8C25C46A-0CD1-F74E-63F6-AD3BE072C8B3}"/>
              </a:ext>
            </a:extLst>
          </p:cNvPr>
          <p:cNvSpPr/>
          <p:nvPr/>
        </p:nvSpPr>
        <p:spPr>
          <a:xfrm>
            <a:off x="6838704" y="2126576"/>
            <a:ext cx="1966341" cy="249311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CA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f(n) = g(n) + h(n)</a:t>
            </a:r>
          </a:p>
          <a:p>
            <a:pPr lvl="0" algn="ctr"/>
            <a:endParaRPr lang="en-CA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lvl="0" algn="ctr"/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Does not know what the final node is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h(n) represents the penalty for the risk of the trade from node n to node n+1 </a:t>
            </a:r>
          </a:p>
        </p:txBody>
      </p:sp>
      <p:sp>
        <p:nvSpPr>
          <p:cNvPr id="12" name="Google Shape;2301;p66">
            <a:extLst>
              <a:ext uri="{FF2B5EF4-FFF2-40B4-BE49-F238E27FC236}">
                <a16:creationId xmlns:a16="http://schemas.microsoft.com/office/drawing/2014/main" id="{4535B91D-4F0F-A5BF-6114-A37C98C92DE5}"/>
              </a:ext>
            </a:extLst>
          </p:cNvPr>
          <p:cNvSpPr/>
          <p:nvPr/>
        </p:nvSpPr>
        <p:spPr>
          <a:xfrm>
            <a:off x="3620352" y="2126576"/>
            <a:ext cx="1966341" cy="2493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f(n) = g(n) + h(n)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Has context for final node 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Uses final node as estimation for h(n)</a:t>
            </a:r>
            <a:endParaRPr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sp>
        <p:nvSpPr>
          <p:cNvPr id="13" name="Google Shape;2302;p66">
            <a:extLst>
              <a:ext uri="{FF2B5EF4-FFF2-40B4-BE49-F238E27FC236}">
                <a16:creationId xmlns:a16="http://schemas.microsoft.com/office/drawing/2014/main" id="{773DE138-FA3A-E9BA-2B9D-0F5D1F50A2AD}"/>
              </a:ext>
            </a:extLst>
          </p:cNvPr>
          <p:cNvSpPr/>
          <p:nvPr/>
        </p:nvSpPr>
        <p:spPr>
          <a:xfrm>
            <a:off x="5586693" y="3208651"/>
            <a:ext cx="1252011" cy="50579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66CDC6-D435-40D9-281F-50E6F3612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56" y="3820507"/>
            <a:ext cx="1431276" cy="6255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EB99CF-5C52-A169-167F-E0FBA08615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26" y="3295349"/>
            <a:ext cx="1231900" cy="419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23A0AF-588E-B6A2-B4B7-7744724AEF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61" y="2710740"/>
            <a:ext cx="1731387" cy="3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3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0E7F4245-E8F3-0FD5-CCA9-BF7E66BCD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3B64F4-7D37-2602-CC56-AF1CBA5FD42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249986-D8B2-4DF6-8801-23369F65AE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871DAC91-AB82-2576-F866-EBADF0A0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Three execution-aware heuristics</a:t>
            </a:r>
          </a:p>
        </p:txBody>
      </p:sp>
      <p:sp>
        <p:nvSpPr>
          <p:cNvPr id="7" name="Google Shape;160;p13">
            <a:extLst>
              <a:ext uri="{FF2B5EF4-FFF2-40B4-BE49-F238E27FC236}">
                <a16:creationId xmlns:a16="http://schemas.microsoft.com/office/drawing/2014/main" id="{0A9FE80C-7A5B-BA8F-0AA5-26DC39BCD49F}"/>
              </a:ext>
            </a:extLst>
          </p:cNvPr>
          <p:cNvSpPr/>
          <p:nvPr/>
        </p:nvSpPr>
        <p:spPr>
          <a:xfrm>
            <a:off x="0" y="771975"/>
            <a:ext cx="9144000" cy="346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sz="1050" i="1" dirty="0">
                <a:solidFill>
                  <a:srgbClr val="1A1A2E"/>
                </a:solidFill>
              </a:rPr>
              <a:t>Each adds a domain-specific penalty to h(n), steering A* away from paths too risky to execute under live costs.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642F0-7A49-C0A3-4353-F69B90A990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Google Shape;2297;p66">
            <a:extLst>
              <a:ext uri="{FF2B5EF4-FFF2-40B4-BE49-F238E27FC236}">
                <a16:creationId xmlns:a16="http://schemas.microsoft.com/office/drawing/2014/main" id="{10D3DD03-E364-3473-BC6F-F8BF583346CA}"/>
              </a:ext>
            </a:extLst>
          </p:cNvPr>
          <p:cNvSpPr/>
          <p:nvPr/>
        </p:nvSpPr>
        <p:spPr>
          <a:xfrm>
            <a:off x="496796" y="1529653"/>
            <a:ext cx="2350313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b="1" dirty="0">
                <a:solidFill>
                  <a:srgbClr val="FFFFFF"/>
                </a:solidFill>
              </a:rPr>
              <a:t>h₁</a:t>
            </a:r>
          </a:p>
        </p:txBody>
      </p:sp>
      <p:sp>
        <p:nvSpPr>
          <p:cNvPr id="3" name="Google Shape;2301;p66">
            <a:extLst>
              <a:ext uri="{FF2B5EF4-FFF2-40B4-BE49-F238E27FC236}">
                <a16:creationId xmlns:a16="http://schemas.microsoft.com/office/drawing/2014/main" id="{E5D0F32B-DA58-2209-36CE-D1FF4FD1388A}"/>
              </a:ext>
            </a:extLst>
          </p:cNvPr>
          <p:cNvSpPr/>
          <p:nvPr/>
        </p:nvSpPr>
        <p:spPr>
          <a:xfrm>
            <a:off x="496796" y="2000939"/>
            <a:ext cx="2350313" cy="2493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Liquidity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algn="ctr"/>
            <a:r>
              <a:rPr lang="en-CA" sz="1200" i="1" dirty="0">
                <a:solidFill>
                  <a:schemeClr val="tx1"/>
                </a:solidFill>
              </a:rPr>
              <a:t>24h-volume scaled to
order size and time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algn="ctr"/>
            <a:r>
              <a:rPr lang="en-CA" sz="1200" i="1" dirty="0">
                <a:solidFill>
                  <a:schemeClr val="tx1"/>
                </a:solidFill>
              </a:rPr>
              <a:t>"Can the book
absorb our size?"</a:t>
            </a:r>
          </a:p>
        </p:txBody>
      </p:sp>
      <p:sp>
        <p:nvSpPr>
          <p:cNvPr id="6" name="Google Shape;2297;p66">
            <a:extLst>
              <a:ext uri="{FF2B5EF4-FFF2-40B4-BE49-F238E27FC236}">
                <a16:creationId xmlns:a16="http://schemas.microsoft.com/office/drawing/2014/main" id="{1E914332-3140-951B-E7B8-59D7A0633C6A}"/>
              </a:ext>
            </a:extLst>
          </p:cNvPr>
          <p:cNvSpPr/>
          <p:nvPr/>
        </p:nvSpPr>
        <p:spPr>
          <a:xfrm>
            <a:off x="6296893" y="1529653"/>
            <a:ext cx="2350313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b="1" dirty="0">
                <a:solidFill>
                  <a:srgbClr val="FFFFFF"/>
                </a:solidFill>
              </a:rPr>
              <a:t>h₃</a:t>
            </a:r>
          </a:p>
        </p:txBody>
      </p:sp>
      <p:sp>
        <p:nvSpPr>
          <p:cNvPr id="14" name="Google Shape;2301;p66">
            <a:extLst>
              <a:ext uri="{FF2B5EF4-FFF2-40B4-BE49-F238E27FC236}">
                <a16:creationId xmlns:a16="http://schemas.microsoft.com/office/drawing/2014/main" id="{9F552FA0-6211-9105-2A8E-4FD992588DB0}"/>
              </a:ext>
            </a:extLst>
          </p:cNvPr>
          <p:cNvSpPr/>
          <p:nvPr/>
        </p:nvSpPr>
        <p:spPr>
          <a:xfrm>
            <a:off x="6296893" y="2000939"/>
            <a:ext cx="2350313" cy="2493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Chain + Venue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algn="ctr"/>
            <a:r>
              <a:rPr lang="en-CA" sz="1200" i="1" dirty="0">
                <a:solidFill>
                  <a:schemeClr val="tx1"/>
                </a:solidFill>
              </a:rPr>
              <a:t>On-chain settlement
+ venue reliability</a:t>
            </a:r>
          </a:p>
          <a:p>
            <a:pPr algn="ctr"/>
            <a:endParaRPr lang="en-CA" sz="1200" i="1" dirty="0">
              <a:solidFill>
                <a:schemeClr val="tx1"/>
              </a:solidFill>
            </a:endParaRPr>
          </a:p>
          <a:p>
            <a:pPr algn="ctr"/>
            <a:r>
              <a:rPr lang="en-CA" sz="1200" i="1" dirty="0">
                <a:solidFill>
                  <a:schemeClr val="tx1"/>
                </a:solidFill>
              </a:rPr>
              <a:t>"Will it settle
in time?"</a:t>
            </a:r>
          </a:p>
        </p:txBody>
      </p:sp>
      <p:sp>
        <p:nvSpPr>
          <p:cNvPr id="20" name="Google Shape;2297;p66">
            <a:extLst>
              <a:ext uri="{FF2B5EF4-FFF2-40B4-BE49-F238E27FC236}">
                <a16:creationId xmlns:a16="http://schemas.microsoft.com/office/drawing/2014/main" id="{484A1CBD-EBB6-D1EC-04EE-268DA71D30BE}"/>
              </a:ext>
            </a:extLst>
          </p:cNvPr>
          <p:cNvSpPr/>
          <p:nvPr/>
        </p:nvSpPr>
        <p:spPr>
          <a:xfrm>
            <a:off x="3396843" y="1529653"/>
            <a:ext cx="2350313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b="1" dirty="0">
                <a:solidFill>
                  <a:srgbClr val="FFFFFF"/>
                </a:solidFill>
              </a:rPr>
              <a:t>h₂ ★</a:t>
            </a:r>
          </a:p>
        </p:txBody>
      </p:sp>
      <p:sp>
        <p:nvSpPr>
          <p:cNvPr id="21" name="Google Shape;2301;p66">
            <a:extLst>
              <a:ext uri="{FF2B5EF4-FFF2-40B4-BE49-F238E27FC236}">
                <a16:creationId xmlns:a16="http://schemas.microsoft.com/office/drawing/2014/main" id="{1E2AB191-2613-CAA2-D74F-7FF06C077597}"/>
              </a:ext>
            </a:extLst>
          </p:cNvPr>
          <p:cNvSpPr/>
          <p:nvPr/>
        </p:nvSpPr>
        <p:spPr>
          <a:xfrm>
            <a:off x="3396843" y="2000939"/>
            <a:ext cx="2350313" cy="2493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rPr>
              <a:t>Slippage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Source Sans Pro"/>
            </a:endParaRPr>
          </a:p>
          <a:p>
            <a:pPr algn="ctr"/>
            <a:r>
              <a:rPr lang="en-CA" sz="1200" i="1" dirty="0">
                <a:solidFill>
                  <a:schemeClr val="tx1"/>
                </a:solidFill>
              </a:rPr>
              <a:t>VWAP divergence from
mid-quote, live L2</a:t>
            </a:r>
          </a:p>
          <a:p>
            <a:pPr algn="ctr"/>
            <a:endParaRPr lang="en-CA" sz="1200" i="1" dirty="0">
              <a:solidFill>
                <a:schemeClr val="tx1"/>
              </a:solidFill>
            </a:endParaRPr>
          </a:p>
          <a:p>
            <a:pPr algn="ctr"/>
            <a:r>
              <a:rPr lang="en-CA" sz="1200" i="1" dirty="0">
                <a:solidFill>
                  <a:schemeClr val="tx1"/>
                </a:solidFill>
              </a:rPr>
              <a:t>"Will my order
move the price?"</a:t>
            </a:r>
          </a:p>
        </p:txBody>
      </p:sp>
      <p:pic>
        <p:nvPicPr>
          <p:cNvPr id="22" name="Picture 21" descr="fin_eq_h1.png">
            <a:extLst>
              <a:ext uri="{FF2B5EF4-FFF2-40B4-BE49-F238E27FC236}">
                <a16:creationId xmlns:a16="http://schemas.microsoft.com/office/drawing/2014/main" id="{687825D0-9A0C-D7E7-D742-B5E9D6E2E2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672" y="2395792"/>
            <a:ext cx="2194560" cy="952246"/>
          </a:xfrm>
          <a:prstGeom prst="rect">
            <a:avLst/>
          </a:prstGeom>
        </p:spPr>
      </p:pic>
      <p:pic>
        <p:nvPicPr>
          <p:cNvPr id="23" name="Picture 22" descr="fin_eq_h2.png">
            <a:extLst>
              <a:ext uri="{FF2B5EF4-FFF2-40B4-BE49-F238E27FC236}">
                <a16:creationId xmlns:a16="http://schemas.microsoft.com/office/drawing/2014/main" id="{6A3052A9-7722-F751-F212-01CC0E7575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19" y="2361678"/>
            <a:ext cx="2194560" cy="1016000"/>
          </a:xfrm>
          <a:prstGeom prst="rect">
            <a:avLst/>
          </a:prstGeom>
        </p:spPr>
      </p:pic>
      <p:pic>
        <p:nvPicPr>
          <p:cNvPr id="25" name="Picture 24" descr="fin_eq_h3.png">
            <a:extLst>
              <a:ext uri="{FF2B5EF4-FFF2-40B4-BE49-F238E27FC236}">
                <a16:creationId xmlns:a16="http://schemas.microsoft.com/office/drawing/2014/main" id="{A3B4FB97-634C-5724-4177-FDA8384FAD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4768" y="2315065"/>
            <a:ext cx="2194560" cy="110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1A055-518D-106C-B5D7-36FA755869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3D73AB-5942-F30A-9DE5-A8760A4F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1" y="152910"/>
            <a:ext cx="8980800" cy="574453"/>
          </a:xfrm>
        </p:spPr>
        <p:txBody>
          <a:bodyPr/>
          <a:lstStyle/>
          <a:p>
            <a:r>
              <a:rPr lang="en-CA" dirty="0">
                <a:latin typeface="Arial"/>
              </a:rPr>
              <a:t>Results: h₂ (Slippage) expands 29% fewer nodes than </a:t>
            </a:r>
            <a:br>
              <a:rPr lang="en-CA" dirty="0">
                <a:latin typeface="Arial"/>
              </a:rPr>
            </a:br>
            <a:r>
              <a:rPr lang="en-CA" dirty="0">
                <a:latin typeface="Arial"/>
              </a:rPr>
              <a:t>Dijkstra while maintaining profitability</a:t>
            </a:r>
            <a:endParaRPr lang="en-US" dirty="0"/>
          </a:p>
        </p:txBody>
      </p:sp>
      <p:pic>
        <p:nvPicPr>
          <p:cNvPr id="4" name="Picture 3" descr="fig01_node_expansion_bar.png">
            <a:extLst>
              <a:ext uri="{FF2B5EF4-FFF2-40B4-BE49-F238E27FC236}">
                <a16:creationId xmlns:a16="http://schemas.microsoft.com/office/drawing/2014/main" id="{6C4130E7-914A-4F48-8962-BCDBBE02C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32" y="1052650"/>
            <a:ext cx="4920279" cy="352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5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4">
            <a:extLst>
              <a:ext uri="{FF2B5EF4-FFF2-40B4-BE49-F238E27FC236}">
                <a16:creationId xmlns:a16="http://schemas.microsoft.com/office/drawing/2014/main" id="{0158478D-E2CB-EFB3-DAFC-255E04B1D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0094" r="20094"/>
          <a:stretch/>
        </p:blipFill>
        <p:spPr bwMode="auto">
          <a:xfrm>
            <a:off x="6352152" y="1538604"/>
            <a:ext cx="2433668" cy="170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97A3E23-83ED-2ECA-3A7F-227BCA3CB0A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7A3E23-83ED-2ECA-3A7F-227BCA3CB0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D1206C06-0F62-367B-B40C-79A471DE66C8}"/>
              </a:ext>
            </a:extLst>
          </p:cNvPr>
          <p:cNvSpPr/>
          <p:nvPr/>
        </p:nvSpPr>
        <p:spPr>
          <a:xfrm>
            <a:off x="6352153" y="1529396"/>
            <a:ext cx="2433667" cy="1725393"/>
          </a:xfrm>
          <a:prstGeom prst="rect">
            <a:avLst/>
          </a:prstGeom>
          <a:solidFill>
            <a:srgbClr val="FFFFFF">
              <a:alpha val="87059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  <a:p>
            <a:pPr algn="ctr"/>
            <a:endParaRPr lang="en-US" sz="1200" b="1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  <a:p>
            <a:pPr algn="ctr"/>
            <a:endParaRPr lang="en-US" sz="1200" b="1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D8C8B3F4-67AC-2E5F-6865-6D39D4355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l="23860" r="23860"/>
          <a:stretch/>
        </p:blipFill>
        <p:spPr bwMode="auto">
          <a:xfrm>
            <a:off x="3678793" y="1538588"/>
            <a:ext cx="2433668" cy="170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58E1164-9FD8-7F0C-99BE-6CD63C03ADF4}"/>
              </a:ext>
            </a:extLst>
          </p:cNvPr>
          <p:cNvSpPr/>
          <p:nvPr/>
        </p:nvSpPr>
        <p:spPr>
          <a:xfrm>
            <a:off x="3678793" y="1537842"/>
            <a:ext cx="2433668" cy="1707982"/>
          </a:xfrm>
          <a:prstGeom prst="rect">
            <a:avLst/>
          </a:prstGeom>
          <a:solidFill>
            <a:srgbClr val="FFFFFF">
              <a:alpha val="87059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  <a:p>
            <a:pPr algn="ctr"/>
            <a:endParaRPr lang="en-US" sz="1200" b="1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5E0F04-93CA-23D2-0521-3DABE96DB0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err="1">
                <a:hlinkClick r:id="rId8"/>
              </a:rPr>
              <a:t>AssetFynd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9BA653-A048-6521-6AC3-93D709A3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25"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193835-584D-2EF1-DF17-DDAB33C43245}"/>
              </a:ext>
            </a:extLst>
          </p:cNvPr>
          <p:cNvGrpSpPr/>
          <p:nvPr/>
        </p:nvGrpSpPr>
        <p:grpSpPr>
          <a:xfrm>
            <a:off x="284542" y="1172470"/>
            <a:ext cx="3210220" cy="324898"/>
            <a:chOff x="326498" y="1162427"/>
            <a:chExt cx="3869376" cy="32489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C0B0059-A1DE-0E34-D4DE-142CAC5B77B3}"/>
                </a:ext>
              </a:extLst>
            </p:cNvPr>
            <p:cNvCxnSpPr>
              <a:cxnSpLocks/>
            </p:cNvCxnSpPr>
            <p:nvPr/>
          </p:nvCxnSpPr>
          <p:spPr>
            <a:xfrm>
              <a:off x="326498" y="1443036"/>
              <a:ext cx="3869376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35F7241-2836-3CA1-F07C-99B6407B69BA}"/>
                </a:ext>
              </a:extLst>
            </p:cNvPr>
            <p:cNvSpPr/>
            <p:nvPr/>
          </p:nvSpPr>
          <p:spPr>
            <a:xfrm>
              <a:off x="326498" y="1162427"/>
              <a:ext cx="3805657" cy="324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200" b="1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Pipesak’s</a:t>
              </a:r>
              <a:r>
                <a:rPr lang="en-CA" sz="1200" b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strong positioning…</a:t>
              </a:r>
              <a:endParaRPr lang="en-US" sz="1200" b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582BE5F-CB29-B5E1-865D-2B5F512BCBE0}"/>
              </a:ext>
            </a:extLst>
          </p:cNvPr>
          <p:cNvSpPr/>
          <p:nvPr/>
        </p:nvSpPr>
        <p:spPr>
          <a:xfrm>
            <a:off x="284541" y="4339256"/>
            <a:ext cx="8497185" cy="34882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A758F3-AF1E-B6A7-A9FE-4477B71CBB23}"/>
              </a:ext>
            </a:extLst>
          </p:cNvPr>
          <p:cNvGrpSpPr/>
          <p:nvPr/>
        </p:nvGrpSpPr>
        <p:grpSpPr>
          <a:xfrm>
            <a:off x="3591474" y="3502125"/>
            <a:ext cx="2520987" cy="869400"/>
            <a:chOff x="115385" y="3378360"/>
            <a:chExt cx="2760678" cy="8694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DC8167-E9D6-EC36-6D31-BC34B2846521}"/>
                </a:ext>
              </a:extLst>
            </p:cNvPr>
            <p:cNvSpPr txBox="1"/>
            <p:nvPr/>
          </p:nvSpPr>
          <p:spPr>
            <a:xfrm>
              <a:off x="1264713" y="3552460"/>
              <a:ext cx="1611350" cy="5212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sz="9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x</a:t>
              </a:r>
            </a:p>
          </p:txBody>
        </p:sp>
        <p:sp>
          <p:nvSpPr>
            <p:cNvPr id="12" name="Google Shape;147;p10">
              <a:extLst>
                <a:ext uri="{FF2B5EF4-FFF2-40B4-BE49-F238E27FC236}">
                  <a16:creationId xmlns:a16="http://schemas.microsoft.com/office/drawing/2014/main" id="{EE770A9E-7DFE-C5CA-8AAC-AA22E150107D}"/>
                </a:ext>
              </a:extLst>
            </p:cNvPr>
            <p:cNvSpPr/>
            <p:nvPr/>
          </p:nvSpPr>
          <p:spPr>
            <a:xfrm>
              <a:off x="115385" y="3378360"/>
              <a:ext cx="1296600" cy="8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2400" b="1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Source Sans Pro"/>
                </a:rPr>
                <a:t>x</a:t>
              </a:r>
              <a:endParaRPr sz="7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endParaRPr>
            </a:p>
          </p:txBody>
        </p:sp>
      </p:grpSp>
      <p:sp>
        <p:nvSpPr>
          <p:cNvPr id="14" name="Google Shape;158;p13">
            <a:extLst>
              <a:ext uri="{FF2B5EF4-FFF2-40B4-BE49-F238E27FC236}">
                <a16:creationId xmlns:a16="http://schemas.microsoft.com/office/drawing/2014/main" id="{72F6BE6D-110E-C518-7967-3D074894EEE6}"/>
              </a:ext>
            </a:extLst>
          </p:cNvPr>
          <p:cNvSpPr/>
          <p:nvPr/>
        </p:nvSpPr>
        <p:spPr>
          <a:xfrm>
            <a:off x="132069" y="2537460"/>
            <a:ext cx="1263233" cy="241522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CA" sz="9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Noto Sans"/>
              </a:rPr>
              <a:t>x</a:t>
            </a:r>
          </a:p>
        </p:txBody>
      </p:sp>
      <p:pic>
        <p:nvPicPr>
          <p:cNvPr id="15" name="Graphic 14" descr="Head with gears with solid fill">
            <a:extLst>
              <a:ext uri="{FF2B5EF4-FFF2-40B4-BE49-F238E27FC236}">
                <a16:creationId xmlns:a16="http://schemas.microsoft.com/office/drawing/2014/main" id="{C8E764D5-87BC-B9DD-D76E-EBD5677786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5607" y="1939383"/>
            <a:ext cx="516156" cy="516156"/>
          </a:xfrm>
          <a:prstGeom prst="rect">
            <a:avLst/>
          </a:prstGeom>
        </p:spPr>
      </p:pic>
      <p:sp>
        <p:nvSpPr>
          <p:cNvPr id="16" name="Google Shape;158;p13">
            <a:extLst>
              <a:ext uri="{FF2B5EF4-FFF2-40B4-BE49-F238E27FC236}">
                <a16:creationId xmlns:a16="http://schemas.microsoft.com/office/drawing/2014/main" id="{863A903D-62E7-10CC-58FD-DD822AC50315}"/>
              </a:ext>
            </a:extLst>
          </p:cNvPr>
          <p:cNvSpPr/>
          <p:nvPr/>
        </p:nvSpPr>
        <p:spPr>
          <a:xfrm>
            <a:off x="1231604" y="2537460"/>
            <a:ext cx="1263233" cy="241522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CA" sz="9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Noto Sans"/>
              </a:rPr>
              <a:t>x</a:t>
            </a:r>
          </a:p>
        </p:txBody>
      </p:sp>
      <p:pic>
        <p:nvPicPr>
          <p:cNvPr id="17" name="Graphic 16" descr="Stopwatch with solid fill">
            <a:extLst>
              <a:ext uri="{FF2B5EF4-FFF2-40B4-BE49-F238E27FC236}">
                <a16:creationId xmlns:a16="http://schemas.microsoft.com/office/drawing/2014/main" id="{14916B10-AC94-4115-45AA-7E6AFEE8F4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79335" y="1913575"/>
            <a:ext cx="567772" cy="567772"/>
          </a:xfrm>
          <a:prstGeom prst="rect">
            <a:avLst/>
          </a:prstGeom>
        </p:spPr>
      </p:pic>
      <p:sp>
        <p:nvSpPr>
          <p:cNvPr id="18" name="Google Shape;158;p13">
            <a:extLst>
              <a:ext uri="{FF2B5EF4-FFF2-40B4-BE49-F238E27FC236}">
                <a16:creationId xmlns:a16="http://schemas.microsoft.com/office/drawing/2014/main" id="{0CDD5141-78B9-F01A-27A7-66B5A7335D6F}"/>
              </a:ext>
            </a:extLst>
          </p:cNvPr>
          <p:cNvSpPr/>
          <p:nvPr/>
        </p:nvSpPr>
        <p:spPr>
          <a:xfrm>
            <a:off x="2331139" y="2537460"/>
            <a:ext cx="1263233" cy="241522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200"/>
            </a:pPr>
            <a:r>
              <a:rPr lang="en-CA" sz="9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Noto Sans"/>
              </a:rPr>
              <a:t>x</a:t>
            </a:r>
          </a:p>
        </p:txBody>
      </p:sp>
      <p:sp>
        <p:nvSpPr>
          <p:cNvPr id="21" name="Google Shape;260;p8">
            <a:extLst>
              <a:ext uri="{FF2B5EF4-FFF2-40B4-BE49-F238E27FC236}">
                <a16:creationId xmlns:a16="http://schemas.microsoft.com/office/drawing/2014/main" id="{71BB4D40-CC69-926A-51D4-0C79B5BE1139}"/>
              </a:ext>
            </a:extLst>
          </p:cNvPr>
          <p:cNvSpPr txBox="1"/>
          <p:nvPr/>
        </p:nvSpPr>
        <p:spPr>
          <a:xfrm>
            <a:off x="284541" y="1529397"/>
            <a:ext cx="3210220" cy="2865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50" b="1" i="0" u="none" strike="noStrike" cap="none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Competencies</a:t>
            </a:r>
            <a:endParaRPr lang="en-CA" sz="1050" b="1" i="0" u="none" strike="noStrike" cap="none">
              <a:solidFill>
                <a:schemeClr val="tx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2" name="Graphic 21" descr="Blueprint with solid fill">
            <a:extLst>
              <a:ext uri="{FF2B5EF4-FFF2-40B4-BE49-F238E27FC236}">
                <a16:creationId xmlns:a16="http://schemas.microsoft.com/office/drawing/2014/main" id="{75F4DFD9-1239-6B1A-9695-B6C2E55C10C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78869" y="3275650"/>
            <a:ext cx="567771" cy="567771"/>
          </a:xfrm>
          <a:prstGeom prst="rect">
            <a:avLst/>
          </a:prstGeom>
        </p:spPr>
      </p:pic>
      <p:sp>
        <p:nvSpPr>
          <p:cNvPr id="23" name="Google Shape;160;p13">
            <a:extLst>
              <a:ext uri="{FF2B5EF4-FFF2-40B4-BE49-F238E27FC236}">
                <a16:creationId xmlns:a16="http://schemas.microsoft.com/office/drawing/2014/main" id="{2F05A14E-F13F-C1DB-021B-C48529F9DAB4}"/>
              </a:ext>
            </a:extLst>
          </p:cNvPr>
          <p:cNvSpPr/>
          <p:nvPr/>
        </p:nvSpPr>
        <p:spPr>
          <a:xfrm>
            <a:off x="0" y="771975"/>
            <a:ext cx="9144000" cy="346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lang="en-CA" sz="1050" b="1">
              <a:solidFill>
                <a:schemeClr val="accent1"/>
              </a:solidFill>
              <a:latin typeface="Helvetica Neue" panose="02000503000000020004"/>
              <a:ea typeface="Noto Sans"/>
              <a:cs typeface="Noto Sans"/>
              <a:sym typeface="Noto San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D2F0A6-4298-CE53-9B5E-9FA7701FE13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687706" y="1172470"/>
            <a:ext cx="5094021" cy="324898"/>
            <a:chOff x="4960111" y="1162427"/>
            <a:chExt cx="3821616" cy="32489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FF2AEC-6A47-7809-8A27-4325EFD596DE}"/>
                </a:ext>
              </a:extLst>
            </p:cNvPr>
            <p:cNvSpPr/>
            <p:nvPr/>
          </p:nvSpPr>
          <p:spPr>
            <a:xfrm>
              <a:off x="4960111" y="1162427"/>
              <a:ext cx="3805657" cy="324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CA" sz="1200" b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…and competitive advantage</a:t>
              </a:r>
              <a:endParaRPr lang="en-US" sz="1200" b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2BFF35-1380-1E24-B5CA-4F44C4287966}"/>
                </a:ext>
              </a:extLst>
            </p:cNvPr>
            <p:cNvCxnSpPr>
              <a:cxnSpLocks/>
            </p:cNvCxnSpPr>
            <p:nvPr/>
          </p:nvCxnSpPr>
          <p:spPr>
            <a:xfrm>
              <a:off x="4962333" y="1443037"/>
              <a:ext cx="38193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4BD1AEDA-9B75-FB3C-1CFD-D68359D00C37}"/>
              </a:ext>
            </a:extLst>
          </p:cNvPr>
          <p:cNvSpPr/>
          <p:nvPr/>
        </p:nvSpPr>
        <p:spPr>
          <a:xfrm>
            <a:off x="3753884" y="1623899"/>
            <a:ext cx="369515" cy="37720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7875866-AB22-8D50-1FCC-402B0BF602C6}"/>
              </a:ext>
            </a:extLst>
          </p:cNvPr>
          <p:cNvSpPr/>
          <p:nvPr/>
        </p:nvSpPr>
        <p:spPr>
          <a:xfrm>
            <a:off x="6430861" y="1623899"/>
            <a:ext cx="369515" cy="37720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7" name="Google Shape;260;p8">
            <a:extLst>
              <a:ext uri="{FF2B5EF4-FFF2-40B4-BE49-F238E27FC236}">
                <a16:creationId xmlns:a16="http://schemas.microsoft.com/office/drawing/2014/main" id="{E0EA945E-59E0-CFB0-7914-4B024A09E956}"/>
              </a:ext>
            </a:extLst>
          </p:cNvPr>
          <p:cNvSpPr txBox="1"/>
          <p:nvPr/>
        </p:nvSpPr>
        <p:spPr>
          <a:xfrm>
            <a:off x="3678792" y="3299082"/>
            <a:ext cx="5102934" cy="2865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 b="1" i="0" u="none" strike="noStrike" cap="none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...is ideal to capitalize on key trends</a:t>
            </a:r>
            <a:endParaRPr lang="en-CA" sz="1200" b="1" i="0" u="none" strike="noStrike" cap="none">
              <a:solidFill>
                <a:schemeClr val="tx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FFCB6E9-A3D8-1DB4-EC8A-14F7D723E16B}"/>
              </a:ext>
            </a:extLst>
          </p:cNvPr>
          <p:cNvGrpSpPr/>
          <p:nvPr/>
        </p:nvGrpSpPr>
        <p:grpSpPr>
          <a:xfrm>
            <a:off x="6246326" y="3502125"/>
            <a:ext cx="2520987" cy="869400"/>
            <a:chOff x="115385" y="3378360"/>
            <a:chExt cx="2760678" cy="86940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89CCBD4-7B82-8FC2-6E31-730AE9E3EEDC}"/>
                </a:ext>
              </a:extLst>
            </p:cNvPr>
            <p:cNvSpPr txBox="1"/>
            <p:nvPr/>
          </p:nvSpPr>
          <p:spPr>
            <a:xfrm>
              <a:off x="1264713" y="3552460"/>
              <a:ext cx="1611350" cy="5212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sz="9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x</a:t>
              </a:r>
            </a:p>
          </p:txBody>
        </p:sp>
        <p:sp>
          <p:nvSpPr>
            <p:cNvPr id="41" name="Google Shape;147;p10">
              <a:extLst>
                <a:ext uri="{FF2B5EF4-FFF2-40B4-BE49-F238E27FC236}">
                  <a16:creationId xmlns:a16="http://schemas.microsoft.com/office/drawing/2014/main" id="{A1E46D85-16FB-4576-AFE1-AC18C4C1293D}"/>
                </a:ext>
              </a:extLst>
            </p:cNvPr>
            <p:cNvSpPr/>
            <p:nvPr/>
          </p:nvSpPr>
          <p:spPr>
            <a:xfrm>
              <a:off x="115385" y="3378360"/>
              <a:ext cx="1296600" cy="8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2400" b="1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Source Sans Pro"/>
                </a:rPr>
                <a:t>x</a:t>
              </a:r>
              <a:endParaRPr sz="7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Source Sans Pro"/>
              </a:endParaRPr>
            </a:p>
          </p:txBody>
        </p:sp>
      </p:grpSp>
      <p:sp>
        <p:nvSpPr>
          <p:cNvPr id="49" name="Google Shape;158;p13">
            <a:extLst>
              <a:ext uri="{FF2B5EF4-FFF2-40B4-BE49-F238E27FC236}">
                <a16:creationId xmlns:a16="http://schemas.microsoft.com/office/drawing/2014/main" id="{DFEF5E65-23A1-873F-F9FE-101D1CEF35B5}"/>
              </a:ext>
            </a:extLst>
          </p:cNvPr>
          <p:cNvSpPr/>
          <p:nvPr/>
        </p:nvSpPr>
        <p:spPr>
          <a:xfrm>
            <a:off x="158499" y="3910679"/>
            <a:ext cx="1263233" cy="241522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CA" sz="9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Noto Sans"/>
              </a:rPr>
              <a:t>x</a:t>
            </a:r>
          </a:p>
        </p:txBody>
      </p:sp>
      <p:sp>
        <p:nvSpPr>
          <p:cNvPr id="51" name="Google Shape;158;p13">
            <a:extLst>
              <a:ext uri="{FF2B5EF4-FFF2-40B4-BE49-F238E27FC236}">
                <a16:creationId xmlns:a16="http://schemas.microsoft.com/office/drawing/2014/main" id="{0D2F1364-7801-C7EC-D6BF-BA9AAD11B6F2}"/>
              </a:ext>
            </a:extLst>
          </p:cNvPr>
          <p:cNvSpPr/>
          <p:nvPr/>
        </p:nvSpPr>
        <p:spPr>
          <a:xfrm>
            <a:off x="1258034" y="3910679"/>
            <a:ext cx="1263233" cy="241522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CA" sz="9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Noto Sans"/>
              </a:rPr>
              <a:t>x</a:t>
            </a:r>
          </a:p>
        </p:txBody>
      </p:sp>
      <p:sp>
        <p:nvSpPr>
          <p:cNvPr id="53" name="Google Shape;158;p13">
            <a:extLst>
              <a:ext uri="{FF2B5EF4-FFF2-40B4-BE49-F238E27FC236}">
                <a16:creationId xmlns:a16="http://schemas.microsoft.com/office/drawing/2014/main" id="{75C678EC-22C0-8629-A153-B638274A9481}"/>
              </a:ext>
            </a:extLst>
          </p:cNvPr>
          <p:cNvSpPr/>
          <p:nvPr/>
        </p:nvSpPr>
        <p:spPr>
          <a:xfrm>
            <a:off x="2357569" y="3910679"/>
            <a:ext cx="1263233" cy="241522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CA" sz="9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Noto Sans"/>
              </a:rPr>
              <a:t>x</a:t>
            </a:r>
          </a:p>
        </p:txBody>
      </p:sp>
      <p:sp>
        <p:nvSpPr>
          <p:cNvPr id="54" name="Google Shape;260;p8">
            <a:extLst>
              <a:ext uri="{FF2B5EF4-FFF2-40B4-BE49-F238E27FC236}">
                <a16:creationId xmlns:a16="http://schemas.microsoft.com/office/drawing/2014/main" id="{863EEBBC-E6AA-6264-DBD5-050A912BC18E}"/>
              </a:ext>
            </a:extLst>
          </p:cNvPr>
          <p:cNvSpPr txBox="1"/>
          <p:nvPr/>
        </p:nvSpPr>
        <p:spPr>
          <a:xfrm>
            <a:off x="310971" y="2902616"/>
            <a:ext cx="3210220" cy="2865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50" b="1" i="0" u="none" strike="noStrike" cap="none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Strengths</a:t>
            </a:r>
            <a:endParaRPr lang="en-CA" sz="1050" b="1" i="0" u="none" strike="noStrike" cap="none">
              <a:solidFill>
                <a:schemeClr val="tx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64" name="Graphic 63" descr="Globe with solid fill">
            <a:extLst>
              <a:ext uri="{FF2B5EF4-FFF2-40B4-BE49-F238E27FC236}">
                <a16:creationId xmlns:a16="http://schemas.microsoft.com/office/drawing/2014/main" id="{F9876717-0A71-941B-EBCF-335949108A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04678" y="1939384"/>
            <a:ext cx="516155" cy="516155"/>
          </a:xfrm>
          <a:prstGeom prst="rect">
            <a:avLst/>
          </a:prstGeom>
        </p:spPr>
      </p:pic>
      <p:pic>
        <p:nvPicPr>
          <p:cNvPr id="66" name="Graphic 65" descr="Clipboard Checked with solid fill">
            <a:extLst>
              <a:ext uri="{FF2B5EF4-FFF2-40B4-BE49-F238E27FC236}">
                <a16:creationId xmlns:a16="http://schemas.microsoft.com/office/drawing/2014/main" id="{C808F666-A880-D575-6785-46748CADF4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92238" y="3301458"/>
            <a:ext cx="516155" cy="516155"/>
          </a:xfrm>
          <a:prstGeom prst="rect">
            <a:avLst/>
          </a:prstGeom>
        </p:spPr>
      </p:pic>
      <p:pic>
        <p:nvPicPr>
          <p:cNvPr id="68" name="Graphic 67" descr="Statistics with solid fill">
            <a:extLst>
              <a:ext uri="{FF2B5EF4-FFF2-40B4-BE49-F238E27FC236}">
                <a16:creationId xmlns:a16="http://schemas.microsoft.com/office/drawing/2014/main" id="{62D96DF1-B7F6-B867-98EB-FE34468C4C9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5607" y="3301458"/>
            <a:ext cx="516155" cy="516155"/>
          </a:xfrm>
          <a:prstGeom prst="rect">
            <a:avLst/>
          </a:prstGeo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66163A9B-630C-4883-73B2-FF37F1467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0094" r="20094"/>
          <a:stretch/>
        </p:blipFill>
        <p:spPr bwMode="auto">
          <a:xfrm>
            <a:off x="6504552" y="1691004"/>
            <a:ext cx="2433668" cy="170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41CC8A-6FAE-2E3A-56B9-961759B7EE1E}"/>
              </a:ext>
            </a:extLst>
          </p:cNvPr>
          <p:cNvSpPr/>
          <p:nvPr/>
        </p:nvSpPr>
        <p:spPr>
          <a:xfrm>
            <a:off x="6504553" y="1681796"/>
            <a:ext cx="2433667" cy="1725393"/>
          </a:xfrm>
          <a:prstGeom prst="rect">
            <a:avLst/>
          </a:prstGeom>
          <a:solidFill>
            <a:srgbClr val="FFFFFF">
              <a:alpha val="87059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  <a:p>
            <a:pPr algn="ctr"/>
            <a:endParaRPr lang="en-US" sz="1200" b="1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  <a:p>
            <a:pPr algn="ctr"/>
            <a:endParaRPr lang="en-US" sz="1200" b="1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BDD07BFA-A342-02F9-B16C-2429A3C52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l="23860" r="23860"/>
          <a:stretch/>
        </p:blipFill>
        <p:spPr bwMode="auto">
          <a:xfrm>
            <a:off x="3831193" y="1690988"/>
            <a:ext cx="2433668" cy="170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15DF046-EECE-1243-806E-D24C0B6DEAEE}"/>
              </a:ext>
            </a:extLst>
          </p:cNvPr>
          <p:cNvSpPr/>
          <p:nvPr/>
        </p:nvSpPr>
        <p:spPr>
          <a:xfrm>
            <a:off x="3831193" y="1690242"/>
            <a:ext cx="2433668" cy="1707982"/>
          </a:xfrm>
          <a:prstGeom prst="rect">
            <a:avLst/>
          </a:prstGeom>
          <a:solidFill>
            <a:srgbClr val="FFFFFF">
              <a:alpha val="87059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  <a:p>
            <a:pPr algn="ctr"/>
            <a:endParaRPr lang="en-US" sz="1200" b="1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79F4E9C-B44E-62EE-3239-EB21C1EA4BD8}"/>
              </a:ext>
            </a:extLst>
          </p:cNvPr>
          <p:cNvSpPr/>
          <p:nvPr/>
        </p:nvSpPr>
        <p:spPr>
          <a:xfrm>
            <a:off x="3906284" y="1776299"/>
            <a:ext cx="369515" cy="37720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F8AB5EC-0BAF-C7DB-846C-7253BBA99696}"/>
              </a:ext>
            </a:extLst>
          </p:cNvPr>
          <p:cNvSpPr/>
          <p:nvPr/>
        </p:nvSpPr>
        <p:spPr>
          <a:xfrm>
            <a:off x="6583261" y="1776299"/>
            <a:ext cx="369515" cy="37720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69350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817C-4654-EE00-672A-E7B47DC1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6E80EB-244C-1059-5F66-35A500867E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6E80EB-244C-1059-5F66-35A500867E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Merge 36">
            <a:extLst>
              <a:ext uri="{FF2B5EF4-FFF2-40B4-BE49-F238E27FC236}">
                <a16:creationId xmlns:a16="http://schemas.microsoft.com/office/drawing/2014/main" id="{B92BF6A0-E6DC-611E-6281-E51C90D20514}"/>
              </a:ext>
            </a:extLst>
          </p:cNvPr>
          <p:cNvSpPr/>
          <p:nvPr/>
        </p:nvSpPr>
        <p:spPr>
          <a:xfrm rot="16200000">
            <a:off x="3939926" y="-129189"/>
            <a:ext cx="598327" cy="5567766"/>
          </a:xfrm>
          <a:prstGeom prst="flowChartMerg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8EC8BE-A961-5C39-260E-3AAB8779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25"/>
          <a:lstStyle/>
          <a:p>
            <a:r>
              <a:rPr lang="en-US"/>
              <a:t>Why? Maria faces key barriers to gaining revenue from Acorn’s CRUs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7CA155D-5193-88F8-2BB2-213E4C9A1A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en-US" i="1"/>
              <a:t>Case Notes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42C3B-64F3-5EF7-833A-F65D50DB5EDE}"/>
              </a:ext>
            </a:extLst>
          </p:cNvPr>
          <p:cNvSpPr txBox="1"/>
          <p:nvPr/>
        </p:nvSpPr>
        <p:spPr>
          <a:xfrm>
            <a:off x="0" y="3463322"/>
            <a:ext cx="191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Meet Maria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FFB4F1-08C3-782A-3B35-7AEEDB14A270}"/>
              </a:ext>
            </a:extLst>
          </p:cNvPr>
          <p:cNvSpPr txBox="1"/>
          <p:nvPr/>
        </p:nvSpPr>
        <p:spPr>
          <a:xfrm>
            <a:off x="15582" y="3692513"/>
            <a:ext cx="19663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05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44 | Coffee Farmer</a:t>
            </a:r>
          </a:p>
          <a:p>
            <a:pPr algn="ctr"/>
            <a:r>
              <a:rPr lang="en-CA" sz="105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Colombia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184F182-3C86-6B3D-2F27-B935E0505E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23887" t="-465" r="20120" b="16475"/>
          <a:stretch>
            <a:fillRect/>
          </a:stretch>
        </p:blipFill>
        <p:spPr bwMode="auto">
          <a:xfrm flipH="1">
            <a:off x="257018" y="1864924"/>
            <a:ext cx="1488033" cy="14880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9192D0-69CD-8B0A-DEDB-712341AE785F}"/>
              </a:ext>
            </a:extLst>
          </p:cNvPr>
          <p:cNvSpPr/>
          <p:nvPr/>
        </p:nvSpPr>
        <p:spPr>
          <a:xfrm>
            <a:off x="2236241" y="2300686"/>
            <a:ext cx="735122" cy="73512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7EA1A5-CBA7-D86D-63E8-9EA6AD540B76}"/>
              </a:ext>
            </a:extLst>
          </p:cNvPr>
          <p:cNvCxnSpPr>
            <a:cxnSpLocks/>
            <a:stCxn id="8" idx="2"/>
            <a:endCxn id="21" idx="1"/>
          </p:cNvCxnSpPr>
          <p:nvPr/>
        </p:nvCxnSpPr>
        <p:spPr>
          <a:xfrm flipV="1">
            <a:off x="2236241" y="1334370"/>
            <a:ext cx="0" cy="13338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E9CBCA8-57E6-DA7C-9EE1-6A7A3D2C1A18}"/>
              </a:ext>
            </a:extLst>
          </p:cNvPr>
          <p:cNvSpPr/>
          <p:nvPr/>
        </p:nvSpPr>
        <p:spPr>
          <a:xfrm>
            <a:off x="2236241" y="1079774"/>
            <a:ext cx="1750444" cy="50919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Awareness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B3488B-07BD-830E-7FEC-E581D9B2A006}"/>
              </a:ext>
            </a:extLst>
          </p:cNvPr>
          <p:cNvSpPr/>
          <p:nvPr/>
        </p:nvSpPr>
        <p:spPr>
          <a:xfrm>
            <a:off x="2278298" y="1792261"/>
            <a:ext cx="1901275" cy="216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i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Has not heard about Acorn or its value proposition</a:t>
            </a:r>
          </a:p>
        </p:txBody>
      </p:sp>
      <p:pic>
        <p:nvPicPr>
          <p:cNvPr id="25" name="Google Shape;766;p41">
            <a:extLst>
              <a:ext uri="{FF2B5EF4-FFF2-40B4-BE49-F238E27FC236}">
                <a16:creationId xmlns:a16="http://schemas.microsoft.com/office/drawing/2014/main" id="{4B0C8D5E-CC25-903D-D80B-1F925C793E8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1228" y="2335014"/>
            <a:ext cx="527726" cy="527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4177A6-7B94-70FA-20FE-B7CEA3F043DD}"/>
              </a:ext>
            </a:extLst>
          </p:cNvPr>
          <p:cNvCxnSpPr>
            <a:cxnSpLocks/>
            <a:stCxn id="10" idx="1"/>
            <a:endCxn id="6" idx="2"/>
          </p:cNvCxnSpPr>
          <p:nvPr/>
        </p:nvCxnSpPr>
        <p:spPr>
          <a:xfrm flipH="1">
            <a:off x="6812505" y="1374721"/>
            <a:ext cx="1" cy="13251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7F1884D-8EE4-C6AC-FEC3-BF3FEF60E65A}"/>
              </a:ext>
            </a:extLst>
          </p:cNvPr>
          <p:cNvSpPr/>
          <p:nvPr/>
        </p:nvSpPr>
        <p:spPr>
          <a:xfrm>
            <a:off x="6812505" y="2332289"/>
            <a:ext cx="735122" cy="73512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B83773-5595-2520-5C54-5295674BE4D0}"/>
              </a:ext>
            </a:extLst>
          </p:cNvPr>
          <p:cNvSpPr/>
          <p:nvPr/>
        </p:nvSpPr>
        <p:spPr>
          <a:xfrm>
            <a:off x="6812506" y="1123003"/>
            <a:ext cx="1761260" cy="50343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Educational Support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7F0E5-C601-F542-9D05-511ADCC458A2}"/>
              </a:ext>
            </a:extLst>
          </p:cNvPr>
          <p:cNvSpPr/>
          <p:nvPr/>
        </p:nvSpPr>
        <p:spPr>
          <a:xfrm>
            <a:off x="6825940" y="1849775"/>
            <a:ext cx="1747825" cy="221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i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Insufficient education for onboarding and continued support</a:t>
            </a:r>
          </a:p>
        </p:txBody>
      </p:sp>
      <p:pic>
        <p:nvPicPr>
          <p:cNvPr id="22" name="Google Shape;775;p41">
            <a:extLst>
              <a:ext uri="{FF2B5EF4-FFF2-40B4-BE49-F238E27FC236}">
                <a16:creationId xmlns:a16="http://schemas.microsoft.com/office/drawing/2014/main" id="{EBDCBD54-E005-0B06-18F9-41727FABAD10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4242" y="2412517"/>
            <a:ext cx="551643" cy="551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786;p41">
            <a:extLst>
              <a:ext uri="{FF2B5EF4-FFF2-40B4-BE49-F238E27FC236}">
                <a16:creationId xmlns:a16="http://schemas.microsoft.com/office/drawing/2014/main" id="{528934E8-4D37-88B8-8591-DFDA7A52DF9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35555" y="2395487"/>
            <a:ext cx="536494" cy="5184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952F0BA-C300-7C4B-DE7C-8B22981350EE}"/>
              </a:ext>
            </a:extLst>
          </p:cNvPr>
          <p:cNvSpPr/>
          <p:nvPr/>
        </p:nvSpPr>
        <p:spPr>
          <a:xfrm>
            <a:off x="4484923" y="2300686"/>
            <a:ext cx="735122" cy="73512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F570072-DFD2-D5C8-1141-E81582FBCF48}"/>
              </a:ext>
            </a:extLst>
          </p:cNvPr>
          <p:cNvCxnSpPr>
            <a:cxnSpLocks/>
            <a:stCxn id="30" idx="1"/>
            <a:endCxn id="9" idx="2"/>
          </p:cNvCxnSpPr>
          <p:nvPr/>
        </p:nvCxnSpPr>
        <p:spPr>
          <a:xfrm flipH="1" flipV="1">
            <a:off x="4484923" y="2668247"/>
            <a:ext cx="38138" cy="13801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A2EE5B0-4212-F7F4-12C5-ADC4F5DFC0DD}"/>
              </a:ext>
            </a:extLst>
          </p:cNvPr>
          <p:cNvSpPr/>
          <p:nvPr/>
        </p:nvSpPr>
        <p:spPr>
          <a:xfrm>
            <a:off x="4523061" y="3793840"/>
            <a:ext cx="1747825" cy="50919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Financing</a:t>
            </a:r>
          </a:p>
        </p:txBody>
      </p:sp>
      <p:pic>
        <p:nvPicPr>
          <p:cNvPr id="42" name="Google Shape;766;p41">
            <a:extLst>
              <a:ext uri="{FF2B5EF4-FFF2-40B4-BE49-F238E27FC236}">
                <a16:creationId xmlns:a16="http://schemas.microsoft.com/office/drawing/2014/main" id="{264FCC8E-86D1-3085-55CA-319908E516E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8277" y="2335014"/>
            <a:ext cx="527726" cy="5277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1EA316-A4DA-CC0D-4368-63996A055D87}"/>
              </a:ext>
            </a:extLst>
          </p:cNvPr>
          <p:cNvSpPr/>
          <p:nvPr/>
        </p:nvSpPr>
        <p:spPr>
          <a:xfrm>
            <a:off x="4523061" y="3326165"/>
            <a:ext cx="1747825" cy="221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i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digital credit score; can’t leverage SAF for USD 50k loan</a:t>
            </a:r>
          </a:p>
        </p:txBody>
      </p:sp>
      <p:pic>
        <p:nvPicPr>
          <p:cNvPr id="19" name="Google Shape;770;p41">
            <a:extLst>
              <a:ext uri="{FF2B5EF4-FFF2-40B4-BE49-F238E27FC236}">
                <a16:creationId xmlns:a16="http://schemas.microsoft.com/office/drawing/2014/main" id="{5746D4FC-9D65-E1A3-FF65-B8D96C58A24F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69498" y="2353070"/>
            <a:ext cx="551650" cy="551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97137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73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kXh3qOZjgObqLz36VXbI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mple Light">
  <a:themeElements>
    <a:clrScheme name="Custom 4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73482"/>
      </a:accent1>
      <a:accent2>
        <a:srgbClr val="B6E3EE"/>
      </a:accent2>
      <a:accent3>
        <a:srgbClr val="EAF8F2"/>
      </a:accent3>
      <a:accent4>
        <a:srgbClr val="362415"/>
      </a:accent4>
      <a:accent5>
        <a:srgbClr val="604C4C"/>
      </a:accent5>
      <a:accent6>
        <a:srgbClr val="6489E7"/>
      </a:accent6>
      <a:hlink>
        <a:srgbClr val="A5A5A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492</Words>
  <Application>Microsoft Macintosh PowerPoint</Application>
  <PresentationFormat>On-screen Show (16:9)</PresentationFormat>
  <Paragraphs>154</Paragraphs>
  <Slides>10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Sans Pro</vt:lpstr>
      <vt:lpstr>Helvetica Neue</vt:lpstr>
      <vt:lpstr>Arial</vt:lpstr>
      <vt:lpstr>Helvetica Neue Light</vt:lpstr>
      <vt:lpstr>Simple Light</vt:lpstr>
      <vt:lpstr>think-cell Slide</vt:lpstr>
      <vt:lpstr>PowerPoint Presentation</vt:lpstr>
      <vt:lpstr>PowerPoint Presentation</vt:lpstr>
      <vt:lpstr>Stablecoin: Bridging international crypto trade</vt:lpstr>
      <vt:lpstr>Why shortest-path isn’t enough: 4 real-world costs</vt:lpstr>
      <vt:lpstr>The dataset: first academically integrated CEX stablecoin graph</vt:lpstr>
      <vt:lpstr>Methodology: A* search with execution-aware heuristic</vt:lpstr>
      <vt:lpstr>Three execution-aware heuristics</vt:lpstr>
      <vt:lpstr>Results: h₂ (Slippage) expands 29% fewer nodes than  Dijkstra while maintaining profitability</vt:lpstr>
      <vt:lpstr>PowerPoint Presentation</vt:lpstr>
      <vt:lpstr>Why? Maria faces key barriers to gaining revenue from Acorn’s CRUs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Litvin</cp:lastModifiedBy>
  <cp:revision>7</cp:revision>
  <dcterms:modified xsi:type="dcterms:W3CDTF">2026-05-26T04:57:20Z</dcterms:modified>
</cp:coreProperties>
</file>