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ll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>
              <a:alpha val="7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11155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Arial"/>
              </a:rPr>
              <a:t>Execution-Aware A* Search for
Cross-Exchange Stablecoin Arbitrage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429000"/>
            <a:ext cx="5486400" cy="36576"/>
          </a:xfrm>
          <a:prstGeom prst="rect">
            <a:avLst/>
          </a:prstGeom>
          <a:solidFill>
            <a:srgbClr val="CC0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3566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FFCCCC"/>
                </a:solidFill>
                <a:latin typeface="Arial"/>
              </a:rPr>
              <a:t>Can domain-specific heuristics reduce search cost
while preserving profit quality?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4805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rial"/>
              </a:rPr>
              <a:t>Kevin Litvin · Simon Fraser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937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CCCC"/>
                </a:solidFill>
                <a:latin typeface="Arial"/>
              </a:rPr>
              <a:t>Canadian AI 2026 · GSS</a:t>
            </a:r>
          </a:p>
        </p:txBody>
      </p:sp>
      <p:pic>
        <p:nvPicPr>
          <p:cNvPr id="10" name="Picture 9" descr="logo-canai-20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8575" y="82296"/>
            <a:ext cx="1965960" cy="34561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6638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Arial"/>
              </a:rPr>
              <a:t>Kevin Litvin · Simon Fraser University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6638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  <a:latin typeface="Arial"/>
              </a:rPr>
              <a:t>Canadian AI 2026 · GSS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6385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Arial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CC0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64008"/>
            <a:ext cx="930219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The $33 Trillion Market</a:t>
            </a:r>
          </a:p>
        </p:txBody>
      </p:sp>
      <p:pic>
        <p:nvPicPr>
          <p:cNvPr id="4" name="Picture 3" descr="logo-canai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8575" y="82296"/>
            <a:ext cx="1965960" cy="345619"/>
          </a:xfrm>
          <a:prstGeom prst="rect">
            <a:avLst/>
          </a:prstGeom>
        </p:spPr>
      </p:pic>
      <p:pic>
        <p:nvPicPr>
          <p:cNvPr id="5" name="Picture 4" descr="fin_mark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685800"/>
            <a:ext cx="6583680" cy="35631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960120"/>
            <a:ext cx="471190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CC0633"/>
                </a:solidFill>
                <a:latin typeface="Arial"/>
              </a:rPr>
              <a:t>$300B+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709928"/>
            <a:ext cx="47119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888888"/>
                </a:solidFill>
                <a:latin typeface="Arial"/>
              </a:rPr>
              <a:t>market cap in circulation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" y="2148840"/>
            <a:ext cx="4711903" cy="228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0" y="2350008"/>
            <a:ext cx="471190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CC0633"/>
                </a:solidFill>
                <a:latin typeface="Arial"/>
              </a:rPr>
              <a:t>$33T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3099816"/>
            <a:ext cx="47119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888888"/>
                </a:solidFill>
                <a:latin typeface="Arial"/>
              </a:rPr>
              <a:t>annual volume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" y="3538728"/>
            <a:ext cx="4711903" cy="228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0" y="3922776"/>
            <a:ext cx="4711903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1A1A2E"/>
                </a:solidFill>
                <a:latin typeface="Arial"/>
              </a:rPr>
              <a:t>"The liquidity highways of
the entire crypto ecosystem"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6638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Arial"/>
              </a:rPr>
              <a:t>Kevin Litvin · Simon Fraser University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6638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  <a:latin typeface="Arial"/>
              </a:rPr>
              <a:t>Canadian AI 2026 · GSS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6385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Arial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CC0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64008"/>
            <a:ext cx="930219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The Problem: Four Execution Barriers</a:t>
            </a:r>
          </a:p>
        </p:txBody>
      </p:sp>
      <p:pic>
        <p:nvPicPr>
          <p:cNvPr id="4" name="Picture 3" descr="logo-canai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8575" y="82296"/>
            <a:ext cx="1965960" cy="3456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685800"/>
            <a:ext cx="1149675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1A1A2E"/>
                </a:solidFill>
                <a:latin typeface="Arial"/>
              </a:rPr>
              <a:t>"It is 2 AM. USDT is cheaper on Kraken than KuCoin. The math works. Existing systems say: take it."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1188720"/>
            <a:ext cx="11496751" cy="22860"/>
          </a:xfrm>
          <a:prstGeom prst="rect">
            <a:avLst/>
          </a:prstGeom>
          <a:solidFill>
            <a:srgbClr val="CC0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325880"/>
            <a:ext cx="2750743" cy="22860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35608"/>
            <a:ext cx="253128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1  Liquidity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84248"/>
            <a:ext cx="2531287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Arial"/>
              </a:rPr>
              <a:t>Order may exhaust
book depth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62807" y="1325880"/>
            <a:ext cx="2750743" cy="2286000"/>
          </a:xfrm>
          <a:prstGeom prst="rect">
            <a:avLst/>
          </a:prstGeom>
          <a:solidFill>
            <a:srgbClr val="CC0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72535" y="1435608"/>
            <a:ext cx="253128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2  Slippage 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72535" y="1984248"/>
            <a:ext cx="2531287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Arial"/>
              </a:rPr>
              <a:t>Large orders move
price mid-fill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8143" y="1325880"/>
            <a:ext cx="2750743" cy="22860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7871" y="1435608"/>
            <a:ext cx="253128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3  Latency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7871" y="1984248"/>
            <a:ext cx="2531287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Arial"/>
              </a:rPr>
              <a:t>Settlement may
miss the window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93479" y="1325880"/>
            <a:ext cx="2750743" cy="2286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3207" y="1435608"/>
            <a:ext cx="253128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4  Reliability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03207" y="1984248"/>
            <a:ext cx="2531287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Arial"/>
              </a:rPr>
              <a:t>Exchanges may
suspend withdrawals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" y="3813048"/>
            <a:ext cx="11496751" cy="402336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" y="3877056"/>
            <a:ext cx="1122243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C0633"/>
                </a:solidFill>
                <a:latin typeface="Arial"/>
              </a:rPr>
              <a:t>Bellman-Ford · 1-hop · 2-hop enumeration — all fail under live market conditions.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6638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Arial"/>
              </a:rPr>
              <a:t>Kevin Litvin · Simon Fraser University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6638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  <a:latin typeface="Arial"/>
              </a:rPr>
              <a:t>Canadian AI 2026 · GSS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6385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Arial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CC0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64008"/>
            <a:ext cx="930219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Dataset: The First Execution-Aware Stablecoin Graph</a:t>
            </a:r>
          </a:p>
        </p:txBody>
      </p:sp>
      <p:pic>
        <p:nvPicPr>
          <p:cNvPr id="4" name="Picture 3" descr="logo-canai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8575" y="82296"/>
            <a:ext cx="1965960" cy="345619"/>
          </a:xfrm>
          <a:prstGeom prst="rect">
            <a:avLst/>
          </a:prstGeom>
        </p:spPr>
      </p:pic>
      <p:pic>
        <p:nvPicPr>
          <p:cNvPr id="5" name="Picture 4" descr="Full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731520"/>
            <a:ext cx="6583680" cy="52710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822960"/>
            <a:ext cx="1097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CC0633"/>
                </a:solidFill>
                <a:latin typeface="Arial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877824"/>
            <a:ext cx="334030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Arial"/>
              </a:rPr>
              <a:t>centralized
exchanges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700784"/>
            <a:ext cx="1097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CC0633"/>
                </a:solidFill>
                <a:latin typeface="Arial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755648"/>
            <a:ext cx="334030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Arial"/>
              </a:rPr>
              <a:t>stablecoin symbols
(USDT, USDC, DAI…)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578608"/>
            <a:ext cx="1097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CC0633"/>
                </a:solidFill>
                <a:latin typeface="Arial"/>
              </a:rPr>
              <a:t>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633472"/>
            <a:ext cx="334030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Arial"/>
              </a:rPr>
              <a:t>nodes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3456432"/>
            <a:ext cx="1097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CC0633"/>
                </a:solidFill>
                <a:latin typeface="Arial"/>
              </a:rPr>
              <a:t>864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3511296"/>
            <a:ext cx="334030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Arial"/>
              </a:rPr>
              <a:t>edges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" y="4425696"/>
            <a:ext cx="11496751" cy="22860"/>
          </a:xfrm>
          <a:prstGeom prst="rect">
            <a:avLst/>
          </a:prstGeom>
          <a:solidFill>
            <a:srgbClr val="CC0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0" y="4562856"/>
            <a:ext cx="4529023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Arial"/>
              </a:rPr>
              <a:t>Every edge carries:
taker fee · VWAP slippage ·
gas cost · venue reliability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6638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Arial"/>
              </a:rPr>
              <a:t>Kevin Litvin · Simon Fraser University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6638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  <a:latin typeface="Arial"/>
              </a:rPr>
              <a:t>Canadian AI 2026 · GSS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6385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Arial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CC0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64008"/>
            <a:ext cx="930219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Method: A* Search — Google Maps for Money</a:t>
            </a:r>
          </a:p>
        </p:txBody>
      </p:sp>
      <p:pic>
        <p:nvPicPr>
          <p:cNvPr id="4" name="Picture 3" descr="logo-canai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8575" y="82296"/>
            <a:ext cx="1965960" cy="3456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685800"/>
            <a:ext cx="11496751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A1A2E"/>
                </a:solidFill>
                <a:latin typeface="Courier New"/>
              </a:rPr>
              <a:t>f (n)  =  g(n)  +  h(n)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1325880"/>
            <a:ext cx="1149675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888888"/>
                </a:solidFill>
                <a:latin typeface="Arial"/>
              </a:rPr>
              <a:t>g(n) = accumulated execution cost so far          h(n) = domain-specific risk estimate ahead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755648"/>
            <a:ext cx="11496751" cy="22860"/>
          </a:xfrm>
          <a:prstGeom prst="rect">
            <a:avLst/>
          </a:prstGeom>
          <a:solidFill>
            <a:srgbClr val="CC0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n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1874520"/>
            <a:ext cx="11496751" cy="3594247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6638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Arial"/>
              </a:rPr>
              <a:t>Kevin Litvin · Simon Fraser University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6638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  <a:latin typeface="Arial"/>
              </a:rPr>
              <a:t>Canadian AI 2026 · GSS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6385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Arial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CC0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64008"/>
            <a:ext cx="930219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Three Execution-Aware Heuristics</a:t>
            </a:r>
          </a:p>
        </p:txBody>
      </p:sp>
      <p:pic>
        <p:nvPicPr>
          <p:cNvPr id="4" name="Picture 3" descr="logo-canai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8575" y="82296"/>
            <a:ext cx="1965960" cy="3456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685800"/>
            <a:ext cx="1149675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1A1A2E"/>
                </a:solidFill>
                <a:latin typeface="Arial"/>
              </a:rPr>
              <a:t>Each heuristic adds a domain-specific penalty to h(n), steering A* toward paths that are profitable AND executable.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1188720"/>
            <a:ext cx="11496751" cy="22860"/>
          </a:xfrm>
          <a:prstGeom prst="rect">
            <a:avLst/>
          </a:prstGeom>
          <a:solidFill>
            <a:srgbClr val="CC0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298448"/>
            <a:ext cx="2286000" cy="36576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389888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Arial"/>
              </a:rPr>
              <a:t>h₁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98424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Liquidity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2414016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ourier New"/>
              </a:rPr>
              <a:t>Penalises paths where
order size exceeds
book depth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3675888"/>
            <a:ext cx="2103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FFAA"/>
                </a:solidFill>
                <a:latin typeface="Arial"/>
              </a:rPr>
              <a:t>"Is there enough
market depth?"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16352" y="1298448"/>
            <a:ext cx="2286000" cy="3657600"/>
          </a:xfrm>
          <a:prstGeom prst="rect">
            <a:avLst/>
          </a:prstGeom>
          <a:solidFill>
            <a:srgbClr val="CC0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07792" y="1389888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Arial"/>
              </a:rPr>
              <a:t>h₂ 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07792" y="198424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Slippage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07792" y="2414016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ourier New"/>
              </a:rPr>
              <a:t>VWAP penalty:
pen = max(0, VWAP−mid)
× order size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7792" y="3675888"/>
            <a:ext cx="2103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FFAA"/>
                </a:solidFill>
                <a:latin typeface="Arial"/>
              </a:rPr>
              <a:t>"Will my order
move the price?"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85232" y="1298448"/>
            <a:ext cx="2286000" cy="3657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76672" y="1389888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Arial"/>
              </a:rPr>
              <a:t>h₃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6672" y="198424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Chain+Venue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76672" y="2414016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ourier New"/>
              </a:rPr>
              <a:t>Congestion penalty
+ venue reliability
discount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76672" y="3675888"/>
            <a:ext cx="2103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FFAA"/>
                </a:solidFill>
                <a:latin typeface="Arial"/>
              </a:rPr>
              <a:t>"Will it settle
in time?"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1298448"/>
            <a:ext cx="409011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0633"/>
                </a:solidFill>
                <a:latin typeface="Arial"/>
              </a:rPr>
              <a:t>h₂ in detail:</a:t>
            </a:r>
          </a:p>
        </p:txBody>
      </p:sp>
      <p:pic>
        <p:nvPicPr>
          <p:cNvPr id="23" name="Picture 22" descr="fin_slipp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2" y="1664208"/>
            <a:ext cx="3998671" cy="284976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47472" y="5120640"/>
            <a:ext cx="1149675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1">
                <a:solidFill>
                  <a:srgbClr val="CC0633"/>
                </a:solidFill>
                <a:latin typeface="Arial"/>
              </a:rPr>
              <a:t>One of these three will prove decisive.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6638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Arial"/>
              </a:rPr>
              <a:t>Kevin Litvin · Simon Fraser University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6638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  <a:latin typeface="Arial"/>
              </a:rPr>
              <a:t>Canadian AI 2026 · GSS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6385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Arial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CC0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anai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8575" y="82296"/>
            <a:ext cx="1965960" cy="3456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47472" y="36576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CCC"/>
                </a:solidFill>
                <a:latin typeface="Arial"/>
              </a:rPr>
              <a:t>KEY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365760"/>
            <a:ext cx="93021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h₂ (Slippage Heuristic)  ·  29% fewer node expansions  ·  same profit quality</a:t>
            </a:r>
          </a:p>
        </p:txBody>
      </p:sp>
      <p:pic>
        <p:nvPicPr>
          <p:cNvPr id="6" name="Picture 5" descr="fig01_node_expansion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8" y="795528"/>
            <a:ext cx="6888158" cy="493775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6638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Arial"/>
              </a:rPr>
              <a:t>Kevin Litvin · Simon Fraser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6638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  <a:latin typeface="Arial"/>
              </a:rPr>
              <a:t>Canadian AI 2026 · GSS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6385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Arial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CC0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64008"/>
            <a:ext cx="930219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Real-World Proof — 7,200 Live Searches · 8 Hours · Live Market Data</a:t>
            </a:r>
          </a:p>
        </p:txBody>
      </p:sp>
      <p:pic>
        <p:nvPicPr>
          <p:cNvPr id="4" name="Picture 3" descr="logo-canai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8575" y="82296"/>
            <a:ext cx="1965960" cy="345619"/>
          </a:xfrm>
          <a:prstGeom prst="rect">
            <a:avLst/>
          </a:prstGeom>
        </p:spPr>
      </p:pic>
      <p:pic>
        <p:nvPicPr>
          <p:cNvPr id="5" name="Picture 4" descr="fig10_overnight_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685800"/>
            <a:ext cx="4418977" cy="29352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14255" y="82296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C0633"/>
                </a:solidFill>
                <a:latin typeface="Arial"/>
              </a:rPr>
              <a:t>100%
of searches found
a profitable path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3648456"/>
            <a:ext cx="11496751" cy="228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09_quote_stalene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" y="3739896"/>
            <a:ext cx="6822671" cy="29352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814255" y="3922776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C0633"/>
                </a:solidFill>
                <a:latin typeface="Arial"/>
              </a:rPr>
              <a:t>99.6%
still profitable
at +2 minutes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14255" y="5020056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1">
                <a:solidFill>
                  <a:srgbClr val="1A1A2E"/>
                </a:solidFill>
                <a:latin typeface="Arial"/>
              </a:rPr>
              <a:t>→ Act within 120 seconds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6638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Arial"/>
              </a:rPr>
              <a:t>Kevin Litvin · Simon Fraser University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6638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  <a:latin typeface="Arial"/>
              </a:rPr>
              <a:t>Canadian AI 2026 · GSS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6385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Arial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ll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>
              <a:alpha val="7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5943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Arial"/>
              </a:rPr>
              <a:t>Less Exploration.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20240"/>
            <a:ext cx="5943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CC0633"/>
                </a:solidFill>
                <a:latin typeface="Arial"/>
              </a:rPr>
              <a:t>More Execution.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926080"/>
            <a:ext cx="5943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Arial"/>
              </a:rPr>
              <a:t>Same Profit.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11480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FFCCCC"/>
                </a:solidFill>
                <a:latin typeface="Arial"/>
              </a:rPr>
              <a:t>Thank you  ·  Questions?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75488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AAAA"/>
                </a:solidFill>
                <a:latin typeface="Arial"/>
              </a:rPr>
              <a:t>github.com/kevinl03/Stablecoin-CrossExchange-Arbitrage</a:t>
            </a:r>
          </a:p>
        </p:txBody>
      </p:sp>
      <p:pic>
        <p:nvPicPr>
          <p:cNvPr id="10" name="Picture 9" descr="fig18_radar_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8175" y="548640"/>
            <a:ext cx="4937760" cy="432381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71055" y="2743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AAAAAA"/>
                </a:solidFill>
                <a:latin typeface="Arial"/>
              </a:rPr>
              <a:t>Method comparison — all metrics</a:t>
            </a:r>
          </a:p>
        </p:txBody>
      </p:sp>
      <p:pic>
        <p:nvPicPr>
          <p:cNvPr id="12" name="Picture 11" descr="logo-canai-20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8575" y="82296"/>
            <a:ext cx="1965960" cy="345619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6638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Arial"/>
              </a:rPr>
              <a:t>Kevin Litvin · Simon Fraser University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6638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  <a:latin typeface="Arial"/>
              </a:rPr>
              <a:t>Canadian AI 2026 · GSS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6385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Arial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