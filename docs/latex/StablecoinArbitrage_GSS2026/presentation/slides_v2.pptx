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4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Execution-Aware A* Search for
Cross-Exchange Stablecoin Arbitrage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520440"/>
            <a:ext cx="5486400" cy="36576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FFCCCC"/>
                </a:solidFill>
                <a:latin typeface="Arial"/>
              </a:rPr>
              <a:t>Can domain-specific heuristics reduce search cost
while preserving profit quality?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5720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FFFFFF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FFCCCC"/>
                </a:solidFill>
                <a:latin typeface="Arial"/>
              </a:rPr>
              <a:t>Canadian AI 2026 · GSS</a:t>
            </a:r>
          </a:p>
        </p:txBody>
      </p:sp>
      <p:pic>
        <p:nvPicPr>
          <p:cNvPr id="10" name="Picture 9" descr="logo-canai-202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 / 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$33 Trillion 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2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v2_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6400800" cy="347429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086600" y="914400"/>
            <a:ext cx="47576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C0633"/>
                </a:solidFill>
                <a:latin typeface="Arial"/>
              </a:rPr>
              <a:t>$300B+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86600" y="1664208"/>
            <a:ext cx="47576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market cap in circulation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103120"/>
            <a:ext cx="4757623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086600" y="2286000"/>
            <a:ext cx="4757623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CC0633"/>
                </a:solidFill>
                <a:latin typeface="Arial"/>
              </a:rPr>
              <a:t>$33T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3035808"/>
            <a:ext cx="4757623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888888"/>
                </a:solidFill>
                <a:latin typeface="Arial"/>
              </a:rPr>
              <a:t>annual transaction volume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3474720"/>
            <a:ext cx="4757623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3794760"/>
            <a:ext cx="4757623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Arial"/>
              </a:rPr>
              <a:t>"The liquidity highways
of the entire crypto ecosystem"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2 /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Opportunity: Price Fragmentation Across 12 Exchanges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3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v2_price_tab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11496751" cy="6148539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3 /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The Problem: Four Execution Barriers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4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" y="68580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1A1A2E"/>
                </a:solidFill>
                <a:latin typeface="Arial"/>
              </a:rPr>
              <a:t>"Existing systems say: take it. But here is what they do not tell you."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88720"/>
            <a:ext cx="11496751" cy="27432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325880"/>
            <a:ext cx="2750743" cy="22860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1  Liquidity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84248"/>
            <a:ext cx="253128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Order size may exhaust
the book depth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62807" y="1325880"/>
            <a:ext cx="2750743" cy="2286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2535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2  Slippage 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2535" y="1984248"/>
            <a:ext cx="253128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Large orders move price
mid-execution (h₂)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8143" y="1325880"/>
            <a:ext cx="2750743" cy="2286000"/>
          </a:xfrm>
          <a:prstGeom prst="rect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7871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3  Latency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87871" y="1984248"/>
            <a:ext cx="253128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Blockchain settlement
may miss the window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93479" y="1325880"/>
            <a:ext cx="2750743" cy="22860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03207" y="1435608"/>
            <a:ext cx="2531287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rial"/>
              </a:rPr>
              <a:t>4  Reliability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03207" y="1984248"/>
            <a:ext cx="2531287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Arial"/>
              </a:rPr>
              <a:t>Exchanges may suspend
withdrawals overnight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7472" y="384048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CC0633"/>
                </a:solidFill>
                <a:latin typeface="Arial"/>
              </a:rPr>
              <a:t>Bellman-Ford, 1-hop, and 2-hop enumeration all fail to find a profitable executable path.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4 /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Why Existing Baselines Fail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5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v2_baselin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31520"/>
            <a:ext cx="7498079" cy="378112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914400"/>
            <a:ext cx="3797503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A1A2E"/>
                </a:solidFill>
                <a:latin typeface="Arial"/>
              </a:rPr>
              <a:t>Why they fail: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1417320"/>
            <a:ext cx="379750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▶  Bellman-Ford finds closed
cycles — ignores open-path
stablecoin arbitrage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331720"/>
            <a:ext cx="379750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▶  1-hop &amp; 2-hop only scan
≤2 edges — miss multi-hop
paths with &gt; $0 net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246120"/>
            <a:ext cx="3797503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Arial"/>
              </a:rPr>
              <a:t>▶  None model slippage,
fees, or transfer latency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5 /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Dataset: The First Execution-Aware Stablecoin Graph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6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FullGrap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31520"/>
            <a:ext cx="6583680" cy="527104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0" y="82296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58200" y="87782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centralized
exchanges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9164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58200" y="174650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stablecoin symbols
(USDT, USDC, DAI…)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56032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41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58200" y="261518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nodes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0" y="3429000"/>
            <a:ext cx="1097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CC0633"/>
                </a:solidFill>
                <a:latin typeface="Arial"/>
              </a:rPr>
              <a:t>864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58200" y="3483864"/>
            <a:ext cx="334030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edges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4407408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0" y="4553712"/>
            <a:ext cx="4529023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Arial"/>
              </a:rPr>
              <a:t>Every edge carries:
taker fee · live slippage (VWAP) ·
gas cost · venue reliability score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6 /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Method: A* Search — Google Maps for Money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7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" y="685800"/>
            <a:ext cx="11496751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 i="0">
                <a:solidFill>
                  <a:srgbClr val="1A1A2E"/>
                </a:solidFill>
                <a:latin typeface="Courier New"/>
              </a:rPr>
              <a:t>f (n)  =  g(n)  +  h(n)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" y="1325880"/>
            <a:ext cx="114967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1">
                <a:solidFill>
                  <a:srgbClr val="888888"/>
                </a:solidFill>
                <a:latin typeface="Arial"/>
              </a:rPr>
              <a:t>g(n) = accumulated execution cost so far     h(n) = domain-specific risk estimate ahead</a:t>
            </a:r>
          </a:p>
        </p:txBody>
      </p:sp>
      <p:sp>
        <p:nvSpPr>
          <p:cNvPr id="8" name="Rectangle 7"/>
          <p:cNvSpPr/>
          <p:nvPr/>
        </p:nvSpPr>
        <p:spPr>
          <a:xfrm>
            <a:off x="347472" y="1755648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2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1874520"/>
            <a:ext cx="11496751" cy="3781826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7 /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Three Execution-Aware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8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47472" y="685800"/>
            <a:ext cx="11496751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1A1A2E"/>
                </a:solidFill>
                <a:latin typeface="Arial"/>
              </a:rPr>
              <a:t>Each heuristic adds a domain-specific penalty to h(n), steering A* toward paths that are profitable AND executable.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188720"/>
            <a:ext cx="11496751" cy="2286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47472" y="1298448"/>
            <a:ext cx="2286000" cy="3657600"/>
          </a:xfrm>
          <a:prstGeom prst="rect">
            <a:avLst/>
          </a:prstGeom>
          <a:solidFill>
            <a:srgbClr val="2196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891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Liquidity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2414016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Penalises paths where
order size exceeds
book depth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" y="36758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"Is there enough
market depth?"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816352" y="1298448"/>
            <a:ext cx="2286000" cy="36576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0779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h₂ 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0779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Slippage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7792" y="2414016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VWAP-based penalty:
pen. = max(0, VWAP − mid)
× order size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07792" y="36758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my order
move the price?"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85232" y="1298448"/>
            <a:ext cx="2286000" cy="3657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76672" y="1389888"/>
            <a:ext cx="2103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h₃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76672" y="1984248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Chain + 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76672" y="2414016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ourier New"/>
              </a:rPr>
              <a:t>Congestion penalty +
venue reliability
discount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3675888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FFFFAA"/>
                </a:solidFill>
                <a:latin typeface="Arial"/>
              </a:rPr>
              <a:t>"Will it settle
in time?"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54112" y="1298448"/>
            <a:ext cx="4090111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C0633"/>
                </a:solidFill>
                <a:latin typeface="Arial"/>
              </a:rPr>
              <a:t>h₂ in detail:</a:t>
            </a:r>
          </a:p>
        </p:txBody>
      </p:sp>
      <p:pic>
        <p:nvPicPr>
          <p:cNvPr id="24" name="Picture 23" descr="v2_slip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4112" y="1664208"/>
            <a:ext cx="3998671" cy="291241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7472" y="5120640"/>
            <a:ext cx="1149675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1">
                <a:solidFill>
                  <a:srgbClr val="CC0633"/>
                </a:solidFill>
                <a:latin typeface="Arial"/>
              </a:rPr>
              <a:t>One of these three will prove decisive.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8 /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36576"/>
            <a:ext cx="3657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CCC"/>
                </a:solidFill>
                <a:latin typeface="Arial"/>
              </a:rPr>
              <a:t>KEY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347472"/>
            <a:ext cx="939363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rial"/>
              </a:rPr>
              <a:t>h₂ (Slippage Heuristic) — 29% fewer node expansions. Same profit.</a:t>
            </a:r>
          </a:p>
        </p:txBody>
      </p:sp>
      <p:pic>
        <p:nvPicPr>
          <p:cNvPr id="6" name="Picture 5" descr="fig01_node_expansion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83658" y="777240"/>
            <a:ext cx="6824379" cy="489204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9 /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Profit Quality &amp; Compute Cost — The Full Picture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10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fig03_profit_boxplo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5943600" cy="4066185"/>
          </a:xfrm>
          <a:prstGeom prst="rect">
            <a:avLst/>
          </a:prstGeom>
        </p:spPr>
      </p:pic>
      <p:pic>
        <p:nvPicPr>
          <p:cNvPr id="7" name="Picture 6" descr="fig02_compute_time_b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6832" y="685800"/>
            <a:ext cx="5187391" cy="370284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0" y="6190488"/>
            <a:ext cx="12191695" cy="411480"/>
          </a:xfrm>
          <a:prstGeom prst="rect">
            <a:avLst/>
          </a:prstGeom>
          <a:solidFill>
            <a:srgbClr val="CC0633">
              <a:alpha val="1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" y="6236208"/>
            <a:ext cx="11496751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C0633"/>
                </a:solidFill>
                <a:latin typeface="Arial"/>
              </a:rPr>
              <a:t>h₂ matches Dijkstra profit within 1%  ·  all heuristics run in &lt;10 ms  ·  no speed-quality trade-off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10 /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Overnight Validation — 7,200 Real Searches · Live Market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11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fig10_overnight_timeseri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685800"/>
            <a:ext cx="11496751" cy="7636504"/>
          </a:xfrm>
          <a:prstGeom prst="rect">
            <a:avLst/>
          </a:prstGeom>
        </p:spPr>
      </p:pic>
      <p:pic>
        <p:nvPicPr>
          <p:cNvPr id="7" name="Picture 6" descr="fig11_overnight_heuristic_comparis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108960"/>
            <a:ext cx="6858000" cy="37106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98079" y="3108960"/>
            <a:ext cx="4346144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600"/>
              </a:spcBef>
            </a:pPr>
            <a:r>
              <a:rPr sz="1500">
                <a:solidFill>
                  <a:srgbClr val="1A1A2E"/>
                </a:solidFill>
                <a:latin typeface="Arial"/>
              </a:rPr>
              <a:t>  •  7 200 search instances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A1A2E"/>
                </a:solidFill>
                <a:latin typeface="Arial"/>
              </a:rPr>
              <a:t>  •  100% found a profitable path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A1A2E"/>
                </a:solidFill>
                <a:latin typeface="Arial"/>
              </a:rPr>
              <a:t>  •  8 hours continuous operation</a:t>
            </a:r>
          </a:p>
          <a:p>
            <a:pPr algn="l">
              <a:spcBef>
                <a:spcPts val="600"/>
              </a:spcBef>
            </a:pPr>
            <a:r>
              <a:rPr sz="1500">
                <a:solidFill>
                  <a:srgbClr val="1A1A2E"/>
                </a:solidFill>
                <a:latin typeface="Arial"/>
              </a:rPr>
              <a:t>  •  Live order book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11 /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75488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7472" y="54864"/>
            <a:ext cx="9393631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 i="0">
                <a:solidFill>
                  <a:srgbClr val="FFFFFF"/>
                </a:solidFill>
                <a:latin typeface="Arial"/>
              </a:rPr>
              <a:t>Execution Window — How Long Do Paths Stay Profitable?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997135" y="914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FFCCCC"/>
                </a:solidFill>
                <a:latin typeface="Arial"/>
              </a:rPr>
              <a:t>Slide 12</a:t>
            </a:r>
          </a:p>
        </p:txBody>
      </p:sp>
      <p:pic>
        <p:nvPicPr>
          <p:cNvPr id="5" name="Picture 4" descr="logo-canai-2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pic>
        <p:nvPicPr>
          <p:cNvPr id="6" name="Picture 5" descr="fig09_quote_stale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731520"/>
            <a:ext cx="8046720" cy="346183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59952" y="1097280"/>
            <a:ext cx="3084271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CC0633"/>
                </a:solidFill>
                <a:latin typeface="Arial"/>
              </a:rPr>
              <a:t>99.6%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59952" y="2011680"/>
            <a:ext cx="3084271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1A1A2E"/>
                </a:solidFill>
                <a:latin typeface="Arial"/>
              </a:rPr>
              <a:t>of paths remain
profitable at +2 min</a:t>
            </a:r>
          </a:p>
        </p:txBody>
      </p:sp>
      <p:sp>
        <p:nvSpPr>
          <p:cNvPr id="9" name="Rectangle 8"/>
          <p:cNvSpPr/>
          <p:nvPr/>
        </p:nvSpPr>
        <p:spPr>
          <a:xfrm>
            <a:off x="347472" y="2926080"/>
            <a:ext cx="3084271" cy="22860"/>
          </a:xfrm>
          <a:prstGeom prst="rect">
            <a:avLst/>
          </a:prstGeom>
          <a:solidFill>
            <a:srgbClr val="DDDD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59952" y="3108960"/>
            <a:ext cx="3084271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Arial"/>
              </a:rPr>
              <a:t>Practical guideline:
act within 120 seconds
of path discovery.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12 /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FullGrap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>
              <a:alpha val="78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C06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Less Exploration.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10312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CC0633"/>
                </a:solidFill>
                <a:latin typeface="Arial"/>
              </a:rPr>
              <a:t>More Execution.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108960"/>
            <a:ext cx="59436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FFFFFF"/>
                </a:solidFill>
                <a:latin typeface="Arial"/>
              </a:rPr>
              <a:t>Same Profit.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97680"/>
            <a:ext cx="5943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1">
                <a:solidFill>
                  <a:srgbClr val="FFCCCC"/>
                </a:solidFill>
                <a:latin typeface="Arial"/>
              </a:rPr>
              <a:t>Thank you  ·  Questions?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4937760"/>
            <a:ext cx="6400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AAAAA"/>
                </a:solidFill>
                <a:latin typeface="Arial"/>
              </a:rPr>
              <a:t>github.com/kevinl03/Stablecoin-CrossExchange-Arbitrage</a:t>
            </a:r>
          </a:p>
        </p:txBody>
      </p:sp>
      <p:pic>
        <p:nvPicPr>
          <p:cNvPr id="10" name="Picture 9" descr="fig18_radar_summa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1055" y="640080"/>
            <a:ext cx="4754880" cy="416367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253935" y="3657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AAAAAA"/>
                </a:solidFill>
                <a:latin typeface="Arial"/>
              </a:rPr>
              <a:t>Method comparison (all metrics)</a:t>
            </a:r>
          </a:p>
        </p:txBody>
      </p:sp>
      <p:pic>
        <p:nvPicPr>
          <p:cNvPr id="12" name="Picture 11" descr="logo-canai-202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4295" y="73152"/>
            <a:ext cx="1920240" cy="337581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472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88"/>
                </a:solidFill>
                <a:latin typeface="Arial"/>
              </a:rPr>
              <a:t>Kevin Litvin · Simon Fraser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6638544"/>
            <a:ext cx="4572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88"/>
                </a:solidFill>
                <a:latin typeface="Arial"/>
              </a:rPr>
              <a:t>Canadian AI 2026 · GSS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94415" y="6638544"/>
            <a:ext cx="914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88888"/>
                </a:solidFill>
                <a:latin typeface="Arial"/>
              </a:rPr>
              <a:t>13 /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