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4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Helvetica Neue"/>
              </a:rPr>
              <a:t>Cross-Exchange Stablecoin Arbitrage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6E3EE"/>
                </a:solidFill>
                <a:latin typeface="Helvetica Neue"/>
              </a:rPr>
              <a:t>Finding profitable paths with A* search on L2 order book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6E3EE"/>
                </a:solidFill>
                <a:latin typeface="Helvetica Neue"/>
              </a:rPr>
              <a:t>Algorithm Demo • Kevin Litvin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0" y="48234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Helvetica Neue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73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73482"/>
                </a:solidFill>
                <a:latin typeface="Helvetica Neue"/>
              </a:rPr>
              <a:t>What are Cryptocurrencies?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Helvetica Neue"/>
              </a:rPr>
              <a:t>Digital assets that live on a blockchain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Helvetica Neue"/>
              </a:rPr>
              <a:t>•  Digital tokens stored on a distributed ledger (blockchain)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Helvetica Neue"/>
              </a:rPr>
              <a:t>•  Transactions are verified by a network of computers, not a bank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Helvetica Neue"/>
              </a:rPr>
              <a:t>•  Each transaction is signed cryptographically with your private key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Helvetica Neue"/>
              </a:rPr>
              <a:t>•  Once confirmed in a block, it’s immutable — can’t be reversed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Helvetica Neue"/>
              </a:rPr>
              <a:t>•  Anyone can run a node and verify the entire history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Helvetica Neue"/>
              </a:rPr>
              <a:t>•  Traded 24/7 on centralized exchanges (Binance, Kraken, etc.)</a:t>
            </a:r>
            <a:br/>
            <a:r>
              <a:rPr sz="1400">
                <a:solidFill>
                  <a:srgbClr val="000000"/>
                </a:solidFill>
                <a:latin typeface="Helvetica Neue"/>
              </a:rPr>
              <a:t>and decentralized exchanges (Uniswap, etc.)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371600"/>
            <a:ext cx="3200400" cy="3200400"/>
          </a:xfrm>
          <a:prstGeom prst="roundRect">
            <a:avLst/>
          </a:prstGeom>
          <a:solidFill>
            <a:srgbClr val="EAF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0" y="1463040"/>
            <a:ext cx="2834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Helvetica Neue"/>
              </a:rPr>
              <a:t>How a transaction executes:</a:t>
            </a:r>
          </a:p>
          <a:p>
            <a:pPr algn="l"/>
          </a:p>
          <a:p>
            <a:pPr algn="l"/>
            <a:r>
              <a:rPr sz="1100" b="0" i="0">
                <a:solidFill>
                  <a:srgbClr val="000000"/>
                </a:solidFill>
                <a:latin typeface="Helvetica Neue"/>
              </a:rPr>
              <a:t>1️⃣  You sign a TX with your key</a:t>
            </a:r>
          </a:p>
          <a:p>
            <a:pPr algn="l"/>
          </a:p>
          <a:p>
            <a:pPr algn="l"/>
            <a:r>
              <a:rPr sz="1100" b="0" i="0">
                <a:solidFill>
                  <a:srgbClr val="000000"/>
                </a:solidFill>
                <a:latin typeface="Helvetica Neue"/>
              </a:rPr>
              <a:t>2️⃣  TX broadcast to the network</a:t>
            </a:r>
          </a:p>
          <a:p>
            <a:pPr algn="l"/>
          </a:p>
          <a:p>
            <a:pPr algn="l"/>
            <a:r>
              <a:rPr sz="1100" b="0" i="0">
                <a:solidFill>
                  <a:srgbClr val="000000"/>
                </a:solidFill>
                <a:latin typeface="Helvetica Neue"/>
              </a:rPr>
              <a:t>3️⃣  Miners/validators include it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Helvetica Neue"/>
              </a:rPr>
              <a:t>     in the next block</a:t>
            </a:r>
          </a:p>
          <a:p>
            <a:pPr algn="l"/>
          </a:p>
          <a:p>
            <a:pPr algn="l"/>
            <a:r>
              <a:rPr sz="1100" b="0" i="0">
                <a:solidFill>
                  <a:srgbClr val="000000"/>
                </a:solidFill>
                <a:latin typeface="Helvetica Neue"/>
              </a:rPr>
              <a:t>4️⃣  Block gets confirmed — 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8234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73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73482"/>
                </a:solidFill>
                <a:latin typeface="Helvetica Neue"/>
              </a:rPr>
              <a:t>What are Stablecoins?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Helvetica Neue"/>
              </a:rPr>
              <a:t>Crypto tokens pegged to fiat currency (usually $1 USD)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Helvetica Neue"/>
              </a:rPr>
              <a:t>•  Designed to always be worth ~$1.00 USD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Helvetica Neue"/>
              </a:rPr>
              <a:t>•  Backed by reserves: cash, treasuries, or algorithmic mechanisms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Helvetica Neue"/>
              </a:rPr>
              <a:t>•  Used as the “cash” of crypto — traders park profits here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Helvetica Neue"/>
              </a:rPr>
              <a:t>•  Multiple competing stablecoins: USDT, USDC, DAI, FDUSD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Helvetica Neue"/>
              </a:rPr>
              <a:t>•  Each trades on many exchanges independently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Helvetica Neue"/>
              </a:rPr>
              <a:t>•  Price can deviate slightly from $1.00 per exchange</a:t>
            </a:r>
            <a:br/>
            <a:r>
              <a:rPr sz="1400">
                <a:solidFill>
                  <a:srgbClr val="000000"/>
                </a:solidFill>
                <a:latin typeface="Helvetica Neue"/>
              </a:rPr>
              <a:t>→ this is where arbitrage lives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371600"/>
            <a:ext cx="3200400" cy="914400"/>
          </a:xfrm>
          <a:prstGeom prst="roundRect">
            <a:avLst/>
          </a:prstGeom>
          <a:solidFill>
            <a:srgbClr val="B6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52160" y="146304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Helvetica Neue"/>
              </a:rPr>
              <a:t>USDT (Tether) — $1.0001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Helvetica Neue"/>
              </a:rPr>
              <a:t>Backed by cash + treasuries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2468880"/>
            <a:ext cx="3200400" cy="914400"/>
          </a:xfrm>
          <a:prstGeom prst="roundRect">
            <a:avLst/>
          </a:prstGeom>
          <a:solidFill>
            <a:srgbClr val="B6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25603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Helvetica Neue"/>
              </a:rPr>
              <a:t>USDC (Circle) — $0.9999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Helvetica Neue"/>
              </a:rPr>
              <a:t>Backed by cash + short-term bonds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0" y="3566160"/>
            <a:ext cx="3200400" cy="914400"/>
          </a:xfrm>
          <a:prstGeom prst="roundRect">
            <a:avLst/>
          </a:prstGeom>
          <a:solidFill>
            <a:srgbClr val="B6E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36576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Helvetica Neue"/>
              </a:rPr>
              <a:t>DAI (MakerDAO) — $0.9997</a:t>
            </a:r>
          </a:p>
          <a:p>
            <a:pPr algn="l"/>
            <a:r>
              <a:rPr sz="1100" b="0" i="0">
                <a:solidFill>
                  <a:srgbClr val="000000"/>
                </a:solidFill>
                <a:latin typeface="Helvetica Neue"/>
              </a:rPr>
              <a:t>Algorithmic + over-collateralized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48234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73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73482"/>
                </a:solidFill>
                <a:latin typeface="Helvetica Neue"/>
              </a:rPr>
              <a:t>The Arbitrage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Helvetica Neue"/>
              </a:rPr>
              <a:t>Same coin, different exchanges, different prices → profit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Helvetica Neue"/>
              </a:rPr>
              <a:t>•  USDC on Binance: $1.00013   |   USDC on Kraken: $0.99990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Helvetica Neue"/>
              </a:rPr>
              <a:t>•  Spread = 2.3 basis points (bps) — small but real with volume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Helvetica Neue"/>
              </a:rPr>
              <a:t>•  Buy cheap on Kraken → transfer to Binance → sell high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Helvetica Neue"/>
              </a:rPr>
              <a:t>•  Must account for: trading fees, withdrawal fees, transfer time, slippage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Helvetica Neue"/>
              </a:rPr>
              <a:t>•  Question: with 5 exchanges × 4 stablecoins = 20+ nodes and 40+ edges,</a:t>
            </a:r>
            <a:br/>
            <a:r>
              <a:rPr sz="1400">
                <a:solidFill>
                  <a:srgbClr val="000000"/>
                </a:solidFill>
                <a:latin typeface="Helvetica Neue"/>
              </a:rPr>
              <a:t>how do we find the cheapest profitable cycle?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Helvetica Neue"/>
              </a:rPr>
              <a:t>•  Answer: model it as a graph problem and use path-finding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48234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73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73482"/>
                </a:solidFill>
                <a:latin typeface="Helvetica Neue"/>
              </a:rPr>
              <a:t>Modelling as a Weighted Directed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Helvetica Neue"/>
              </a:rPr>
              <a:t>Nodes = (exchange, coin) pairs    Edges = trades or transfers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4114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000000"/>
                </a:solidFill>
                <a:latin typeface="Helvetica Neue"/>
              </a:rPr>
              <a:t>•  Node: a stablecoin sitting on a specific exchange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0000"/>
                </a:solidFill>
                <a:latin typeface="Helvetica Neue"/>
              </a:rPr>
              <a:t>•  Trade edge (intra-exchange):</a:t>
            </a:r>
            <a:br/>
            <a:r>
              <a:rPr sz="1300">
                <a:solidFill>
                  <a:srgbClr val="000000"/>
                </a:solidFill>
                <a:latin typeface="Helvetica Neue"/>
              </a:rPr>
              <a:t>  same exchange, swap USDT→USDC</a:t>
            </a:r>
            <a:br/>
            <a:r>
              <a:rPr sz="1300">
                <a:solidFill>
                  <a:srgbClr val="000000"/>
                </a:solidFill>
                <a:latin typeface="Helvetica Neue"/>
              </a:rPr>
              <a:t>  cost = taker fee (0.8-2.5 bps)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0000"/>
                </a:solidFill>
                <a:latin typeface="Helvetica Neue"/>
              </a:rPr>
              <a:t>•  Transfer edge (cross-exchange):</a:t>
            </a:r>
            <a:br/>
            <a:r>
              <a:rPr sz="1300">
                <a:solidFill>
                  <a:srgbClr val="000000"/>
                </a:solidFill>
                <a:latin typeface="Helvetica Neue"/>
              </a:rPr>
              <a:t>  same coin, move between exchanges</a:t>
            </a:r>
            <a:br/>
            <a:r>
              <a:rPr sz="1300">
                <a:solidFill>
                  <a:srgbClr val="000000"/>
                </a:solidFill>
                <a:latin typeface="Helvetica Neue"/>
              </a:rPr>
              <a:t>  cost = withdrawal fee + gas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000000"/>
                </a:solidFill>
                <a:latin typeface="Helvetica Neue"/>
              </a:rPr>
              <a:t>•  Goal: find a cycle starting and ending</a:t>
            </a:r>
            <a:br/>
            <a:r>
              <a:rPr sz="1300">
                <a:solidFill>
                  <a:srgbClr val="000000"/>
                </a:solidFill>
                <a:latin typeface="Helvetica Neue"/>
              </a:rPr>
              <a:t>  at the same node with net profit &gt; 0</a:t>
            </a:r>
          </a:p>
        </p:txBody>
      </p:sp>
      <p:pic>
        <p:nvPicPr>
          <p:cNvPr id="6" name="Picture 5" descr="frame_00_step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88720"/>
            <a:ext cx="4114800" cy="4214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48234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73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73482"/>
                </a:solidFill>
                <a:latin typeface="Helvetica Neue"/>
              </a:rPr>
              <a:t>Baseline: Dijkstra’s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Helvetica Neue"/>
              </a:rPr>
              <a:t>f(n) = g(n) — expand nodes by lowest accumulated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Helvetica Neue"/>
              </a:rPr>
              <a:t>•  g(n) = total fees paid to reach node n from start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Helvetica Neue"/>
              </a:rPr>
              <a:t>•  Always picks the cheapest-so-far node to expand next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Helvetica Neue"/>
              </a:rPr>
              <a:t>•  Guaranteed optimal but explores blindly in all directions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Helvetica Neue"/>
              </a:rPr>
              <a:t>•  Doesn’t know that a 300-second transfer will expose us to price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73482"/>
                </a:solidFill>
                <a:latin typeface="Helvetica Neue"/>
              </a:rPr>
              <a:t>f(n) = g(n)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49039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95959"/>
                </a:solidFill>
                <a:latin typeface="Helvetica Neue"/>
              </a:rPr>
              <a:t>Problem: Dijkstra treats a 0.3bp fee edge to OKX (5-min transfer, thin book)</a:t>
            </a:r>
          </a:p>
          <a:p>
            <a:pPr algn="ctr"/>
            <a:r>
              <a:rPr sz="1200" b="0" i="1">
                <a:solidFill>
                  <a:srgbClr val="595959"/>
                </a:solidFill>
                <a:latin typeface="Helvetica Neue"/>
              </a:rPr>
              <a:t>the same as a 0.3bp fee edge to Bybit (45-sec transfer, deep book)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8234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Helvetica Neu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73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73482"/>
                </a:solidFill>
                <a:latin typeface="Helvetica Neue"/>
              </a:rPr>
              <a:t>A* Search: f(n) = g(n) + h(n)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Helvetica Neue"/>
              </a:rPr>
              <a:t>Add a heuristic that estimates slippage + time-decay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Helvetica Neue"/>
              </a:rPr>
              <a:t>•  h(n) = estimated future cost from L2 order book slippage + volatility exposure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Helvetica Neue"/>
              </a:rPr>
              <a:t>•  A* expands the node with lowest f = actual cost so far + estimated cost ahead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Helvetica Neue"/>
              </a:rPr>
              <a:t>•  Prioritizes paths through deep-liquidity exchanges, avoids thin books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926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73482"/>
                </a:solidFill>
                <a:latin typeface="Helvetica Neue"/>
              </a:rPr>
              <a:t>f(n) = g(n) + h(n)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661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Helvetica Neue"/>
              </a:rPr>
              <a:t>h(n) = slippage(L2 book, trade_size) + σ · √(Δt)</a:t>
            </a:r>
          </a:p>
          <a:p>
            <a:pPr algn="l"/>
          </a:p>
          <a:p>
            <a:pPr algn="l"/>
            <a:r>
              <a:rPr sz="1200" b="0" i="0">
                <a:solidFill>
                  <a:srgbClr val="595959"/>
                </a:solidFill>
                <a:latin typeface="Helvetica Neue"/>
              </a:rPr>
              <a:t>Slippage: walk the ask side of the order book for our trade size</a:t>
            </a:r>
          </a:p>
          <a:p>
            <a:pPr algn="l"/>
            <a:r>
              <a:rPr sz="1200" b="0" i="0">
                <a:solidFill>
                  <a:srgbClr val="595959"/>
                </a:solidFill>
                <a:latin typeface="Helvetica Neue"/>
              </a:rPr>
              <a:t>Time risk: stablecoin volatility (∼1.5 bps/min) × transfer duration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48234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Helvetica Neue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73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73482"/>
                </a:solidFill>
                <a:latin typeface="Helvetica Neue"/>
              </a:rPr>
              <a:t>Step 1: Start at Binance:USDT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Helvetica Neue"/>
              </a:rPr>
              <a:t>A* begins at our starting node. Orange edges show all neighbors being pushed to the priority queue with their f(n) values.</a:t>
            </a:r>
          </a:p>
        </p:txBody>
      </p:sp>
      <p:pic>
        <p:nvPicPr>
          <p:cNvPr id="5" name="Picture 4" descr="frame_00_step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047" y="1280160"/>
            <a:ext cx="3481906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0" y="48234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Helvetica Neu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73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73482"/>
                </a:solidFill>
                <a:latin typeface="Helvetica Neue"/>
              </a:rPr>
              <a:t>Mid-Search: Expanding Through the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Helvetica Neue"/>
              </a:rPr>
              <a:t>A* has explored the cheap, low-slippage paths first (Binance→Bybit). High time-risk transfers to OKX/Gate.io are deprioritized by h(n).</a:t>
            </a:r>
          </a:p>
        </p:txBody>
      </p:sp>
      <p:pic>
        <p:nvPicPr>
          <p:cNvPr id="5" name="Picture 4" descr="frame_05_step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047" y="1280160"/>
            <a:ext cx="3481906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0" y="48234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Helvetica Neue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73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73482"/>
                </a:solidFill>
                <a:latin typeface="Helvetica Neue"/>
              </a:rPr>
              <a:t>Final: Profitable Cycle Discovered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Helvetica Neue"/>
              </a:rPr>
              <a:t>Red path = the cycle with lowest total real cost. The heuristic guided the search away from thin-book exchanges.</a:t>
            </a:r>
          </a:p>
        </p:txBody>
      </p:sp>
      <p:pic>
        <p:nvPicPr>
          <p:cNvPr id="5" name="Picture 4" descr="frame_09_step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047" y="1280160"/>
            <a:ext cx="3481906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0" y="48234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73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73482"/>
                </a:solidFill>
                <a:latin typeface="Helvetica Neue"/>
              </a:rPr>
              <a:t>The Heuristic: L2 Order Book Slippage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Helvetica Neue"/>
              </a:rPr>
              <a:t>How h(n) estimates execution cost before we actually trade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000000"/>
                </a:solidFill>
                <a:latin typeface="Helvetica Neue"/>
              </a:rPr>
              <a:t>•  Every exchange provides Level 2 (L2) data:</a:t>
            </a:r>
            <a:br/>
            <a:r>
              <a:rPr sz="1200">
                <a:solidFill>
                  <a:srgbClr val="000000"/>
                </a:solidFill>
                <a:latin typeface="Helvetica Neue"/>
              </a:rPr>
              <a:t>  20 levels of bids and asks with quantities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00000"/>
                </a:solidFill>
                <a:latin typeface="Helvetica Neue"/>
              </a:rPr>
              <a:t>•  For a $50K trade, we walk the ask levels:</a:t>
            </a:r>
            <a:br/>
            <a:r>
              <a:rPr sz="1200">
                <a:solidFill>
                  <a:srgbClr val="000000"/>
                </a:solidFill>
                <a:latin typeface="Helvetica Neue"/>
              </a:rPr>
              <a:t>  Level 1: 236K units @ 1.00013</a:t>
            </a:r>
            <a:br/>
            <a:r>
              <a:rPr sz="1200">
                <a:solidFill>
                  <a:srgbClr val="000000"/>
                </a:solidFill>
                <a:latin typeface="Helvetica Neue"/>
              </a:rPr>
              <a:t>  Level 2: 766K units @ 1.00014</a:t>
            </a:r>
            <a:br/>
            <a:r>
              <a:rPr sz="1200">
                <a:solidFill>
                  <a:srgbClr val="000000"/>
                </a:solidFill>
                <a:latin typeface="Helvetica Neue"/>
              </a:rPr>
              <a:t>  → our order fills entirely at level 1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00000"/>
                </a:solidFill>
                <a:latin typeface="Helvetica Neue"/>
              </a:rPr>
              <a:t>•  Slippage = avg fill price − best ask</a:t>
            </a:r>
            <a:br/>
            <a:r>
              <a:rPr sz="1200">
                <a:solidFill>
                  <a:srgbClr val="000000"/>
                </a:solidFill>
                <a:latin typeface="Helvetica Neue"/>
              </a:rPr>
              <a:t>  Binance: ~0.00 bps (deep)</a:t>
            </a:r>
            <a:br/>
            <a:r>
              <a:rPr sz="1200">
                <a:solidFill>
                  <a:srgbClr val="000000"/>
                </a:solidFill>
                <a:latin typeface="Helvetica Neue"/>
              </a:rPr>
              <a:t>  Gate.io: ~0.47 bps (thin)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000000"/>
                </a:solidFill>
                <a:latin typeface="Helvetica Neue"/>
              </a:rPr>
              <a:t>•  Thin books → large h(n) → A* avoids them</a:t>
            </a:r>
          </a:p>
        </p:txBody>
      </p:sp>
      <p:pic>
        <p:nvPicPr>
          <p:cNvPr id="6" name="Picture 5" descr="astar_arbitrage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88720"/>
            <a:ext cx="4114800" cy="36721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48234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734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73482"/>
                </a:solidFill>
                <a:latin typeface="Helvetica Neue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Helvetica Neue"/>
              </a:rPr>
              <a:t>•  Stablecoins trade at slightly different prices across exchanges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Helvetica Neue"/>
              </a:rPr>
              <a:t>•  We model the cross-exchange landscape as a weighted directed graph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Helvetica Neue"/>
              </a:rPr>
              <a:t>•  A* with an L2-slippage heuristic finds profitable cycles faster than blind search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Helvetica Neue"/>
              </a:rPr>
              <a:t>•  The heuristic is admissible: slippage + time-volatility never overestimates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Helvetica Neue"/>
              </a:rPr>
              <a:t>•  Result: same optimal path as Dijkstra, but guided toward deep-liquidity routes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Helvetica Neue"/>
              </a:rPr>
              <a:t>Code: scripts/animate_astar_search.py    |    UI: streamlit run scripts/ui.py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48234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95959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