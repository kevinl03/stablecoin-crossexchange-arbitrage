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94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4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Cross-Exchange Stablecoin Arbitrage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0097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B6E3EE"/>
                </a:solidFill>
                <a:latin typeface="Helvetica Neue"/>
              </a:rPr>
              <a:t>Finding profitable paths with A* search on L2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6E3EE"/>
                </a:solidFill>
                <a:latin typeface="Helvetica Neue"/>
              </a:rPr>
              <a:t>Algorithm Demo • Kevin Litvin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What are Cryptocurrencies?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651760" cy="27432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Digital Assets</a:t>
            </a:r>
          </a:p>
          <a:p>
            <a:pPr algn="l"/>
            <a:endParaRPr sz="13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Tokens on a distributed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ledger — no bank needed.</a:t>
            </a:r>
          </a:p>
          <a:p>
            <a:pPr algn="l"/>
            <a:endParaRPr sz="13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Traded 24/7 globally.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234440"/>
            <a:ext cx="2651760" cy="27432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Blockchain Execution</a:t>
            </a:r>
          </a:p>
          <a:p>
            <a:pPr algn="l"/>
            <a:endParaRPr sz="13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1. Sign TX with private key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2. Broadcast to network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3. Validator adds to block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4. Confirmed — immutable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27432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Exchanges</a:t>
            </a:r>
          </a:p>
          <a:p>
            <a:pPr algn="l"/>
            <a:endParaRPr sz="1300" b="0" i="0">
              <a:solidFill>
                <a:srgbClr val="FFFFFF"/>
              </a:solidFill>
              <a:latin typeface="Helvetica Neue"/>
            </a:endParaRP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Binance, Kraken, Bybit,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Coinbase, OKX, Gate.io</a:t>
            </a:r>
          </a:p>
          <a:p>
            <a:pPr algn="l"/>
            <a:endParaRPr sz="1300" b="0" i="0">
              <a:solidFill>
                <a:srgbClr val="FFFFFF"/>
              </a:solidFill>
              <a:latin typeface="Helvetica Neue"/>
            </a:endParaRP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Each runs its own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order book independently.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Key insight: same asset can have different prices on different exchanges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Stablecoins: The “Cash” of Crypto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Crypto tokens pegged to a fiat currency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Not just USD — EUR, GBP, CAD, JPY</a:t>
            </a:r>
            <a:br/>
            <a:r>
              <a:rPr sz="1400">
                <a:solidFill>
                  <a:srgbClr val="000000"/>
                </a:solidFill>
                <a:latin typeface="Helvetica Neue"/>
              </a:rPr>
              <a:t>stablecoins exist too (e.g. EURC, EURT)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Backed by real reserves (cash, treasuries)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Multiple issuers → multiple prices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3840480" cy="566928"/>
          </a:xfrm>
          <a:prstGeom prst="roundRect">
            <a:avLst/>
          </a:prstGeom>
          <a:solidFill>
            <a:srgbClr val="F6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12080" y="124358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USDT  (Tether)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243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$1.0001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901952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0" y="19568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USDC  (Circle)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5681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615184"/>
            <a:ext cx="3840480" cy="566928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0" y="26700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DAI    (Maker)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004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328416"/>
            <a:ext cx="3840480" cy="566928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EURC  (Circle, EUR)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383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€1.0002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041648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0" y="4096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EURT  (Tether, EUR)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0965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€0.9995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Cross-currency arbitrage is possible too: USD-pegged vs. EUR-pegged coins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How Do They Stay Pegged?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Three mechanisms — works for USD, EUR, GBP, CAD, etc.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Fiat-Backed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(USDT, EURC)</a:t>
            </a:r>
          </a:p>
          <a:p>
            <a:pPr algn="l"/>
            <a:endParaRPr sz="12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1:1 reserve of fiat cash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in bank accounts + bonds.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Redeem anytime at par.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Over-Collateralized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(DAI)</a:t>
            </a:r>
          </a:p>
          <a:p>
            <a:pPr algn="l"/>
            <a:endParaRPr sz="12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Lock $1.50 of ETH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mint $1.00 of DAI.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Auto-liquidates if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collateral drops.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Algorithmic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(historical)</a:t>
            </a:r>
          </a:p>
          <a:p>
            <a:pPr algn="l"/>
            <a:endParaRPr sz="1200" b="0" i="0">
              <a:solidFill>
                <a:srgbClr val="FFFFFF"/>
              </a:solidFill>
              <a:latin typeface="Helvetica Neue"/>
            </a:endParaRP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Expand/contract supply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to maintain peg.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High risk — UST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collapsed in 2022.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Arbitrage Opportunity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3716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Kraken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$0.99990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(cheap)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188720"/>
            <a:ext cx="3840480" cy="13716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Binance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$1.00013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(expensive)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73482"/>
                </a:solidFill>
                <a:latin typeface="Helvetica Ne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6400800" cy="9144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30175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Buy on Kraken  →  Transfer  →  Sell on Binance  =  +2.3 bps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But: fees + slippage + transfer time can eat the profit.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With 5 exchanges × 4 coins = 20 nodes, 40+ edges — need an algorithm.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Model: Weighted Directed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Node = (exchange, coin)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Trade edge: swap coins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on same exchange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Transfer edge: move coin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between exchanges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Edge weight = fee in bps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Goal: find lowest-cost path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— a closed cycle back to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start, OR just the cheapest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route between two nodes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097280"/>
            <a:ext cx="366046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Why Shortest-Path Isn’t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4 real-world costs a naive graph search ignores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1. Fees</a:t>
            </a:r>
          </a:p>
          <a:p>
            <a:pPr algn="l"/>
            <a:endParaRPr sz="12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Flat transfer fees apply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per trade — the order needs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to be large enough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offset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2. Slippage</a:t>
            </a:r>
          </a:p>
          <a:p>
            <a:pPr algn="l"/>
            <a:endParaRPr sz="12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Asset prices move during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execution — impacts profit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more for larger order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sizes.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3. Latency</a:t>
            </a:r>
          </a:p>
          <a:p>
            <a:pPr algn="l"/>
            <a:endParaRPr sz="12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Some blockchains take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longer to confirm — others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slow down under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high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023360"/>
            <a:ext cx="2651760" cy="86868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65960" y="41148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4. Operational risk — withdrawals may be paused,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regions geofenced, or VPNs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Dijkstra: f(n) = g(n)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1188720"/>
                <a:ext cx="8229600" cy="10310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500" b="0" i="0" dirty="0">
                    <a:solidFill>
                      <a:srgbClr val="000000"/>
                    </a:solidFill>
                    <a:latin typeface="Helvetica Neue"/>
                  </a:rPr>
                  <a:t>Expand the node with the lowest accumulated cost so far</a:t>
                </a:r>
                <a:r>
                  <a:rPr lang="en-CA" sz="1500" dirty="0">
                    <a:solidFill>
                      <a:srgbClr val="000000"/>
                    </a:solidFill>
                    <a:latin typeface="Helvetica Neue"/>
                  </a:rPr>
                  <a:t>.</a:t>
                </a:r>
              </a:p>
              <a:p>
                <a:r>
                  <a:rPr lang="en-CA" sz="1500" dirty="0">
                    <a:solidFill>
                      <a:srgbClr val="000000"/>
                    </a:solidFill>
                    <a:latin typeface="Helvetica Neue"/>
                  </a:rPr>
                  <a:t>For our graph formulation problem, instead of taking the sum of the paths, we take the Prod of the exchange rates of 2 nodes e</a:t>
                </a:r>
                <a:br>
                  <a:rPr lang="en-CA" sz="1500" dirty="0">
                    <a:solidFill>
                      <a:srgbClr val="000000"/>
                    </a:solidFill>
                    <a:latin typeface="Helvetica Neue"/>
                  </a:rPr>
                </a:br>
                <a:r>
                  <a:rPr lang="en-CA" sz="1500" dirty="0">
                    <a:solidFill>
                      <a:srgbClr val="000000"/>
                    </a:solidFill>
                    <a:latin typeface="Helvetica Neue"/>
                  </a:rPr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cs typeface="Times" panose="02020603050405020304" pitchFamily="18" charset="0"/>
                          </a:rPr>
                        </m:ctrlPr>
                      </m:sSubPr>
                      <m:e>
                        <m: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cs typeface="Times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cs typeface="Times" panose="02020603050405020304" pitchFamily="18" charset="0"/>
                          </a:rPr>
                          <m:t>𝑘</m:t>
                        </m:r>
                      </m:sub>
                    </m:sSub>
                    <m:r>
                      <a:rPr lang="en-CA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cs typeface="Times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cs typeface="Times" panose="02020603050405020304" pitchFamily="18" charset="0"/>
                          </a:rPr>
                        </m:ctrlPr>
                      </m:sSubPr>
                      <m:e>
                        <m: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cs typeface="Times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cs typeface="Times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1600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" panose="02020603050405020304" pitchFamily="18" charset="0"/>
                      </a:rPr>
                      <m:t>∙</m:t>
                    </m:r>
                    <m:nary>
                      <m:naryPr>
                        <m:chr m:val="∏"/>
                        <m:supHide m:val="on"/>
                        <m:ctrlP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" panose="020206030504050203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" panose="02020603050405020304" pitchFamily="18" charset="0"/>
                          </a:rPr>
                          <m:t>𝑒</m:t>
                        </m:r>
                        <m: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" panose="02020603050405020304" pitchFamily="18" charset="0"/>
                          </a:rPr>
                          <m:t>𝜖</m:t>
                        </m:r>
                        <m: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" panose="02020603050405020304" pitchFamily="18" charset="0"/>
                          </a:rPr>
                          <m:t>𝑃</m:t>
                        </m:r>
                      </m:sub>
                      <m:sup/>
                      <m:e>
                        <m:r>
                          <a:rPr lang="en-CA" sz="1600" i="1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" panose="020206030504050203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CA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CA" sz="1600" i="1">
                                <a:solidFill>
                                  <a:schemeClr val="dk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" panose="02020603050405020304" pitchFamily="18" charset="0"/>
                              </a:rPr>
                              <m:t>𝑒</m:t>
                            </m:r>
                          </m:e>
                        </m:d>
                      </m:e>
                    </m:nary>
                  </m:oMath>
                </a14:m>
                <a:r>
                  <a:rPr lang="en-US" sz="1600" dirty="0">
                    <a:solidFill>
                      <a:schemeClr val="dk1"/>
                    </a:solidFill>
                    <a:latin typeface="Helvetica Neue" panose="020B0604020202020204" charset="0"/>
                    <a:cs typeface="Times" panose="02020603050405020304" pitchFamily="18" charset="0"/>
                  </a:rPr>
                  <a:t>,</a:t>
                </a:r>
                <a:endParaRPr sz="1500" b="0" i="0" dirty="0">
                  <a:solidFill>
                    <a:srgbClr val="000000"/>
                  </a:solidFill>
                  <a:latin typeface="Helvetica Neue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188720"/>
                <a:ext cx="8229600" cy="1031051"/>
              </a:xfrm>
              <a:prstGeom prst="rect">
                <a:avLst/>
              </a:prstGeom>
              <a:blipFill>
                <a:blip r:embed="rId2"/>
                <a:stretch>
                  <a:fillRect l="-296" t="-1183" b="-5621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457200" y="2651760"/>
            <a:ext cx="3931920" cy="18288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Guaranteed optimal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Simple to implement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No domain knowledge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651760"/>
            <a:ext cx="3931920" cy="1828800"/>
          </a:xfrm>
          <a:prstGeom prst="roundRect">
            <a:avLst/>
          </a:prstGeom>
          <a:solidFill>
            <a:srgbClr val="FF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Explores blindly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slippage risk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transfer time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Wastes time on thin 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A*: f(n) = g(n) + h(n)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dirty="0">
                <a:solidFill>
                  <a:srgbClr val="000000"/>
                </a:solidFill>
                <a:latin typeface="Helvetica Neue"/>
              </a:rPr>
              <a:t>Add a heuristic that looks ahead at execution quality</a:t>
            </a:r>
            <a:r>
              <a:rPr lang="en-CA" sz="1500" b="0" i="0" dirty="0">
                <a:solidFill>
                  <a:srgbClr val="000000"/>
                </a:solidFill>
                <a:latin typeface="Helvetica Neue"/>
              </a:rPr>
              <a:t>. </a:t>
            </a:r>
            <a:endParaRPr sz="1500" b="0" i="0" dirty="0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73482"/>
                </a:solidFill>
                <a:latin typeface="Helvetica Neue"/>
              </a:rPr>
              <a:t>f(n) = g(n) + h(n)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8229600" cy="201168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h(n) = slippage(L2 order book) + σ · √(Δt)</a:t>
            </a:r>
          </a:p>
          <a:p>
            <a:pPr algn="l"/>
            <a:endParaRPr sz="13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Slippage:   Walk the ask side for our trade size. Thin book = high cost.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Time risk:  Stablecoin vol (~1.5 bps/min) × transfer duration.</a:t>
            </a:r>
          </a:p>
          <a:p>
            <a:pPr algn="l"/>
            <a:endParaRPr sz="1300" b="0" i="0">
              <a:solidFill>
                <a:srgbClr val="000000"/>
              </a:solidFill>
              <a:latin typeface="Helvetica Neue"/>
            </a:endParaRP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Deep book + fast transfer → low h → A* explores that path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1: Start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Begin at Binance:USDT. Orange = edges just pushed to priority queue.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3: Expanding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Cheap, low-slippage paths explored first. Fee labels (bps) on each edge.</a:t>
            </a:r>
          </a:p>
        </p:txBody>
      </p:sp>
      <p:pic>
        <p:nvPicPr>
          <p:cNvPr id="5" name="Picture 4" descr="frame_02_ste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Mid-Search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Bybit and Kraken reached. High time-risk paths to OKX deprioritized.</a:t>
            </a:r>
          </a:p>
        </p:txBody>
      </p:sp>
      <p:pic>
        <p:nvPicPr>
          <p:cNvPr id="5" name="Picture 4" descr="frame_05_step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Nearing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Most nodes expanded. Searching for profitable return path to start.</a:t>
            </a:r>
          </a:p>
        </p:txBody>
      </p:sp>
      <p:pic>
        <p:nvPicPr>
          <p:cNvPr id="5" name="Picture 4" descr="frame_08_step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Final: Profitable Path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Red = lowest-cost route found. Doesn’t have to close a cycle —</a:t>
            </a:r>
          </a:p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a one-way path can be profitable too (e.g. rebalancing, one-off transfers).</a:t>
            </a:r>
          </a:p>
        </p:txBody>
      </p:sp>
      <p:pic>
        <p:nvPicPr>
          <p:cNvPr id="5" name="Picture 4" descr="frame_09_step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L2 Order Book → Slippage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3703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20 price levels of depth per book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Walk the asks for our trade size</a:t>
            </a:r>
            <a:br/>
            <a:r>
              <a:rPr sz="1300">
                <a:solidFill>
                  <a:srgbClr val="000000"/>
                </a:solidFill>
                <a:latin typeface="Helvetica Neue"/>
              </a:rPr>
              <a:t>  → this is what guides h(n)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Deep book (Binance) → low slippage</a:t>
            </a:r>
            <a:br/>
            <a:r>
              <a:rPr sz="1300">
                <a:solidFill>
                  <a:srgbClr val="000000"/>
                </a:solidFill>
                <a:latin typeface="Helvetica Neue"/>
              </a:rPr>
              <a:t>  → A* prefers 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Thin book (Gate.io) → high slippage</a:t>
            </a:r>
            <a:br/>
            <a:r>
              <a:rPr sz="1300">
                <a:solidFill>
                  <a:srgbClr val="000000"/>
                </a:solidFill>
                <a:latin typeface="Helvetica Neue"/>
              </a:rPr>
              <a:t>  → A* avoids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611880"/>
            <a:ext cx="3703320" cy="10515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75887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Also tested h(n) variants penalizing: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• Liquidity (order book depth)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• Latency (chain + venue confirm time)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143000"/>
          <a:ext cx="4297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USDC/USDT</a:t>
                      </a:r>
                    </a:p>
                  </a:txBody>
                  <a:tcPr anchor="ctr">
                    <a:solidFill>
                      <a:srgbClr val="173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Bid</a:t>
                      </a:r>
                    </a:p>
                  </a:txBody>
                  <a:tcPr anchor="ctr">
                    <a:solidFill>
                      <a:srgbClr val="173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Ask</a:t>
                      </a:r>
                    </a:p>
                  </a:txBody>
                  <a:tcPr anchor="ctr">
                    <a:solidFill>
                      <a:srgbClr val="1734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Binance (deep)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1.00011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1.00014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1.00010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1.00015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1.00009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1.00016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Gate.io (thin)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1.0006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1.0009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1.0005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1.0010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1.0004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1.0011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434840" y="37033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$50K buy on Binance ≈ 0 bps slippage (millions of units at top)</a:t>
            </a:r>
          </a:p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$50K buy on Gate.io ≈ 0.5 bps slippage (only ~5K units at top)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Stablecoins = crypto pegged to fiat (USD, EUR, etc.) — tiny cross-exchange gaps exist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Model as a graph → arbitrage = finding a profitable path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The path can close a cycle back to start, or just end at a cheaper destination — both count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Real-world costs — fees, slippage, latency, operational risk — shape which paths are worth 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A* + slippage heuristic guides search toward deep, fast routes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Same optimality as Dijkstra, but focused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Code: scripts/animate_astar_search.py</a:t>
            </a:r>
          </a:p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UI: streamlit run scripts/ui.py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1a4d86c9-6ef8-4c81-b7a9-15a3140c062e}" enabled="1" method="Standard" siteId="{4bb44aac-867a-4be0-aa34-30794e8470d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11165</TotalTime>
  <Words>1095</Words>
  <Application>Microsoft Office PowerPoint</Application>
  <PresentationFormat>On-screen Show (16:9)</PresentationFormat>
  <Paragraphs>183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 Math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Kevin Litvin (CW)</cp:lastModifiedBy>
  <cp:revision>2</cp:revision>
  <dcterms:created xsi:type="dcterms:W3CDTF">2013-01-27T09:14:16Z</dcterms:created>
  <dcterms:modified xsi:type="dcterms:W3CDTF">2026-08-06T18:11:30Z</dcterms:modified>
  <cp:category/>
</cp:coreProperties>
</file>