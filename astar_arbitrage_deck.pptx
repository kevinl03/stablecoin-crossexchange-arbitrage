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7348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371600"/>
            <a:ext cx="78638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FFFFFF"/>
                </a:solidFill>
                <a:latin typeface="Helvetica Neue"/>
              </a:rPr>
              <a:t>Cross-Exchange Stablecoin Arbitrage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286000"/>
            <a:ext cx="78638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1">
                <a:solidFill>
                  <a:srgbClr val="B6E3EE"/>
                </a:solidFill>
                <a:latin typeface="Helvetica Neue"/>
              </a:rPr>
              <a:t>Finding profitable paths with A* search on L2 order book 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480560"/>
            <a:ext cx="7863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B6E3EE"/>
                </a:solidFill>
                <a:latin typeface="Helvetica Neue"/>
              </a:rPr>
              <a:t>Algorithm Demo • Kevin Litvin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03920" y="482346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595959"/>
                </a:solidFill>
                <a:latin typeface="Helvetica Neue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1734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56032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173482"/>
                </a:solidFill>
                <a:latin typeface="Helvetica Neue"/>
              </a:rPr>
              <a:t>What are Cryptocurrencies?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11480" y="1234440"/>
            <a:ext cx="2651760" cy="2743200"/>
          </a:xfrm>
          <a:prstGeom prst="roundRect">
            <a:avLst/>
          </a:prstGeom>
          <a:solidFill>
            <a:srgbClr val="EAF8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237744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000000"/>
                </a:solidFill>
                <a:latin typeface="Helvetica Neue"/>
              </a:rPr>
              <a:t>Digital Assets</a:t>
            </a:r>
          </a:p>
          <a:p>
            <a:pPr algn="l"/>
          </a:p>
          <a:p>
            <a:pPr algn="l"/>
            <a:r>
              <a:rPr sz="1300" b="0" i="0">
                <a:solidFill>
                  <a:srgbClr val="000000"/>
                </a:solidFill>
                <a:latin typeface="Helvetica Neue"/>
              </a:rPr>
              <a:t>Tokens on a distributed</a:t>
            </a:r>
          </a:p>
          <a:p>
            <a:pPr algn="l"/>
            <a:r>
              <a:rPr sz="1300" b="0" i="0">
                <a:solidFill>
                  <a:srgbClr val="000000"/>
                </a:solidFill>
                <a:latin typeface="Helvetica Neue"/>
              </a:rPr>
              <a:t>ledger — no bank needed.</a:t>
            </a:r>
          </a:p>
          <a:p>
            <a:pPr algn="l"/>
          </a:p>
          <a:p>
            <a:pPr algn="l"/>
            <a:r>
              <a:rPr sz="1300" b="0" i="0">
                <a:solidFill>
                  <a:srgbClr val="000000"/>
                </a:solidFill>
                <a:latin typeface="Helvetica Neue"/>
              </a:rPr>
              <a:t>Traded 24/7 globally.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246120" y="1234440"/>
            <a:ext cx="2651760" cy="2743200"/>
          </a:xfrm>
          <a:prstGeom prst="roundRect">
            <a:avLst/>
          </a:prstGeom>
          <a:solidFill>
            <a:srgbClr val="B6E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383280" y="1371600"/>
            <a:ext cx="237744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000000"/>
                </a:solidFill>
                <a:latin typeface="Helvetica Neue"/>
              </a:rPr>
              <a:t>Blockchain Execution</a:t>
            </a:r>
          </a:p>
          <a:p>
            <a:pPr algn="l"/>
          </a:p>
          <a:p>
            <a:pPr algn="l"/>
            <a:r>
              <a:rPr sz="1300" b="0" i="0">
                <a:solidFill>
                  <a:srgbClr val="000000"/>
                </a:solidFill>
                <a:latin typeface="Helvetica Neue"/>
              </a:rPr>
              <a:t>1. Sign TX with private key</a:t>
            </a:r>
          </a:p>
          <a:p>
            <a:pPr algn="l"/>
            <a:r>
              <a:rPr sz="1300" b="0" i="0">
                <a:solidFill>
                  <a:srgbClr val="000000"/>
                </a:solidFill>
                <a:latin typeface="Helvetica Neue"/>
              </a:rPr>
              <a:t>2. Broadcast to network</a:t>
            </a:r>
          </a:p>
          <a:p>
            <a:pPr algn="l"/>
            <a:r>
              <a:rPr sz="1300" b="0" i="0">
                <a:solidFill>
                  <a:srgbClr val="000000"/>
                </a:solidFill>
                <a:latin typeface="Helvetica Neue"/>
              </a:rPr>
              <a:t>3. Validator adds to block</a:t>
            </a:r>
          </a:p>
          <a:p>
            <a:pPr algn="l"/>
            <a:r>
              <a:rPr sz="1300" b="0" i="0">
                <a:solidFill>
                  <a:srgbClr val="000000"/>
                </a:solidFill>
                <a:latin typeface="Helvetica Neue"/>
              </a:rPr>
              <a:t>4. Confirmed — immutable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080760" y="1234440"/>
            <a:ext cx="2651760" cy="2743200"/>
          </a:xfrm>
          <a:prstGeom prst="roundRect">
            <a:avLst/>
          </a:prstGeom>
          <a:solidFill>
            <a:srgbClr val="1734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217920" y="1371600"/>
            <a:ext cx="237744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Helvetica Neue"/>
              </a:rPr>
              <a:t>Exchanges</a:t>
            </a:r>
          </a:p>
          <a:p>
            <a:pPr algn="l"/>
          </a:p>
          <a:p>
            <a:pPr algn="l"/>
            <a:r>
              <a:rPr sz="1300" b="0" i="0">
                <a:solidFill>
                  <a:srgbClr val="FFFFFF"/>
                </a:solidFill>
                <a:latin typeface="Helvetica Neue"/>
              </a:rPr>
              <a:t>Binance, Kraken, Bybit,</a:t>
            </a:r>
          </a:p>
          <a:p>
            <a:pPr algn="l"/>
            <a:r>
              <a:rPr sz="1300" b="0" i="0">
                <a:solidFill>
                  <a:srgbClr val="FFFFFF"/>
                </a:solidFill>
                <a:latin typeface="Helvetica Neue"/>
              </a:rPr>
              <a:t>Coinbase, OKX, Gate.io</a:t>
            </a:r>
          </a:p>
          <a:p>
            <a:pPr algn="l"/>
          </a:p>
          <a:p>
            <a:pPr algn="l"/>
            <a:r>
              <a:rPr sz="1300" b="0" i="0">
                <a:solidFill>
                  <a:srgbClr val="FFFFFF"/>
                </a:solidFill>
                <a:latin typeface="Helvetica Neue"/>
              </a:rPr>
              <a:t>Each runs its own</a:t>
            </a:r>
          </a:p>
          <a:p>
            <a:pPr algn="l"/>
            <a:r>
              <a:rPr sz="1300" b="0" i="0">
                <a:solidFill>
                  <a:srgbClr val="FFFFFF"/>
                </a:solidFill>
                <a:latin typeface="Helvetica Neue"/>
              </a:rPr>
              <a:t>order book independently.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20624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1">
                <a:solidFill>
                  <a:srgbClr val="595959"/>
                </a:solidFill>
                <a:latin typeface="Helvetica Neue"/>
              </a:rPr>
              <a:t>Key insight: same asset can have different prices on different exchanges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0" y="482346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595959"/>
                </a:solidFill>
                <a:latin typeface="Helvetica Neue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1734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56032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173482"/>
                </a:solidFill>
                <a:latin typeface="Helvetica Neue"/>
              </a:rPr>
              <a:t>Stablecoins: The “Cash” of Crypto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88720"/>
            <a:ext cx="438912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400">
                <a:solidFill>
                  <a:srgbClr val="000000"/>
                </a:solidFill>
                <a:latin typeface="Helvetica Neue"/>
              </a:rPr>
              <a:t>•  Crypto tokens pegged to a fiat currency</a:t>
            </a:r>
          </a:p>
          <a:p>
            <a:pPr>
              <a:spcAft>
                <a:spcPts val="800"/>
              </a:spcAft>
            </a:pPr>
            <a:r>
              <a:rPr sz="1400">
                <a:solidFill>
                  <a:srgbClr val="000000"/>
                </a:solidFill>
                <a:latin typeface="Helvetica Neue"/>
              </a:rPr>
              <a:t>•  Not just USD — EUR, GBP, CAD, JPY</a:t>
            </a:r>
            <a:br/>
            <a:r>
              <a:rPr sz="1400">
                <a:solidFill>
                  <a:srgbClr val="000000"/>
                </a:solidFill>
                <a:latin typeface="Helvetica Neue"/>
              </a:rPr>
              <a:t>stablecoins exist too (e.g. EURC, EURT)</a:t>
            </a:r>
          </a:p>
          <a:p>
            <a:pPr>
              <a:spcAft>
                <a:spcPts val="800"/>
              </a:spcAft>
            </a:pPr>
            <a:r>
              <a:rPr sz="1400">
                <a:solidFill>
                  <a:srgbClr val="000000"/>
                </a:solidFill>
                <a:latin typeface="Helvetica Neue"/>
              </a:rPr>
              <a:t>•  Backed by real reserves (cash, treasuries)</a:t>
            </a:r>
          </a:p>
          <a:p>
            <a:pPr>
              <a:spcAft>
                <a:spcPts val="800"/>
              </a:spcAft>
            </a:pPr>
            <a:r>
              <a:rPr sz="1400">
                <a:solidFill>
                  <a:srgbClr val="000000"/>
                </a:solidFill>
                <a:latin typeface="Helvetica Neue"/>
              </a:rPr>
              <a:t>•  Multiple issuers → multiple prices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0" y="1188720"/>
            <a:ext cx="3840480" cy="566928"/>
          </a:xfrm>
          <a:prstGeom prst="roundRect">
            <a:avLst/>
          </a:prstGeom>
          <a:solidFill>
            <a:srgbClr val="F6C3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212080" y="1243584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00000"/>
                </a:solidFill>
                <a:latin typeface="Helvetica Neue"/>
              </a:rPr>
              <a:t>USDT  (Tether)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0" y="1243584"/>
            <a:ext cx="914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73482"/>
                </a:solidFill>
                <a:latin typeface="Helvetica Neue"/>
              </a:rPr>
              <a:t>$1.0001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0" y="1901952"/>
            <a:ext cx="3840480" cy="566928"/>
          </a:xfrm>
          <a:prstGeom prst="roundRect">
            <a:avLst/>
          </a:prstGeom>
          <a:solidFill>
            <a:srgbClr val="B6E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212080" y="1956816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00000"/>
                </a:solidFill>
                <a:latin typeface="Helvetica Neue"/>
              </a:rPr>
              <a:t>USDC  (Circle)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0" y="1956816"/>
            <a:ext cx="914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73482"/>
                </a:solidFill>
                <a:latin typeface="Helvetica Neue"/>
              </a:rPr>
              <a:t>$0.9999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0" y="2615184"/>
            <a:ext cx="3840480" cy="566928"/>
          </a:xfrm>
          <a:prstGeom prst="roundRect">
            <a:avLst/>
          </a:prstGeom>
          <a:solidFill>
            <a:srgbClr val="EAF8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212080" y="2670048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00000"/>
                </a:solidFill>
                <a:latin typeface="Helvetica Neue"/>
              </a:rPr>
              <a:t>DAI    (Maker)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0" y="2670048"/>
            <a:ext cx="914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73482"/>
                </a:solidFill>
                <a:latin typeface="Helvetica Neue"/>
              </a:rPr>
              <a:t>$0.9997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0" y="3328416"/>
            <a:ext cx="3840480" cy="566928"/>
          </a:xfrm>
          <a:prstGeom prst="roundRect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212080" y="338328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00000"/>
                </a:solidFill>
                <a:latin typeface="Helvetica Neue"/>
              </a:rPr>
              <a:t>EURC  (Circle, EUR)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0" y="3383280"/>
            <a:ext cx="914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73482"/>
                </a:solidFill>
                <a:latin typeface="Helvetica Neue"/>
              </a:rPr>
              <a:t>€1.0002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0" y="4041648"/>
            <a:ext cx="3840480" cy="566928"/>
          </a:xfrm>
          <a:prstGeom prst="roundRect">
            <a:avLst/>
          </a:prstGeom>
          <a:solidFill>
            <a:srgbClr val="B6E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212080" y="4096512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00000"/>
                </a:solidFill>
                <a:latin typeface="Helvetica Neue"/>
              </a:rPr>
              <a:t>EURT  (Tether, EUR)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0" y="4096512"/>
            <a:ext cx="914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73482"/>
                </a:solidFill>
                <a:latin typeface="Helvetica Neue"/>
              </a:rPr>
              <a:t>€0.9995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429768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1">
                <a:solidFill>
                  <a:srgbClr val="595959"/>
                </a:solidFill>
                <a:latin typeface="Helvetica Neue"/>
              </a:rPr>
              <a:t>Cross-currency arbitrage is possible too: USD-pegged vs. EUR-pegged coins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03920" y="482346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595959"/>
                </a:solidFill>
                <a:latin typeface="Helvetica Neue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1734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56032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173482"/>
                </a:solidFill>
                <a:latin typeface="Helvetica Neue"/>
              </a:rPr>
              <a:t>How Do They Stay Pegged?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49808"/>
            <a:ext cx="8229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595959"/>
                </a:solidFill>
                <a:latin typeface="Helvetica Neue"/>
              </a:rPr>
              <a:t>Three mechanisms — works for USD, EUR, GBP, CAD, etc.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11480" y="1280160"/>
            <a:ext cx="2651760" cy="2560320"/>
          </a:xfrm>
          <a:prstGeom prst="roundRect">
            <a:avLst/>
          </a:prstGeom>
          <a:solidFill>
            <a:srgbClr val="EAF8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371600"/>
            <a:ext cx="237744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000000"/>
                </a:solidFill>
                <a:latin typeface="Helvetica Neue"/>
              </a:rPr>
              <a:t>Fiat-Backed</a:t>
            </a:r>
          </a:p>
          <a:p>
            <a:pPr algn="l"/>
            <a:r>
              <a:rPr sz="1200" b="0" i="0">
                <a:solidFill>
                  <a:srgbClr val="000000"/>
                </a:solidFill>
                <a:latin typeface="Helvetica Neue"/>
              </a:rPr>
              <a:t>(USDT, EURC)</a:t>
            </a:r>
          </a:p>
          <a:p>
            <a:pPr algn="l"/>
          </a:p>
          <a:p>
            <a:pPr algn="l"/>
            <a:r>
              <a:rPr sz="1200" b="0" i="0">
                <a:solidFill>
                  <a:srgbClr val="000000"/>
                </a:solidFill>
                <a:latin typeface="Helvetica Neue"/>
              </a:rPr>
              <a:t>1:1 reserve of fiat cash</a:t>
            </a:r>
          </a:p>
          <a:p>
            <a:pPr algn="l"/>
            <a:r>
              <a:rPr sz="1200" b="0" i="0">
                <a:solidFill>
                  <a:srgbClr val="000000"/>
                </a:solidFill>
                <a:latin typeface="Helvetica Neue"/>
              </a:rPr>
              <a:t>in bank accounts + bonds.</a:t>
            </a:r>
          </a:p>
          <a:p>
            <a:pPr algn="l"/>
            <a:r>
              <a:rPr sz="1200" b="0" i="0">
                <a:solidFill>
                  <a:srgbClr val="000000"/>
                </a:solidFill>
                <a:latin typeface="Helvetica Neue"/>
              </a:rPr>
              <a:t>Redeem anytime at par.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246120" y="1280160"/>
            <a:ext cx="2651760" cy="2560320"/>
          </a:xfrm>
          <a:prstGeom prst="roundRect">
            <a:avLst/>
          </a:prstGeom>
          <a:solidFill>
            <a:srgbClr val="B6E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383280" y="1371600"/>
            <a:ext cx="237744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000000"/>
                </a:solidFill>
                <a:latin typeface="Helvetica Neue"/>
              </a:rPr>
              <a:t>Over-Collateralized</a:t>
            </a:r>
          </a:p>
          <a:p>
            <a:pPr algn="l"/>
            <a:r>
              <a:rPr sz="1200" b="0" i="0">
                <a:solidFill>
                  <a:srgbClr val="000000"/>
                </a:solidFill>
                <a:latin typeface="Helvetica Neue"/>
              </a:rPr>
              <a:t>(DAI)</a:t>
            </a:r>
          </a:p>
          <a:p>
            <a:pPr algn="l"/>
          </a:p>
          <a:p>
            <a:pPr algn="l"/>
            <a:r>
              <a:rPr sz="1200" b="0" i="0">
                <a:solidFill>
                  <a:srgbClr val="000000"/>
                </a:solidFill>
                <a:latin typeface="Helvetica Neue"/>
              </a:rPr>
              <a:t>Lock $1.50 of ETH to</a:t>
            </a:r>
          </a:p>
          <a:p>
            <a:pPr algn="l"/>
            <a:r>
              <a:rPr sz="1200" b="0" i="0">
                <a:solidFill>
                  <a:srgbClr val="000000"/>
                </a:solidFill>
                <a:latin typeface="Helvetica Neue"/>
              </a:rPr>
              <a:t>mint $1.00 of DAI.</a:t>
            </a:r>
          </a:p>
          <a:p>
            <a:pPr algn="l"/>
            <a:r>
              <a:rPr sz="1200" b="0" i="0">
                <a:solidFill>
                  <a:srgbClr val="000000"/>
                </a:solidFill>
                <a:latin typeface="Helvetica Neue"/>
              </a:rPr>
              <a:t>Auto-liquidates if</a:t>
            </a:r>
          </a:p>
          <a:p>
            <a:pPr algn="l"/>
            <a:r>
              <a:rPr sz="1200" b="0" i="0">
                <a:solidFill>
                  <a:srgbClr val="000000"/>
                </a:solidFill>
                <a:latin typeface="Helvetica Neue"/>
              </a:rPr>
              <a:t>collateral drops.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080760" y="1280160"/>
            <a:ext cx="2651760" cy="2560320"/>
          </a:xfrm>
          <a:prstGeom prst="roundRect">
            <a:avLst/>
          </a:prstGeom>
          <a:solidFill>
            <a:srgbClr val="1734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17920" y="1371600"/>
            <a:ext cx="237744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Helvetica Neue"/>
              </a:rPr>
              <a:t>Algorithmic</a:t>
            </a:r>
          </a:p>
          <a:p>
            <a:pPr algn="l"/>
            <a:r>
              <a:rPr sz="1200" b="0" i="0">
                <a:solidFill>
                  <a:srgbClr val="FFFFFF"/>
                </a:solidFill>
                <a:latin typeface="Helvetica Neue"/>
              </a:rPr>
              <a:t>(historical)</a:t>
            </a:r>
          </a:p>
          <a:p>
            <a:pPr algn="l"/>
          </a:p>
          <a:p>
            <a:pPr algn="l"/>
            <a:r>
              <a:rPr sz="1200" b="0" i="0">
                <a:solidFill>
                  <a:srgbClr val="FFFFFF"/>
                </a:solidFill>
                <a:latin typeface="Helvetica Neue"/>
              </a:rPr>
              <a:t>Expand/contract supply</a:t>
            </a:r>
          </a:p>
          <a:p>
            <a:pPr algn="l"/>
            <a:r>
              <a:rPr sz="1200" b="0" i="0">
                <a:solidFill>
                  <a:srgbClr val="FFFFFF"/>
                </a:solidFill>
                <a:latin typeface="Helvetica Neue"/>
              </a:rPr>
              <a:t>to maintain peg.</a:t>
            </a:r>
          </a:p>
          <a:p>
            <a:pPr algn="l"/>
            <a:r>
              <a:rPr sz="1200" b="0" i="0">
                <a:solidFill>
                  <a:srgbClr val="FFFFFF"/>
                </a:solidFill>
                <a:latin typeface="Helvetica Neue"/>
              </a:rPr>
              <a:t>High risk — UST</a:t>
            </a:r>
          </a:p>
          <a:p>
            <a:pPr algn="l"/>
            <a:r>
              <a:rPr sz="1200" b="0" i="0">
                <a:solidFill>
                  <a:srgbClr val="FFFFFF"/>
                </a:solidFill>
                <a:latin typeface="Helvetica Neue"/>
              </a:rPr>
              <a:t>collapsed in 2022.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0" y="482346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595959"/>
                </a:solidFill>
                <a:latin typeface="Helvetica Neue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1734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56032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173482"/>
                </a:solidFill>
                <a:latin typeface="Helvetica Neue"/>
              </a:rPr>
              <a:t>The Arbitrage Opportunity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188720"/>
            <a:ext cx="3840480" cy="1371600"/>
          </a:xfrm>
          <a:prstGeom prst="roundRect">
            <a:avLst/>
          </a:prstGeom>
          <a:solidFill>
            <a:srgbClr val="EAF8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280160"/>
            <a:ext cx="34747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000000"/>
                </a:solidFill>
                <a:latin typeface="Helvetica Neue"/>
              </a:rPr>
              <a:t>Kraken</a:t>
            </a:r>
          </a:p>
          <a:p>
            <a:pPr algn="l"/>
            <a:r>
              <a:rPr sz="1600" b="1" i="0">
                <a:solidFill>
                  <a:srgbClr val="000000"/>
                </a:solidFill>
                <a:latin typeface="Helvetica Neue"/>
              </a:rPr>
              <a:t>USDC = $0.99990</a:t>
            </a:r>
          </a:p>
          <a:p>
            <a:pPr algn="l"/>
            <a:r>
              <a:rPr sz="1600" b="1" i="0">
                <a:solidFill>
                  <a:srgbClr val="000000"/>
                </a:solidFill>
                <a:latin typeface="Helvetica Neue"/>
              </a:rPr>
              <a:t>(cheap)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846320" y="1188720"/>
            <a:ext cx="3840480" cy="1371600"/>
          </a:xfrm>
          <a:prstGeom prst="roundRect">
            <a:avLst/>
          </a:prstGeom>
          <a:solidFill>
            <a:srgbClr val="B6E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0" y="1280160"/>
            <a:ext cx="34747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000000"/>
                </a:solidFill>
                <a:latin typeface="Helvetica Neue"/>
              </a:rPr>
              <a:t>Binance</a:t>
            </a:r>
          </a:p>
          <a:p>
            <a:pPr algn="l"/>
            <a:r>
              <a:rPr sz="1600" b="1" i="0">
                <a:solidFill>
                  <a:srgbClr val="000000"/>
                </a:solidFill>
                <a:latin typeface="Helvetica Neue"/>
              </a:rPr>
              <a:t>USDC = $1.00013</a:t>
            </a:r>
          </a:p>
          <a:p>
            <a:pPr algn="l"/>
            <a:r>
              <a:rPr sz="1600" b="1" i="0">
                <a:solidFill>
                  <a:srgbClr val="000000"/>
                </a:solidFill>
                <a:latin typeface="Helvetica Neue"/>
              </a:rPr>
              <a:t>(expensive)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40480" y="155448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 i="0">
                <a:solidFill>
                  <a:srgbClr val="173482"/>
                </a:solidFill>
                <a:latin typeface="Helvetica Neue"/>
              </a:rPr>
              <a:t>→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371600" y="2926080"/>
            <a:ext cx="6400800" cy="914400"/>
          </a:xfrm>
          <a:prstGeom prst="roundRect">
            <a:avLst/>
          </a:prstGeom>
          <a:solidFill>
            <a:srgbClr val="1734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554480" y="3017520"/>
            <a:ext cx="60350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Helvetica Neue"/>
              </a:rPr>
              <a:t>Buy on Kraken  →  Transfer  →  Sell on Binance  =  +2.3 bps profit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411480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595959"/>
                </a:solidFill>
                <a:latin typeface="Helvetica Neue"/>
              </a:rPr>
              <a:t>But: fees + slippage + transfer time can eat the profit.</a:t>
            </a:r>
          </a:p>
          <a:p>
            <a:pPr algn="ctr"/>
            <a:r>
              <a:rPr sz="1200" b="0" i="1">
                <a:solidFill>
                  <a:srgbClr val="595959"/>
                </a:solidFill>
                <a:latin typeface="Helvetica Neue"/>
              </a:rPr>
              <a:t>With 5 exchanges × 4 coins = 20 nodes, 40+ edges — need an algorithm.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03920" y="482346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595959"/>
                </a:solidFill>
                <a:latin typeface="Helvetica Neue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1734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56032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173482"/>
                </a:solidFill>
                <a:latin typeface="Helvetica Neue"/>
              </a:rPr>
              <a:t>Model: Weighted Directed Graph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1097280"/>
            <a:ext cx="32004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200">
                <a:solidFill>
                  <a:srgbClr val="000000"/>
                </a:solidFill>
                <a:latin typeface="Helvetica Neue"/>
              </a:rPr>
              <a:t>•  Node = (exchange, coin)</a:t>
            </a:r>
          </a:p>
          <a:p>
            <a:pPr>
              <a:spcAft>
                <a:spcPts val="800"/>
              </a:spcAft>
            </a:pPr>
            <a:r>
              <a:rPr sz="1200">
                <a:solidFill>
                  <a:srgbClr val="000000"/>
                </a:solidFill>
                <a:latin typeface="Helvetica Neue"/>
              </a:rPr>
              <a:t>•  Trade edge: swap coins</a:t>
            </a:r>
            <a:br/>
            <a:r>
              <a:rPr sz="1200">
                <a:solidFill>
                  <a:srgbClr val="000000"/>
                </a:solidFill>
                <a:latin typeface="Helvetica Neue"/>
              </a:rPr>
              <a:t>  on same exchange</a:t>
            </a:r>
          </a:p>
          <a:p>
            <a:pPr>
              <a:spcAft>
                <a:spcPts val="800"/>
              </a:spcAft>
            </a:pPr>
            <a:r>
              <a:rPr sz="1200">
                <a:solidFill>
                  <a:srgbClr val="000000"/>
                </a:solidFill>
                <a:latin typeface="Helvetica Neue"/>
              </a:rPr>
              <a:t>•  Transfer edge: move coin</a:t>
            </a:r>
            <a:br/>
            <a:r>
              <a:rPr sz="1200">
                <a:solidFill>
                  <a:srgbClr val="000000"/>
                </a:solidFill>
                <a:latin typeface="Helvetica Neue"/>
              </a:rPr>
              <a:t>  between exchanges</a:t>
            </a:r>
          </a:p>
          <a:p>
            <a:pPr>
              <a:spcAft>
                <a:spcPts val="800"/>
              </a:spcAft>
            </a:pPr>
            <a:r>
              <a:rPr sz="1200">
                <a:solidFill>
                  <a:srgbClr val="000000"/>
                </a:solidFill>
                <a:latin typeface="Helvetica Neue"/>
              </a:rPr>
              <a:t>•  Edge weight = fee in bps</a:t>
            </a:r>
          </a:p>
          <a:p>
            <a:pPr>
              <a:spcAft>
                <a:spcPts val="800"/>
              </a:spcAft>
            </a:pPr>
            <a:r>
              <a:rPr sz="1200">
                <a:solidFill>
                  <a:srgbClr val="000000"/>
                </a:solidFill>
                <a:latin typeface="Helvetica Neue"/>
              </a:rPr>
              <a:t>•  Goal: find lowest-cost path</a:t>
            </a:r>
            <a:br/>
            <a:r>
              <a:rPr sz="1200">
                <a:solidFill>
                  <a:srgbClr val="000000"/>
                </a:solidFill>
                <a:latin typeface="Helvetica Neue"/>
              </a:rPr>
              <a:t>  — a closed cycle back to</a:t>
            </a:r>
            <a:br/>
            <a:r>
              <a:rPr sz="1200">
                <a:solidFill>
                  <a:srgbClr val="000000"/>
                </a:solidFill>
                <a:latin typeface="Helvetica Neue"/>
              </a:rPr>
              <a:t>  start, OR just the cheapest</a:t>
            </a:r>
            <a:br/>
            <a:r>
              <a:rPr sz="1200">
                <a:solidFill>
                  <a:srgbClr val="000000"/>
                </a:solidFill>
                <a:latin typeface="Helvetica Neue"/>
              </a:rPr>
              <a:t>  route between two nodes</a:t>
            </a:r>
          </a:p>
        </p:txBody>
      </p:sp>
      <p:pic>
        <p:nvPicPr>
          <p:cNvPr id="5" name="Picture 4" descr="frame_00_step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0" y="1097280"/>
            <a:ext cx="3660464" cy="374903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503920" y="482346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595959"/>
                </a:solidFill>
                <a:latin typeface="Helvetica Neue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1734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56032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173482"/>
                </a:solidFill>
                <a:latin typeface="Helvetica Neue"/>
              </a:rPr>
              <a:t>Why Shortest-Path Isn’t Enough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49808"/>
            <a:ext cx="8229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595959"/>
                </a:solidFill>
                <a:latin typeface="Helvetica Neue"/>
              </a:rPr>
              <a:t>4 real-world costs a naive graph search ignores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11480" y="1280160"/>
            <a:ext cx="2651760" cy="2560320"/>
          </a:xfrm>
          <a:prstGeom prst="roundRect">
            <a:avLst/>
          </a:prstGeom>
          <a:solidFill>
            <a:srgbClr val="EAF8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371600"/>
            <a:ext cx="237744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000000"/>
                </a:solidFill>
                <a:latin typeface="Helvetica Neue"/>
              </a:rPr>
              <a:t>1. Fees</a:t>
            </a:r>
          </a:p>
          <a:p>
            <a:pPr algn="l"/>
          </a:p>
          <a:p>
            <a:pPr algn="l"/>
            <a:r>
              <a:rPr sz="1200" b="0" i="0">
                <a:solidFill>
                  <a:srgbClr val="000000"/>
                </a:solidFill>
                <a:latin typeface="Helvetica Neue"/>
              </a:rPr>
              <a:t>Flat transfer fees apply</a:t>
            </a:r>
          </a:p>
          <a:p>
            <a:pPr algn="l"/>
            <a:r>
              <a:rPr sz="1200" b="0" i="0">
                <a:solidFill>
                  <a:srgbClr val="000000"/>
                </a:solidFill>
                <a:latin typeface="Helvetica Neue"/>
              </a:rPr>
              <a:t>per trade — the order needs</a:t>
            </a:r>
          </a:p>
          <a:p>
            <a:pPr algn="l"/>
            <a:r>
              <a:rPr sz="1200" b="0" i="0">
                <a:solidFill>
                  <a:srgbClr val="000000"/>
                </a:solidFill>
                <a:latin typeface="Helvetica Neue"/>
              </a:rPr>
              <a:t>to be large enough to</a:t>
            </a:r>
          </a:p>
          <a:p>
            <a:pPr algn="l"/>
            <a:r>
              <a:rPr sz="1200" b="0" i="0">
                <a:solidFill>
                  <a:srgbClr val="000000"/>
                </a:solidFill>
                <a:latin typeface="Helvetica Neue"/>
              </a:rPr>
              <a:t>offset them.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246120" y="1280160"/>
            <a:ext cx="2651760" cy="2560320"/>
          </a:xfrm>
          <a:prstGeom prst="roundRect">
            <a:avLst/>
          </a:prstGeom>
          <a:solidFill>
            <a:srgbClr val="B6E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383280" y="1371600"/>
            <a:ext cx="237744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000000"/>
                </a:solidFill>
                <a:latin typeface="Helvetica Neue"/>
              </a:rPr>
              <a:t>2. Slippage</a:t>
            </a:r>
          </a:p>
          <a:p>
            <a:pPr algn="l"/>
          </a:p>
          <a:p>
            <a:pPr algn="l"/>
            <a:r>
              <a:rPr sz="1200" b="0" i="0">
                <a:solidFill>
                  <a:srgbClr val="000000"/>
                </a:solidFill>
                <a:latin typeface="Helvetica Neue"/>
              </a:rPr>
              <a:t>Asset prices move during</a:t>
            </a:r>
          </a:p>
          <a:p>
            <a:pPr algn="l"/>
            <a:r>
              <a:rPr sz="1200" b="0" i="0">
                <a:solidFill>
                  <a:srgbClr val="000000"/>
                </a:solidFill>
                <a:latin typeface="Helvetica Neue"/>
              </a:rPr>
              <a:t>execution — impacts profit</a:t>
            </a:r>
          </a:p>
          <a:p>
            <a:pPr algn="l"/>
            <a:r>
              <a:rPr sz="1200" b="0" i="0">
                <a:solidFill>
                  <a:srgbClr val="000000"/>
                </a:solidFill>
                <a:latin typeface="Helvetica Neue"/>
              </a:rPr>
              <a:t>more for larger order</a:t>
            </a:r>
          </a:p>
          <a:p>
            <a:pPr algn="l"/>
            <a:r>
              <a:rPr sz="1200" b="0" i="0">
                <a:solidFill>
                  <a:srgbClr val="000000"/>
                </a:solidFill>
                <a:latin typeface="Helvetica Neue"/>
              </a:rPr>
              <a:t>sizes.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080760" y="1280160"/>
            <a:ext cx="2651760" cy="2560320"/>
          </a:xfrm>
          <a:prstGeom prst="roundRect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17920" y="1371600"/>
            <a:ext cx="237744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000000"/>
                </a:solidFill>
                <a:latin typeface="Helvetica Neue"/>
              </a:rPr>
              <a:t>3. Latency</a:t>
            </a:r>
          </a:p>
          <a:p>
            <a:pPr algn="l"/>
          </a:p>
          <a:p>
            <a:pPr algn="l"/>
            <a:r>
              <a:rPr sz="1200" b="0" i="0">
                <a:solidFill>
                  <a:srgbClr val="000000"/>
                </a:solidFill>
                <a:latin typeface="Helvetica Neue"/>
              </a:rPr>
              <a:t>Some blockchains take</a:t>
            </a:r>
          </a:p>
          <a:p>
            <a:pPr algn="l"/>
            <a:r>
              <a:rPr sz="1200" b="0" i="0">
                <a:solidFill>
                  <a:srgbClr val="000000"/>
                </a:solidFill>
                <a:latin typeface="Helvetica Neue"/>
              </a:rPr>
              <a:t>longer to confirm — others</a:t>
            </a:r>
          </a:p>
          <a:p>
            <a:pPr algn="l"/>
            <a:r>
              <a:rPr sz="1200" b="0" i="0">
                <a:solidFill>
                  <a:srgbClr val="000000"/>
                </a:solidFill>
                <a:latin typeface="Helvetica Neue"/>
              </a:rPr>
              <a:t>slow down under</a:t>
            </a:r>
          </a:p>
          <a:p>
            <a:pPr algn="l"/>
            <a:r>
              <a:rPr sz="1200" b="0" i="0">
                <a:solidFill>
                  <a:srgbClr val="000000"/>
                </a:solidFill>
                <a:latin typeface="Helvetica Neue"/>
              </a:rPr>
              <a:t>high volume.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828800" y="4023360"/>
            <a:ext cx="2651760" cy="868680"/>
          </a:xfrm>
          <a:prstGeom prst="roundRect">
            <a:avLst/>
          </a:prstGeom>
          <a:solidFill>
            <a:srgbClr val="1734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965960" y="4114800"/>
            <a:ext cx="23774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Helvetica Neue"/>
              </a:rPr>
              <a:t>4. Operational risk — withdrawals may be paused,</a:t>
            </a:r>
          </a:p>
          <a:p>
            <a:pPr algn="l"/>
            <a:r>
              <a:rPr sz="1200" b="0" i="0">
                <a:solidFill>
                  <a:srgbClr val="FFFFFF"/>
                </a:solidFill>
                <a:latin typeface="Helvetica Neue"/>
              </a:rPr>
              <a:t>regions geofenced, or VPNs blocked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03920" y="482346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595959"/>
                </a:solidFill>
                <a:latin typeface="Helvetica Neue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1734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56032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173482"/>
                </a:solidFill>
                <a:latin typeface="Helvetica Neue"/>
              </a:rPr>
              <a:t>Dijkstra: f(n) = g(n)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8872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000000"/>
                </a:solidFill>
                <a:latin typeface="Helvetica Neue"/>
              </a:rPr>
              <a:t>Expand the node with the lowest accumulated cost so far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0" y="1828800"/>
            <a:ext cx="3657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173482"/>
                </a:solidFill>
                <a:latin typeface="Helvetica Neue"/>
              </a:rPr>
              <a:t>f(n) = g(n)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2651760"/>
            <a:ext cx="3931920" cy="1828800"/>
          </a:xfrm>
          <a:prstGeom prst="roundRect">
            <a:avLst/>
          </a:prstGeom>
          <a:solidFill>
            <a:srgbClr val="EAF8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2743200"/>
            <a:ext cx="356616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000000"/>
                </a:solidFill>
                <a:latin typeface="Helvetica Neue"/>
              </a:rPr>
              <a:t>✓  Guaranteed optimal</a:t>
            </a:r>
          </a:p>
          <a:p>
            <a:pPr algn="l"/>
            <a:r>
              <a:rPr sz="1400" b="0" i="0">
                <a:solidFill>
                  <a:srgbClr val="000000"/>
                </a:solidFill>
                <a:latin typeface="Helvetica Neue"/>
              </a:rPr>
              <a:t>✓  Simple to implement</a:t>
            </a:r>
          </a:p>
          <a:p>
            <a:pPr algn="l"/>
            <a:r>
              <a:rPr sz="1400" b="0" i="0">
                <a:solidFill>
                  <a:srgbClr val="000000"/>
                </a:solidFill>
                <a:latin typeface="Helvetica Neue"/>
              </a:rPr>
              <a:t>✓  No domain knowledge needed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754880" y="2651760"/>
            <a:ext cx="3931920" cy="1828800"/>
          </a:xfrm>
          <a:prstGeom prst="roundRect">
            <a:avLst/>
          </a:prstGeom>
          <a:solidFill>
            <a:srgbClr val="FFEB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937760" y="2743200"/>
            <a:ext cx="356616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000000"/>
                </a:solidFill>
                <a:latin typeface="Helvetica Neue"/>
              </a:rPr>
              <a:t>✗  Explores blindly</a:t>
            </a:r>
          </a:p>
          <a:p>
            <a:pPr algn="l"/>
            <a:r>
              <a:rPr sz="1400" b="0" i="0">
                <a:solidFill>
                  <a:srgbClr val="000000"/>
                </a:solidFill>
                <a:latin typeface="Helvetica Neue"/>
              </a:rPr>
              <a:t>✗  Ignores slippage risk</a:t>
            </a:r>
          </a:p>
          <a:p>
            <a:pPr algn="l"/>
            <a:r>
              <a:rPr sz="1400" b="0" i="0">
                <a:solidFill>
                  <a:srgbClr val="000000"/>
                </a:solidFill>
                <a:latin typeface="Helvetica Neue"/>
              </a:rPr>
              <a:t>✗  Ignores transfer time</a:t>
            </a:r>
          </a:p>
          <a:p>
            <a:pPr algn="l"/>
            <a:r>
              <a:rPr sz="1400" b="0" i="0">
                <a:solidFill>
                  <a:srgbClr val="000000"/>
                </a:solidFill>
                <a:latin typeface="Helvetica Neue"/>
              </a:rPr>
              <a:t>✗  Wastes time on thin books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3920" y="482346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595959"/>
                </a:solidFill>
                <a:latin typeface="Helvetica Neue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1734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56032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173482"/>
                </a:solidFill>
                <a:latin typeface="Helvetica Neue"/>
              </a:rPr>
              <a:t>A*: f(n) = g(n) + h(n)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8872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000000"/>
                </a:solidFill>
                <a:latin typeface="Helvetica Neue"/>
              </a:rPr>
              <a:t>Add a heuristic that looks ahead at execution quality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286000" y="1828800"/>
            <a:ext cx="4572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173482"/>
                </a:solidFill>
                <a:latin typeface="Helvetica Neue"/>
              </a:rPr>
              <a:t>f(n) = g(n) + h(n)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2651760"/>
            <a:ext cx="8229600" cy="2011680"/>
          </a:xfrm>
          <a:prstGeom prst="roundRect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2743200"/>
            <a:ext cx="768096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000000"/>
                </a:solidFill>
                <a:latin typeface="Helvetica Neue"/>
              </a:rPr>
              <a:t>h(n) = slippage(L2 order book) + σ · √(Δt)</a:t>
            </a:r>
          </a:p>
          <a:p>
            <a:pPr algn="l"/>
          </a:p>
          <a:p>
            <a:pPr algn="l"/>
            <a:r>
              <a:rPr sz="1300" b="0" i="0">
                <a:solidFill>
                  <a:srgbClr val="000000"/>
                </a:solidFill>
                <a:latin typeface="Helvetica Neue"/>
              </a:rPr>
              <a:t>  Slippage:   Walk the ask side for our trade size. Thin book = high cost.</a:t>
            </a:r>
          </a:p>
          <a:p>
            <a:pPr algn="l"/>
            <a:r>
              <a:rPr sz="1300" b="0" i="0">
                <a:solidFill>
                  <a:srgbClr val="000000"/>
                </a:solidFill>
                <a:latin typeface="Helvetica Neue"/>
              </a:rPr>
              <a:t>  Time risk:  Stablecoin vol (~1.5 bps/min) × transfer duration.</a:t>
            </a:r>
          </a:p>
          <a:p>
            <a:pPr algn="l"/>
          </a:p>
          <a:p>
            <a:pPr algn="l"/>
            <a:r>
              <a:rPr sz="1300" b="0" i="0">
                <a:solidFill>
                  <a:srgbClr val="000000"/>
                </a:solidFill>
                <a:latin typeface="Helvetica Neue"/>
              </a:rPr>
              <a:t>  Deep book + fast transfer → low h → A* explores that path first.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3920" y="482346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595959"/>
                </a:solidFill>
                <a:latin typeface="Helvetica Neue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1734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64592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173482"/>
                </a:solidFill>
                <a:latin typeface="Helvetica Neue"/>
              </a:rPr>
              <a:t>A* Step 1: Start Node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0292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595959"/>
                </a:solidFill>
                <a:latin typeface="Helvetica Neue"/>
              </a:rPr>
              <a:t>Begin at Binance:USDT. Orange = edges just pushed to priority queue.</a:t>
            </a:r>
          </a:p>
        </p:txBody>
      </p:sp>
      <p:pic>
        <p:nvPicPr>
          <p:cNvPr id="5" name="Picture 4" descr="frame_00_step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3208" y="868680"/>
            <a:ext cx="4017584" cy="41148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503920" y="482346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595959"/>
                </a:solidFill>
                <a:latin typeface="Helvetica Neue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1734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64592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173482"/>
                </a:solidFill>
                <a:latin typeface="Helvetica Neue"/>
              </a:rPr>
              <a:t>A* Step 3: Expanding Neighbors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0292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595959"/>
                </a:solidFill>
                <a:latin typeface="Helvetica Neue"/>
              </a:rPr>
              <a:t>Cheap, low-slippage paths explored first. Fee labels (bps) on each edge.</a:t>
            </a:r>
          </a:p>
        </p:txBody>
      </p:sp>
      <p:pic>
        <p:nvPicPr>
          <p:cNvPr id="5" name="Picture 4" descr="frame_02_step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3208" y="868680"/>
            <a:ext cx="4017584" cy="41148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503920" y="482346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595959"/>
                </a:solidFill>
                <a:latin typeface="Helvetica Neue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1734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64592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173482"/>
                </a:solidFill>
                <a:latin typeface="Helvetica Neue"/>
              </a:rPr>
              <a:t>A* Mid-Search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0292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595959"/>
                </a:solidFill>
                <a:latin typeface="Helvetica Neue"/>
              </a:rPr>
              <a:t>Bybit and Kraken reached. High time-risk paths to OKX deprioritized.</a:t>
            </a:r>
          </a:p>
        </p:txBody>
      </p:sp>
      <p:pic>
        <p:nvPicPr>
          <p:cNvPr id="5" name="Picture 4" descr="frame_05_step2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3208" y="868680"/>
            <a:ext cx="4017584" cy="41148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503920" y="482346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595959"/>
                </a:solidFill>
                <a:latin typeface="Helvetica Neue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1734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64592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173482"/>
                </a:solidFill>
                <a:latin typeface="Helvetica Neue"/>
              </a:rPr>
              <a:t>A* Nearing Completion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0292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595959"/>
                </a:solidFill>
                <a:latin typeface="Helvetica Neue"/>
              </a:rPr>
              <a:t>Most nodes expanded. Searching for profitable return path to start.</a:t>
            </a:r>
          </a:p>
        </p:txBody>
      </p:sp>
      <p:pic>
        <p:nvPicPr>
          <p:cNvPr id="5" name="Picture 4" descr="frame_08_step4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3208" y="868680"/>
            <a:ext cx="4017584" cy="41148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503920" y="482346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595959"/>
                </a:solidFill>
                <a:latin typeface="Helvetica Neue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1734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64592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173482"/>
                </a:solidFill>
                <a:latin typeface="Helvetica Neue"/>
              </a:rPr>
              <a:t>A* Final: Profitable Path Found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0292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595959"/>
                </a:solidFill>
                <a:latin typeface="Helvetica Neue"/>
              </a:rPr>
              <a:t>Red = lowest-cost route found. Doesn’t have to close a cycle —</a:t>
            </a:r>
          </a:p>
          <a:p>
            <a:pPr algn="l"/>
            <a:r>
              <a:rPr sz="1100" b="0" i="1">
                <a:solidFill>
                  <a:srgbClr val="595959"/>
                </a:solidFill>
                <a:latin typeface="Helvetica Neue"/>
              </a:rPr>
              <a:t>a one-way path can be profitable too (e.g. rebalancing, one-off transfers).</a:t>
            </a:r>
          </a:p>
        </p:txBody>
      </p:sp>
      <p:pic>
        <p:nvPicPr>
          <p:cNvPr id="5" name="Picture 4" descr="frame_09_step4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3208" y="868680"/>
            <a:ext cx="4017584" cy="41148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503920" y="482346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595959"/>
                </a:solidFill>
                <a:latin typeface="Helvetica Neue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1734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56032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173482"/>
                </a:solidFill>
                <a:latin typeface="Helvetica Neue"/>
              </a:rPr>
              <a:t>The L2 Order Book → Slippage Heuristic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36576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200">
                <a:solidFill>
                  <a:srgbClr val="000000"/>
                </a:solidFill>
                <a:latin typeface="Helvetica Neue"/>
              </a:rPr>
              <a:t>•  20 price levels of depth</a:t>
            </a:r>
          </a:p>
          <a:p>
            <a:pPr>
              <a:spcAft>
                <a:spcPts val="800"/>
              </a:spcAft>
            </a:pPr>
            <a:r>
              <a:rPr sz="1200">
                <a:solidFill>
                  <a:srgbClr val="000000"/>
                </a:solidFill>
                <a:latin typeface="Helvetica Neue"/>
              </a:rPr>
              <a:t>•  Walk asks for our trade size</a:t>
            </a:r>
          </a:p>
          <a:p>
            <a:pPr>
              <a:spcAft>
                <a:spcPts val="800"/>
              </a:spcAft>
            </a:pPr>
            <a:r>
              <a:rPr sz="1200">
                <a:solidFill>
                  <a:srgbClr val="000000"/>
                </a:solidFill>
                <a:latin typeface="Helvetica Neue"/>
              </a:rPr>
              <a:t>•  Binance: ~0 bps slippage</a:t>
            </a:r>
            <a:br/>
            <a:r>
              <a:rPr sz="1200">
                <a:solidFill>
                  <a:srgbClr val="000000"/>
                </a:solidFill>
                <a:latin typeface="Helvetica Neue"/>
              </a:rPr>
              <a:t>  (millions of units at top)</a:t>
            </a:r>
          </a:p>
          <a:p>
            <a:pPr>
              <a:spcAft>
                <a:spcPts val="800"/>
              </a:spcAft>
            </a:pPr>
            <a:r>
              <a:rPr sz="1200">
                <a:solidFill>
                  <a:srgbClr val="000000"/>
                </a:solidFill>
                <a:latin typeface="Helvetica Neue"/>
              </a:rPr>
              <a:t>•  Gate.io: ~0.5 bps slippage</a:t>
            </a:r>
            <a:br/>
            <a:r>
              <a:rPr sz="1200">
                <a:solidFill>
                  <a:srgbClr val="000000"/>
                </a:solidFill>
                <a:latin typeface="Helvetica Neue"/>
              </a:rPr>
              <a:t>  (only 6K at top level)</a:t>
            </a:r>
          </a:p>
          <a:p>
            <a:pPr>
              <a:spcAft>
                <a:spcPts val="800"/>
              </a:spcAft>
            </a:pPr>
            <a:r>
              <a:rPr sz="1200">
                <a:solidFill>
                  <a:srgbClr val="000000"/>
                </a:solidFill>
                <a:latin typeface="Helvetica Neue"/>
              </a:rPr>
              <a:t>•  Thin book = high h(n)</a:t>
            </a:r>
            <a:br/>
            <a:r>
              <a:rPr sz="1200">
                <a:solidFill>
                  <a:srgbClr val="000000"/>
                </a:solidFill>
                <a:latin typeface="Helvetica Neue"/>
              </a:rPr>
              <a:t>  = A* avoids it</a:t>
            </a:r>
          </a:p>
        </p:txBody>
      </p:sp>
      <p:pic>
        <p:nvPicPr>
          <p:cNvPr id="5" name="Picture 4" descr="astar_arbitrage_dem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0" y="1005840"/>
            <a:ext cx="5120640" cy="456976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503920" y="482346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595959"/>
                </a:solidFill>
                <a:latin typeface="Helvetica Neue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1734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56032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173482"/>
                </a:solidFill>
                <a:latin typeface="Helvetica Neue"/>
              </a:rPr>
              <a:t>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88720"/>
            <a:ext cx="82296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>
                <a:solidFill>
                  <a:srgbClr val="000000"/>
                </a:solidFill>
                <a:latin typeface="Helvetica Neue"/>
              </a:rPr>
              <a:t>•  Stablecoins = crypto pegged to fiat (USD, EUR, etc.) — tiny cross-exchange gaps exist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000000"/>
                </a:solidFill>
                <a:latin typeface="Helvetica Neue"/>
              </a:rPr>
              <a:t>•  Model as a graph → arbitrage = finding a profitable path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000000"/>
                </a:solidFill>
                <a:latin typeface="Helvetica Neue"/>
              </a:rPr>
              <a:t>•  The path can close a cycle back to start, or just end at a cheaper destination — both count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000000"/>
                </a:solidFill>
                <a:latin typeface="Helvetica Neue"/>
              </a:rPr>
              <a:t>•  Real-world costs — fees, slippage, latency, operational risk — shape which paths are worth it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000000"/>
                </a:solidFill>
                <a:latin typeface="Helvetica Neue"/>
              </a:rPr>
              <a:t>•  A* + slippage heuristic guides search toward deep, fast routes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000000"/>
                </a:solidFill>
                <a:latin typeface="Helvetica Neue"/>
              </a:rPr>
              <a:t>•  Same optimality as Dijkstra, but focused exploration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65760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595959"/>
                </a:solidFill>
                <a:latin typeface="Helvetica Neue"/>
              </a:rPr>
              <a:t>Code: scripts/animate_astar_search.py</a:t>
            </a:r>
          </a:p>
          <a:p>
            <a:pPr algn="l"/>
            <a:r>
              <a:rPr sz="1200" b="0" i="1">
                <a:solidFill>
                  <a:srgbClr val="595959"/>
                </a:solidFill>
                <a:latin typeface="Helvetica Neue"/>
              </a:rPr>
              <a:t>UI: streamlit run scripts/ui.py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503920" y="482346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595959"/>
                </a:solidFill>
                <a:latin typeface="Helvetica Neue"/>
              </a:rPr>
              <a:t>16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