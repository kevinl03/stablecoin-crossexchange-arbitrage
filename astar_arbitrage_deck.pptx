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4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Helvetica Neue"/>
              </a:rPr>
              <a:t>Cross-Exchange Stablecoin Arbitrage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6E3EE"/>
                </a:solidFill>
                <a:latin typeface="Helvetica Neue"/>
              </a:rPr>
              <a:t>Finding profitable paths with A* search on L2 order book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48056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6E3EE"/>
                </a:solidFill>
                <a:latin typeface="Helvetica Neue"/>
              </a:rPr>
              <a:t>Algorithm Demo • Kevin Litvin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What are Cryptocurrencies?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34440"/>
            <a:ext cx="2651760" cy="27432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Digital Assets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Tokens on a distributed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ledger — no bank needed.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Traded 24/7 globally.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234440"/>
            <a:ext cx="2651760" cy="274320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Blockchain Execution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1. Sign TX with private key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2. Broadcast to network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3. Validator adds to block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4. Confirmed — immutable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234440"/>
            <a:ext cx="2651760" cy="274320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Exchanges</a:t>
            </a:r>
          </a:p>
          <a:p>
            <a:pPr algn="l"/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Binance, Kraken, Bybit,</a:t>
            </a:r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Coinbase, OKX, Gate.io</a:t>
            </a:r>
          </a:p>
          <a:p>
            <a:pPr algn="l"/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Each runs its own</a:t>
            </a:r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order book independently.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Helvetica Neue"/>
              </a:rPr>
              <a:t>Key insight: same asset can have different prices on different exchanges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Stablecoins: The “Cash” of Crypto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4389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Crypto tokens pegged to a fiat currency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Not just USD — EUR, GBP, CAD, JPY</a:t>
            </a:r>
            <a:br/>
            <a:r>
              <a:rPr sz="1400">
                <a:solidFill>
                  <a:srgbClr val="000000"/>
                </a:solidFill>
                <a:latin typeface="Helvetica Neue"/>
              </a:rPr>
              <a:t>stablecoins exist too (e.g. EURC, EURT)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Backed by real reserves (cash, treasuries)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Multiple issuers → multiple prices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188720"/>
            <a:ext cx="3840480" cy="566928"/>
          </a:xfrm>
          <a:prstGeom prst="roundRect">
            <a:avLst/>
          </a:prstGeom>
          <a:solidFill>
            <a:srgbClr val="F6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24358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USDT  (Tether)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24358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$1.0001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901952"/>
            <a:ext cx="3840480" cy="566928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95681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USDC  (Circle)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5681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$0.9999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615184"/>
            <a:ext cx="3840480" cy="566928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26700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DAI    (Maker)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67004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$0.9997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3328416"/>
            <a:ext cx="3840480" cy="566928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EURC  (Circle, EUR)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3832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€1.0002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041648"/>
            <a:ext cx="3840480" cy="566928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40965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EURT  (Tether, EUR)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0965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€0.9995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Helvetica Neue"/>
              </a:rPr>
              <a:t>Cross-currency arbitrage is possible too: USD-pegged vs. EUR-pegged coins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How Do They Stay Pegged?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95959"/>
                </a:solidFill>
                <a:latin typeface="Helvetica Neue"/>
              </a:rPr>
              <a:t>Three mechanisms — works for USD, EUR, GBP, CAD, etc.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2651760" cy="256032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Fiat-Backed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(USDT, EURC)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1:1 reserve of fiat cash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in bank accounts + bonds.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Redeem anytime at par.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280160"/>
            <a:ext cx="2651760" cy="256032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Over-Collateralized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(DAI)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Lock $1.50 of ETH to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mint $1.00 of DAI.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Auto-liquidates if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collateral drops.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280160"/>
            <a:ext cx="2651760" cy="256032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Algorithmic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(historical)</a:t>
            </a:r>
          </a:p>
          <a:p>
            <a:pPr algn="l"/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Expand/contract supply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to maintain peg.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High risk — UST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collapsed in 2022.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The Arbitrage Opportunity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840480" cy="13716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Kraken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USDC = $0.99990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(cheap)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188720"/>
            <a:ext cx="3840480" cy="137160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12801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Binance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USDC = $1.00013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(expensive)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554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73482"/>
                </a:solidFill>
                <a:latin typeface="Helvetica Neue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926080"/>
            <a:ext cx="6400800" cy="91440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01752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</a:rPr>
              <a:t>Buy on Kraken  →  Transfer  →  Sell on Binance  =  +2.3 bps profit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Helvetica Neue"/>
              </a:rPr>
              <a:t>But: fees + slippage + transfer time can eat the profit.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Helvetica Neue"/>
              </a:rPr>
              <a:t>With 5 exchanges × 4 coins = 20 nodes, 40+ edges — need an algorithm.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Model: Weighted Directed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Node = (exchange, coin)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Trade edge: swap coins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on same exchange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Transfer edge: move coin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between exchanges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Edge weight = fee in bps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Goal: find lowest-cost path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— a closed cycle back to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start, OR just the cheapest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route between two nodes</a:t>
            </a:r>
          </a:p>
        </p:txBody>
      </p:sp>
      <p:pic>
        <p:nvPicPr>
          <p:cNvPr id="5" name="Picture 4" descr="frame_00_ste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005840"/>
            <a:ext cx="5486400" cy="56191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Dijkstra: f(n) = g(n)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Helvetica Neue"/>
              </a:rPr>
              <a:t>Expand the node with the lowest accumulated cost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8288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73482"/>
                </a:solidFill>
                <a:latin typeface="Helvetica Neue"/>
              </a:rPr>
              <a:t>f(n) = g(n)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3931920" cy="18288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Guaranteed optimal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Simple to implement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No domain knowledge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651760"/>
            <a:ext cx="3931920" cy="1828800"/>
          </a:xfrm>
          <a:prstGeom prst="roundRect">
            <a:avLst/>
          </a:prstGeom>
          <a:solidFill>
            <a:srgbClr val="FF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Explores blindly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Ignores slippage risk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Ignores transfer time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Wastes time on thin 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A*: f(n) = g(n) + h(n)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Helvetica Neue"/>
              </a:rPr>
              <a:t>Add a heuristic that looks ahead at execution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73482"/>
                </a:solidFill>
                <a:latin typeface="Helvetica Neue"/>
              </a:rPr>
              <a:t>f(n) = g(n) + h(n)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8229600" cy="201168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h(n) = slippage(L2 order book) + σ · √(Δt)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Slippage:   Walk the ask side for our trade size. Thin book = high cost.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Time risk:  Stablecoin vol (~1.5 bps/min) × transfer duration.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Deep book + fast transfer → low h → A* explores that path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Step 1: Start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Begin at Binance:USDT. Orange = edges just pushed to priority queue.</a:t>
            </a:r>
          </a:p>
        </p:txBody>
      </p:sp>
      <p:pic>
        <p:nvPicPr>
          <p:cNvPr id="5" name="Picture 4" descr="frame_00_ste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Step 3: Expanding Neighbors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Cheap, low-slippage paths explored first. Fee labels (bps) on each edge.</a:t>
            </a:r>
          </a:p>
        </p:txBody>
      </p:sp>
      <p:pic>
        <p:nvPicPr>
          <p:cNvPr id="5" name="Picture 4" descr="frame_02_ste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Mid-Search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Bybit and Kraken reached. High time-risk paths to OKX deprioritized.</a:t>
            </a:r>
          </a:p>
        </p:txBody>
      </p:sp>
      <p:pic>
        <p:nvPicPr>
          <p:cNvPr id="5" name="Picture 4" descr="frame_05_step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Nearing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Most nodes expanded. Searching for profitable return path to start.</a:t>
            </a:r>
          </a:p>
        </p:txBody>
      </p:sp>
      <p:pic>
        <p:nvPicPr>
          <p:cNvPr id="5" name="Picture 4" descr="frame_08_step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Final: Profitable Path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Red = lowest-cost route found. Doesn’t have to close a cycle —</a:t>
            </a:r>
          </a:p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a one-way path can be profitable too (e.g. rebalancing, one-off transfers).</a:t>
            </a:r>
          </a:p>
        </p:txBody>
      </p:sp>
      <p:pic>
        <p:nvPicPr>
          <p:cNvPr id="5" name="Picture 4" descr="frame_09_step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The L2 Order Book → Slippage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20 price levels of depth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Walk asks for our trade size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Binance: ~0 bps slippage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(millions of units at top)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Gate.io: ~0.5 bps slippage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(only 6K at top level)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Thin book = high h(n)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= A* avoids it</a:t>
            </a:r>
          </a:p>
        </p:txBody>
      </p:sp>
      <p:pic>
        <p:nvPicPr>
          <p:cNvPr id="5" name="Picture 4" descr="astar_arbitrag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005840"/>
            <a:ext cx="5120640" cy="45697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  <a:latin typeface="Helvetica Neue"/>
              </a:rPr>
              <a:t>•  Stablecoins = crypto pegged to fiat (USD, EUR, etc.) — tiny cross-exchange gaps exist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  <a:latin typeface="Helvetica Neue"/>
              </a:rPr>
              <a:t>•  Model as a graph → arbitrage = finding a profitable path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  <a:latin typeface="Helvetica Neue"/>
              </a:rPr>
              <a:t>•  The path can close a cycle back to start, or just end at a cheaper destination — both count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  <a:latin typeface="Helvetica Neue"/>
              </a:rPr>
              <a:t>•  A* + slippage heuristic guides search toward deep, fast routes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  <a:latin typeface="Helvetica Neue"/>
              </a:rPr>
              <a:t>•  Same optimality as Dijkstra, but focused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Code: scripts/animate_astar_search.py</a:t>
            </a:r>
          </a:p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UI: streamlit run scripts/ui.py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